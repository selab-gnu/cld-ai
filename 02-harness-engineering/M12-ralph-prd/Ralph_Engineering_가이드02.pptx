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· GUIDE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6675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PRD를 AI에게 맡기고,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작업을 제대로 쪼개기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스킬로 요구사항 문서를 만들고, ralph 스킬로 prd.json으로 변환한 뒤 — 각 story를 실행 가능한 크기로 다듬는 법.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60920" y="1417320"/>
            <a:ext cx="4279392" cy="4160520"/>
          </a:xfrm>
          <a:prstGeom prst="roundRect">
            <a:avLst>
              <a:gd name="adj" fmla="val 1978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62088" y="161848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7763256" y="161848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7964424" y="161848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7360920" y="1508760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AI에게 맡기기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60920" y="1837944"/>
            <a:ext cx="42793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16952" y="1984248"/>
            <a:ext cx="38221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Load the prd skill and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16952" y="2272284"/>
            <a:ext cx="38221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 a PRD for ...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16952" y="2560320"/>
            <a:ext cx="3822192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16952" y="2704338"/>
            <a:ext cx="38221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tasks/prd-*.md 생성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16952" y="2992374"/>
            <a:ext cx="3822192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16952" y="3136392"/>
            <a:ext cx="38221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Load the ralph skill and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16952" y="3424428"/>
            <a:ext cx="38221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convert to prd.json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616952" y="3712464"/>
            <a:ext cx="3822192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616952" y="3856482"/>
            <a:ext cx="38221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prd.json 생성 완료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쪼개면 쪼갤수록, Ralph는 더 잘 달린다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가이드에서 다룰 내용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74650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600200" y="1783080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00200" y="2130552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prd.json 필드 &amp; 쪼개기 원칙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33008" y="1600200"/>
            <a:ext cx="541004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07328" y="174650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284568" y="1783080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쪼개기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84568" y="2130552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vs Bad, 요령 4가지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035808"/>
            <a:ext cx="541004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18211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600200" y="3218688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흐름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600200" y="3566160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과정 &amp; 로드맵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33008" y="3035808"/>
            <a:ext cx="541004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07328" y="318211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7284568" y="3218688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준비 &amp; 스킬 설치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284568" y="3566160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0~2단계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4471416"/>
            <a:ext cx="541004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46177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1600200" y="4654296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작성 → prd.json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600200" y="5001768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3~6단계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233008" y="4471416"/>
            <a:ext cx="541004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07328" y="46177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7284568" y="4654296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&amp; 디버깅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284568" y="5001768"/>
            <a:ext cx="412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7~8단계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02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개념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prd.json에 작업을 쌓고, 직접 쪼개기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1600200"/>
          </a:xfrm>
          <a:prstGeom prst="roundRect">
            <a:avLst>
              <a:gd name="adj" fmla="val 514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901952"/>
            <a:ext cx="10561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prd.json에 여러 작업(user story)을 추가하고, 작게 쪼개기를 실행합니다. 이때 ralph 스킬이 1차 변환을 해주지만, 실제로 여러 작업을 우선순위대로 처리시키려면 각 story가 "한 번에 끝낼 수 있는 크기"인지 직접 검토·조정해야 합니다.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474720"/>
            <a:ext cx="11091672" cy="1508760"/>
          </a:xfrm>
          <a:prstGeom prst="roundRect">
            <a:avLst>
              <a:gd name="adj" fmla="val 5455"/>
            </a:avLst>
          </a:prstGeom>
          <a:solidFill>
            <a:srgbClr val="1124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8130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6850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직접 검토해야 할까?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63040" y="4041648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Ralph의 각 iteration은 완전히 새로운(맥락 없는) AI 인스턴스로 시작됩니다. 작업이 하나의 context window 안에서 끝나지 않으면, AI가 컨텍스트를 다 쓰기 전에 마무리하지 못해 코드 품질이 나빠집니다.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다음: 필드 구조  ·  쪼개기 규칙  ·  반복 과정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개념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prd.json 필드 구조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고유 식별자 (US-001, US-002, ...)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title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짧은 제목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description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"As a ..., I want ... so that ..." 형식의 사용자 스토리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acceptanceCriteria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검증 가능한 완료 조건 목록 — 타입체크·테스트 통과, 브라우저 검증 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priority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처리 순서 (숫자가 작을수록 먼저 처리)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passes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완료 여부 — 새 작업은 항상 false로 시작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Ralph가 실행하며 남기는 메모 (처음엔 빈 문자열)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02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작업 쪼개기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적절한 크기 vs 너무 큰 크기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31536" cy="4206240"/>
          </a:xfrm>
          <a:prstGeom prst="roundRect">
            <a:avLst>
              <a:gd name="adj" fmla="val 1957"/>
            </a:avLst>
          </a:prstGeom>
          <a:solidFill>
            <a:srgbClr val="1124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47672"/>
            <a:ext cx="475488" cy="475488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077" y="2061789"/>
            <a:ext cx="247254" cy="2472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965960"/>
            <a:ext cx="4242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적절한 크기 (Good)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868680" y="2743200"/>
            <a:ext cx="365760" cy="36576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62" y="2830982"/>
            <a:ext cx="190195" cy="1901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715768"/>
            <a:ext cx="4334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컬럼 하나 + 마이그레이션 추가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868680" y="3456432"/>
            <a:ext cx="365760" cy="36576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" y="3544214"/>
            <a:ext cx="190195" cy="19019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3429000"/>
            <a:ext cx="4334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페이지에 UI 컴포넌트 하나 추가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68680" y="4169664"/>
            <a:ext cx="365760" cy="36576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462" y="4257446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71600" y="4142232"/>
            <a:ext cx="4334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액션 하나에 로직 추가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868680" y="4882896"/>
            <a:ext cx="365760" cy="36576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462" y="4970678"/>
            <a:ext cx="190195" cy="19019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371600" y="4855464"/>
            <a:ext cx="4334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리스트에 필터 드롭다운 추가</a:t>
            </a:r>
            <a:endParaRPr lang="en-US" sz="1350" dirty="0"/>
          </a:p>
        </p:txBody>
      </p:sp>
      <p:sp>
        <p:nvSpPr>
          <p:cNvPr id="22" name="Shape 14"/>
          <p:cNvSpPr/>
          <p:nvPr/>
        </p:nvSpPr>
        <p:spPr>
          <a:xfrm>
            <a:off x="6208776" y="1691640"/>
            <a:ext cx="5431536" cy="4206240"/>
          </a:xfrm>
          <a:prstGeom prst="roundRect">
            <a:avLst>
              <a:gd name="adj" fmla="val 1957"/>
            </a:avLst>
          </a:prstGeom>
          <a:solidFill>
            <a:srgbClr val="2A1216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6483096" y="1947672"/>
            <a:ext cx="475488" cy="475488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7213" y="2061789"/>
            <a:ext cx="247254" cy="24725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23176" y="1965960"/>
            <a:ext cx="4242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너무 큰 크기 (Bad)</a:t>
            </a:r>
            <a:endParaRPr lang="en-US" sz="1650" dirty="0"/>
          </a:p>
        </p:txBody>
      </p:sp>
      <p:sp>
        <p:nvSpPr>
          <p:cNvPr id="26" name="Shape 17"/>
          <p:cNvSpPr/>
          <p:nvPr/>
        </p:nvSpPr>
        <p:spPr>
          <a:xfrm>
            <a:off x="6528816" y="2743200"/>
            <a:ext cx="365760" cy="36576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6598" y="2830982"/>
            <a:ext cx="190195" cy="190195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031736" y="2715768"/>
            <a:ext cx="4334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"대시보드 전체 만들기"</a:t>
            </a:r>
            <a:endParaRPr lang="en-US" sz="1350" dirty="0"/>
          </a:p>
        </p:txBody>
      </p:sp>
      <p:sp>
        <p:nvSpPr>
          <p:cNvPr id="29" name="Shape 19"/>
          <p:cNvSpPr/>
          <p:nvPr/>
        </p:nvSpPr>
        <p:spPr>
          <a:xfrm>
            <a:off x="6528816" y="3456432"/>
            <a:ext cx="365760" cy="36576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6598" y="3544214"/>
            <a:ext cx="190195" cy="190195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031736" y="3429000"/>
            <a:ext cx="4334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"인증 기능 추가"</a:t>
            </a:r>
            <a:endParaRPr lang="en-US" sz="1350" dirty="0"/>
          </a:p>
        </p:txBody>
      </p:sp>
      <p:sp>
        <p:nvSpPr>
          <p:cNvPr id="32" name="Shape 21"/>
          <p:cNvSpPr/>
          <p:nvPr/>
        </p:nvSpPr>
        <p:spPr>
          <a:xfrm>
            <a:off x="6528816" y="4169664"/>
            <a:ext cx="365760" cy="36576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6598" y="4257446"/>
            <a:ext cx="190195" cy="190195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7031736" y="4142232"/>
            <a:ext cx="4334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"API 리팩토링"</a:t>
            </a:r>
            <a:endParaRPr lang="en-US" sz="1350" dirty="0"/>
          </a:p>
        </p:txBody>
      </p:sp>
      <p:sp>
        <p:nvSpPr>
          <p:cNvPr id="35" name="Shape 23"/>
          <p:cNvSpPr/>
          <p:nvPr/>
        </p:nvSpPr>
        <p:spPr>
          <a:xfrm>
            <a:off x="6528816" y="4928616"/>
            <a:ext cx="4791456" cy="777240"/>
          </a:xfrm>
          <a:prstGeom prst="roundRect">
            <a:avLst>
              <a:gd name="adj" fmla="val 105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24"/>
          <p:cNvSpPr/>
          <p:nvPr/>
        </p:nvSpPr>
        <p:spPr>
          <a:xfrm>
            <a:off x="6711696" y="4928616"/>
            <a:ext cx="44256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반드시 쪼갤 것 — 이런 작업은 여러 개의 작은 story로 나눠야 합니다.</a:t>
            </a:r>
            <a:endParaRPr lang="en-US" sz="1150" dirty="0"/>
          </a:p>
        </p:txBody>
      </p:sp>
      <p:sp>
        <p:nvSpPr>
          <p:cNvPr id="37" name="Text 2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02</a:t>
            </a:r>
            <a:endParaRPr lang="en-US" sz="900" dirty="0"/>
          </a:p>
        </p:txBody>
      </p:sp>
      <p:sp>
        <p:nvSpPr>
          <p:cNvPr id="38" name="Text 26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작업 쪼개기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쪼개는 요령 4가지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31536" cy="1828800"/>
          </a:xfrm>
          <a:prstGeom prst="roundRect">
            <a:avLst>
              <a:gd name="adj" fmla="val 45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8562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294376" y="1874520"/>
            <a:ext cx="411480" cy="41148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131" y="1973275"/>
            <a:ext cx="213970" cy="2139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286000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책임으로 제한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2679192"/>
            <a:ext cx="4974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story = 하나의 화면 요소, 하나의 API 엔드포인트, 하나의 DB 변경 등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08776" y="1691640"/>
            <a:ext cx="5431536" cy="1828800"/>
          </a:xfrm>
          <a:prstGeom prst="roundRect">
            <a:avLst>
              <a:gd name="adj" fmla="val 45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37376" y="18562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10954512" y="1874520"/>
            <a:ext cx="411480" cy="41148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3267" y="1973275"/>
            <a:ext cx="213970" cy="21397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37376" y="2286000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"그리고(and)"가 신호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37376" y="2679192"/>
            <a:ext cx="4974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설명에 "그리고"가 두 번 이상 들어가면 대부분 쪼갤 수 있다는 뜻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749040"/>
            <a:ext cx="5431536" cy="1828800"/>
          </a:xfrm>
          <a:prstGeom prst="roundRect">
            <a:avLst>
              <a:gd name="adj" fmla="val 45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77240" y="3913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5294376" y="3931920"/>
            <a:ext cx="411480" cy="41148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3131" y="4030675"/>
            <a:ext cx="213970" cy="21397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343400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계층별로 쪼개기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736592"/>
            <a:ext cx="4974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→ 백엔드 로직 → UI 표시 → UI 상호작용 순서로 나누면 자연스럽게 작아짐 (US-001~004 패턴)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208776" y="3749040"/>
            <a:ext cx="5431536" cy="1828800"/>
          </a:xfrm>
          <a:prstGeom prst="roundRect">
            <a:avLst>
              <a:gd name="adj" fmla="val 45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437376" y="3913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Shape 20"/>
          <p:cNvSpPr/>
          <p:nvPr/>
        </p:nvSpPr>
        <p:spPr>
          <a:xfrm>
            <a:off x="10954512" y="3931920"/>
            <a:ext cx="411480" cy="41148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3267" y="4030675"/>
            <a:ext cx="213970" cy="21397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37376" y="4343400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검증 문구 포함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6437376" y="4736592"/>
            <a:ext cx="4974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 작업의 acceptance criteria엔 "Verify in browser using dev-browser skill" 필수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02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전체 흐름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Ralph가 반복하는 과정 (8단계)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35758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8013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635758" y="1819656"/>
            <a:ext cx="347472" cy="347472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151" y="1903049"/>
            <a:ext cx="180685" cy="18068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" y="2148840"/>
            <a:ext cx="23065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브랜치 생성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13232" y="2459736"/>
            <a:ext cx="230657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branchName으로 feature 브랜치 생성</a:t>
            </a:r>
            <a:endParaRPr lang="en-US" sz="980" dirty="0"/>
          </a:p>
        </p:txBody>
      </p:sp>
      <p:sp>
        <p:nvSpPr>
          <p:cNvPr id="12" name="Text 8"/>
          <p:cNvSpPr/>
          <p:nvPr/>
        </p:nvSpPr>
        <p:spPr>
          <a:xfrm>
            <a:off x="3193542" y="2395728"/>
            <a:ext cx="164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367278" y="1691640"/>
            <a:ext cx="2635758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531870" y="18013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54396" y="1819656"/>
            <a:ext cx="347472" cy="347472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789" y="1903049"/>
            <a:ext cx="180685" cy="1806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31870" y="2148840"/>
            <a:ext cx="23065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선택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3531870" y="2459736"/>
            <a:ext cx="230657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passes:false 중 priority 최상</a:t>
            </a:r>
            <a:endParaRPr lang="en-US" sz="980" dirty="0"/>
          </a:p>
        </p:txBody>
      </p:sp>
      <p:sp>
        <p:nvSpPr>
          <p:cNvPr id="19" name="Text 14"/>
          <p:cNvSpPr/>
          <p:nvPr/>
        </p:nvSpPr>
        <p:spPr>
          <a:xfrm>
            <a:off x="6012180" y="2395728"/>
            <a:ext cx="164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185916" y="1691640"/>
            <a:ext cx="2635758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350508" y="18013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8273034" y="1819656"/>
            <a:ext cx="347472" cy="347472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427" y="1903049"/>
            <a:ext cx="180685" cy="18068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50508" y="2148840"/>
            <a:ext cx="23065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구현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350508" y="2459736"/>
            <a:ext cx="230657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story 하나만 구현</a:t>
            </a:r>
            <a:endParaRPr lang="en-US" sz="980" dirty="0"/>
          </a:p>
        </p:txBody>
      </p:sp>
      <p:sp>
        <p:nvSpPr>
          <p:cNvPr id="26" name="Text 20"/>
          <p:cNvSpPr/>
          <p:nvPr/>
        </p:nvSpPr>
        <p:spPr>
          <a:xfrm>
            <a:off x="8830818" y="2395728"/>
            <a:ext cx="164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9004554" y="1691640"/>
            <a:ext cx="2635758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169146" y="18013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11091672" y="1819656"/>
            <a:ext cx="347472" cy="347472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5065" y="1903049"/>
            <a:ext cx="180685" cy="18068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169146" y="2148840"/>
            <a:ext cx="23065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체크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169146" y="2459736"/>
            <a:ext cx="230657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typecheck · 테스트 실행</a:t>
            </a:r>
            <a:endParaRPr lang="en-US" sz="980" dirty="0"/>
          </a:p>
        </p:txBody>
      </p:sp>
      <p:sp>
        <p:nvSpPr>
          <p:cNvPr id="33" name="Shape 26"/>
          <p:cNvSpPr/>
          <p:nvPr/>
        </p:nvSpPr>
        <p:spPr>
          <a:xfrm>
            <a:off x="548640" y="3657600"/>
            <a:ext cx="2635758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13232" y="37673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Shape 28"/>
          <p:cNvSpPr/>
          <p:nvPr/>
        </p:nvSpPr>
        <p:spPr>
          <a:xfrm>
            <a:off x="2635758" y="3785616"/>
            <a:ext cx="347472" cy="347472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9151" y="3869009"/>
            <a:ext cx="180685" cy="18068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13232" y="4114800"/>
            <a:ext cx="23065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713232" y="4425696"/>
            <a:ext cx="230657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통과하면 커밋</a:t>
            </a:r>
            <a:endParaRPr lang="en-US" sz="980" dirty="0"/>
          </a:p>
        </p:txBody>
      </p:sp>
      <p:sp>
        <p:nvSpPr>
          <p:cNvPr id="39" name="Text 31"/>
          <p:cNvSpPr/>
          <p:nvPr/>
        </p:nvSpPr>
        <p:spPr>
          <a:xfrm>
            <a:off x="3193542" y="4361688"/>
            <a:ext cx="164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3367278" y="3657600"/>
            <a:ext cx="2635758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3531870" y="37673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Shape 34"/>
          <p:cNvSpPr/>
          <p:nvPr/>
        </p:nvSpPr>
        <p:spPr>
          <a:xfrm>
            <a:off x="5454396" y="3785616"/>
            <a:ext cx="347472" cy="347472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7789" y="3869009"/>
            <a:ext cx="180685" cy="180685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3531870" y="4114800"/>
            <a:ext cx="23065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prd.json 갱신</a:t>
            </a:r>
            <a:endParaRPr lang="en-US" sz="1250" dirty="0"/>
          </a:p>
        </p:txBody>
      </p:sp>
      <p:sp>
        <p:nvSpPr>
          <p:cNvPr id="45" name="Text 36"/>
          <p:cNvSpPr/>
          <p:nvPr/>
        </p:nvSpPr>
        <p:spPr>
          <a:xfrm>
            <a:off x="3531870" y="4425696"/>
            <a:ext cx="230657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story → passes:true</a:t>
            </a:r>
            <a:endParaRPr lang="en-US" sz="980" dirty="0"/>
          </a:p>
        </p:txBody>
      </p:sp>
      <p:sp>
        <p:nvSpPr>
          <p:cNvPr id="46" name="Text 37"/>
          <p:cNvSpPr/>
          <p:nvPr/>
        </p:nvSpPr>
        <p:spPr>
          <a:xfrm>
            <a:off x="6012180" y="4361688"/>
            <a:ext cx="164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7" name="Shape 38"/>
          <p:cNvSpPr/>
          <p:nvPr/>
        </p:nvSpPr>
        <p:spPr>
          <a:xfrm>
            <a:off x="6185916" y="3657600"/>
            <a:ext cx="2635758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6350508" y="37673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9" name="Shape 40"/>
          <p:cNvSpPr/>
          <p:nvPr/>
        </p:nvSpPr>
        <p:spPr>
          <a:xfrm>
            <a:off x="8273034" y="3785616"/>
            <a:ext cx="347472" cy="347472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427" y="3869009"/>
            <a:ext cx="180685" cy="180685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6350508" y="4114800"/>
            <a:ext cx="23065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</a:t>
            </a:r>
            <a:endParaRPr lang="en-US" sz="1250" dirty="0"/>
          </a:p>
        </p:txBody>
      </p:sp>
      <p:sp>
        <p:nvSpPr>
          <p:cNvPr id="52" name="Text 42"/>
          <p:cNvSpPr/>
          <p:nvPr/>
        </p:nvSpPr>
        <p:spPr>
          <a:xfrm>
            <a:off x="6350508" y="4425696"/>
            <a:ext cx="230657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progress.txt에 학습 내용 기록</a:t>
            </a:r>
            <a:endParaRPr lang="en-US" sz="980" dirty="0"/>
          </a:p>
        </p:txBody>
      </p:sp>
      <p:sp>
        <p:nvSpPr>
          <p:cNvPr id="53" name="Text 43"/>
          <p:cNvSpPr/>
          <p:nvPr/>
        </p:nvSpPr>
        <p:spPr>
          <a:xfrm>
            <a:off x="8830818" y="4361688"/>
            <a:ext cx="164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Shape 44"/>
          <p:cNvSpPr/>
          <p:nvPr/>
        </p:nvSpPr>
        <p:spPr>
          <a:xfrm>
            <a:off x="9004554" y="3657600"/>
            <a:ext cx="2635758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5" name="Text 45"/>
          <p:cNvSpPr/>
          <p:nvPr/>
        </p:nvSpPr>
        <p:spPr>
          <a:xfrm>
            <a:off x="9169146" y="37673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56" name="Shape 46"/>
          <p:cNvSpPr/>
          <p:nvPr/>
        </p:nvSpPr>
        <p:spPr>
          <a:xfrm>
            <a:off x="11091672" y="3785616"/>
            <a:ext cx="347472" cy="347472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75065" y="3869009"/>
            <a:ext cx="180685" cy="180685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9169146" y="4114800"/>
            <a:ext cx="23065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판정</a:t>
            </a:r>
            <a:endParaRPr lang="en-US" sz="1250" dirty="0"/>
          </a:p>
        </p:txBody>
      </p:sp>
      <p:sp>
        <p:nvSpPr>
          <p:cNvPr id="59" name="Text 48"/>
          <p:cNvSpPr/>
          <p:nvPr/>
        </p:nvSpPr>
        <p:spPr>
          <a:xfrm>
            <a:off x="9169146" y="4425696"/>
            <a:ext cx="230657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true 또는 최대 iteration</a:t>
            </a:r>
            <a:endParaRPr lang="en-US" sz="980" dirty="0"/>
          </a:p>
        </p:txBody>
      </p:sp>
      <p:sp>
        <p:nvSpPr>
          <p:cNvPr id="60" name="Shape 49"/>
          <p:cNvSpPr/>
          <p:nvPr/>
        </p:nvSpPr>
        <p:spPr>
          <a:xfrm>
            <a:off x="548640" y="5532120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1" name="Text 50"/>
          <p:cNvSpPr/>
          <p:nvPr/>
        </p:nvSpPr>
        <p:spPr>
          <a:xfrm>
            <a:off x="777240" y="553212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미완료 story 남음  →  2번부터 반복</a:t>
            </a:r>
            <a:endParaRPr lang="en-US" sz="1200" dirty="0"/>
          </a:p>
        </p:txBody>
      </p:sp>
      <p:sp>
        <p:nvSpPr>
          <p:cNvPr id="62" name="Shape 51"/>
          <p:cNvSpPr/>
          <p:nvPr/>
        </p:nvSpPr>
        <p:spPr>
          <a:xfrm>
            <a:off x="6172200" y="5532120"/>
            <a:ext cx="5440680" cy="566928"/>
          </a:xfrm>
          <a:prstGeom prst="roundRect">
            <a:avLst>
              <a:gd name="adj" fmla="val 14516"/>
            </a:avLst>
          </a:prstGeom>
          <a:solidFill>
            <a:srgbClr val="1124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3" name="Text 52"/>
          <p:cNvSpPr/>
          <p:nvPr/>
        </p:nvSpPr>
        <p:spPr>
          <a:xfrm>
            <a:off x="6400800" y="553212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모두 passes:true 또는 최대 iteration  →  종료</a:t>
            </a:r>
            <a:endParaRPr lang="en-US" sz="1100" dirty="0"/>
          </a:p>
        </p:txBody>
      </p:sp>
      <p:sp>
        <p:nvSpPr>
          <p:cNvPr id="64" name="Text 5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02</a:t>
            </a:r>
            <a:endParaRPr lang="en-US" sz="900" dirty="0"/>
          </a:p>
        </p:txBody>
      </p:sp>
      <p:sp>
        <p:nvSpPr>
          <p:cNvPr id="65" name="Text 5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전체 흐름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흐름 요약 (7단계 로드맵)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3575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8013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654046" y="1801368"/>
            <a:ext cx="329184" cy="32918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050" y="1880372"/>
            <a:ext cx="171176" cy="171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" y="2130552"/>
            <a:ext cx="23065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 전역 설치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13232" y="2423160"/>
            <a:ext cx="23065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prd, ralph 스킬 (한 번만)</a:t>
            </a:r>
            <a:endParaRPr lang="en-US" sz="930" dirty="0"/>
          </a:p>
        </p:txBody>
      </p:sp>
      <p:sp>
        <p:nvSpPr>
          <p:cNvPr id="12" name="Shape 8"/>
          <p:cNvSpPr/>
          <p:nvPr/>
        </p:nvSpPr>
        <p:spPr>
          <a:xfrm>
            <a:off x="3367278" y="1691640"/>
            <a:ext cx="263575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531870" y="18013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72684" y="1801368"/>
            <a:ext cx="329184" cy="32918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688" y="1880372"/>
            <a:ext cx="171176" cy="1711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31870" y="2130552"/>
            <a:ext cx="23065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파일 복사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531870" y="2423160"/>
            <a:ext cx="23065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ralph.sh + CLAUDE.md (프로젝트마다)</a:t>
            </a:r>
            <a:endParaRPr lang="en-US" sz="930" dirty="0"/>
          </a:p>
        </p:txBody>
      </p:sp>
      <p:sp>
        <p:nvSpPr>
          <p:cNvPr id="18" name="Shape 13"/>
          <p:cNvSpPr/>
          <p:nvPr/>
        </p:nvSpPr>
        <p:spPr>
          <a:xfrm>
            <a:off x="6185916" y="1691640"/>
            <a:ext cx="263575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350508" y="18013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291322" y="1801368"/>
            <a:ext cx="329184" cy="32918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0326" y="1880372"/>
            <a:ext cx="171176" cy="171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0508" y="2130552"/>
            <a:ext cx="23065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작성 요청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350508" y="2423160"/>
            <a:ext cx="23065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스킬 → tasks/prd-*.md</a:t>
            </a:r>
            <a:endParaRPr lang="en-US" sz="930" dirty="0"/>
          </a:p>
        </p:txBody>
      </p:sp>
      <p:sp>
        <p:nvSpPr>
          <p:cNvPr id="24" name="Shape 18"/>
          <p:cNvSpPr/>
          <p:nvPr/>
        </p:nvSpPr>
        <p:spPr>
          <a:xfrm>
            <a:off x="9004554" y="1691640"/>
            <a:ext cx="2635758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9169146" y="18013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11109960" y="1801368"/>
            <a:ext cx="329184" cy="32918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8964" y="1880372"/>
            <a:ext cx="171176" cy="17117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69146" y="2130552"/>
            <a:ext cx="23065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prd.json 변환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9169146" y="2423160"/>
            <a:ext cx="23065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스킬로 변환</a:t>
            </a:r>
            <a:endParaRPr lang="en-US" sz="930" dirty="0"/>
          </a:p>
        </p:txBody>
      </p:sp>
      <p:sp>
        <p:nvSpPr>
          <p:cNvPr id="30" name="Shape 23"/>
          <p:cNvSpPr/>
          <p:nvPr/>
        </p:nvSpPr>
        <p:spPr>
          <a:xfrm>
            <a:off x="548640" y="310896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124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77240" y="3310128"/>
            <a:ext cx="457200" cy="45720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3419856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417320" y="310896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story를 "한 번에 끝낼 수 있는 크기"로 직접 검토·쪼개기  ←  성공의 핵심</a:t>
            </a:r>
            <a:endParaRPr lang="en-US" sz="1500" dirty="0"/>
          </a:p>
        </p:txBody>
      </p:sp>
      <p:sp>
        <p:nvSpPr>
          <p:cNvPr id="34" name="Shape 26"/>
          <p:cNvSpPr/>
          <p:nvPr/>
        </p:nvSpPr>
        <p:spPr>
          <a:xfrm>
            <a:off x="548640" y="4160520"/>
            <a:ext cx="5431536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77240" y="43068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6" name="Shape 28"/>
          <p:cNvSpPr/>
          <p:nvPr/>
        </p:nvSpPr>
        <p:spPr>
          <a:xfrm>
            <a:off x="5321808" y="4325112"/>
            <a:ext cx="384048" cy="38404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3980" y="4417284"/>
            <a:ext cx="199705" cy="19970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77240" y="4690872"/>
            <a:ext cx="4974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ralph.sh 실행</a:t>
            </a:r>
            <a:endParaRPr lang="en-US" sz="1350" dirty="0"/>
          </a:p>
        </p:txBody>
      </p:sp>
      <p:sp>
        <p:nvSpPr>
          <p:cNvPr id="39" name="Text 30"/>
          <p:cNvSpPr/>
          <p:nvPr/>
        </p:nvSpPr>
        <p:spPr>
          <a:xfrm>
            <a:off x="777240" y="5010912"/>
            <a:ext cx="4974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./scripts/ralph/ralph.sh --tool claude [N]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6208776" y="4160520"/>
            <a:ext cx="5431536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37376" y="43068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2" name="Shape 33"/>
          <p:cNvSpPr/>
          <p:nvPr/>
        </p:nvSpPr>
        <p:spPr>
          <a:xfrm>
            <a:off x="10981944" y="4325112"/>
            <a:ext cx="384048" cy="38404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74116" y="4417284"/>
            <a:ext cx="199705" cy="199705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437376" y="4690872"/>
            <a:ext cx="4974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확인 &amp; 재쪼개기</a:t>
            </a:r>
            <a:endParaRPr lang="en-US" sz="1350" dirty="0"/>
          </a:p>
        </p:txBody>
      </p:sp>
      <p:sp>
        <p:nvSpPr>
          <p:cNvPr id="45" name="Text 35"/>
          <p:cNvSpPr/>
          <p:nvPr/>
        </p:nvSpPr>
        <p:spPr>
          <a:xfrm>
            <a:off x="6437376" y="5010912"/>
            <a:ext cx="4974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prd.json · progress.txt · git log로 확인 — 실패 시 story를 더 쪼개서 재실행</a:t>
            </a:r>
            <a:endParaRPr lang="en-US" sz="1050" dirty="0"/>
          </a:p>
        </p:txBody>
      </p:sp>
      <p:sp>
        <p:nvSpPr>
          <p:cNvPr id="46" name="Text 36"/>
          <p:cNvSpPr/>
          <p:nvPr/>
        </p:nvSpPr>
        <p:spPr>
          <a:xfrm>
            <a:off x="548640" y="5559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로드맵의 0~8단계를 지금부터 하나씩 실습합니다.</a:t>
            </a:r>
            <a:endParaRPr lang="en-US" sz="1150" dirty="0"/>
          </a:p>
        </p:txBody>
      </p:sp>
      <p:sp>
        <p:nvSpPr>
          <p:cNvPr id="47" name="Text 3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02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사전 준비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전 체크리스트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961388"/>
            <a:ext cx="420624" cy="42062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190" y="2062338"/>
            <a:ext cx="218724" cy="2187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810512"/>
            <a:ext cx="48463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CLI 또는 Claude Code 설치·인증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46520" y="1856232"/>
            <a:ext cx="0" cy="630936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75120" y="1810512"/>
            <a:ext cx="47548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@anthropic-ai/claude-code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278892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3058668"/>
            <a:ext cx="420624" cy="42062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3159618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2907792"/>
            <a:ext cx="48463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 설치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46520" y="2953512"/>
            <a:ext cx="0" cy="630936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675120" y="2907792"/>
            <a:ext cx="47548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jq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4155948"/>
            <a:ext cx="420624" cy="42062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190" y="4256898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005072"/>
            <a:ext cx="48463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프로젝트가 git 저장소로 초기화됨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6446520" y="4050792"/>
            <a:ext cx="0" cy="630936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675120" y="4005072"/>
            <a:ext cx="47548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완료, 커밋 가능한 상태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98348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77240" y="5253228"/>
            <a:ext cx="420624" cy="420624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90" y="5354178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102352"/>
            <a:ext cx="48463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Ralph를 1회 이상 실행해본 경험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6446520" y="5148072"/>
            <a:ext cx="0" cy="630936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675120" y="5102352"/>
            <a:ext cx="47548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작은 예제로 Guide 01을 먼저 완료했는지 확인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02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· ralph 스킬 전역 설치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309360" cy="1280160"/>
          </a:xfrm>
          <a:prstGeom prst="roundRect">
            <a:avLst>
              <a:gd name="adj" fmla="val 6429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8928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8928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12264"/>
            <a:ext cx="63093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58568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-r /tmp/ralph/skills/prd ~/.claude/skills/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2546604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-r /tmp/ralph/skills/ralph ~/.claude/skills/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154680"/>
            <a:ext cx="6309360" cy="1051560"/>
          </a:xfrm>
          <a:prstGeom prst="roundRect">
            <a:avLst>
              <a:gd name="adj" fmla="val 7826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361188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~/.claude/skills/prd/          ~/.claude/skills/ralph/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389120"/>
            <a:ext cx="6309360" cy="1417320"/>
          </a:xfrm>
          <a:prstGeom prst="roundRect">
            <a:avLst>
              <a:gd name="adj" fmla="val 5806"/>
            </a:avLst>
          </a:prstGeom>
          <a:solidFill>
            <a:srgbClr val="1124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4617720"/>
            <a:ext cx="420624" cy="420624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190" y="4718670"/>
            <a:ext cx="218724" cy="21872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371600" y="4498848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전역 설치 — 한 번만 하면 이후 모든 프로젝트에서 재사용할 수 있습니다.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08660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7086600" y="2057400"/>
            <a:ext cx="4553712" cy="1371600"/>
          </a:xfrm>
          <a:prstGeom prst="roundRect">
            <a:avLst>
              <a:gd name="adj" fmla="val 6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315200" y="21945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경로는 skills/prd, skills/ralph (저장소 루트 기준) — /tmp/ralph는 본인이 clone한 위치와 일치해야 합니다.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7086600" y="3566160"/>
            <a:ext cx="4553712" cy="1417320"/>
          </a:xfrm>
          <a:prstGeom prst="roundRect">
            <a:avLst>
              <a:gd name="adj" fmla="val 5806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315200" y="3703320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마켓플레이스로 설치했다면(/plugin install ralph-skills@ralph-marketplace) 이 수동 복사는 생략 가능 — 둘 중 하나만 하면 됩니다.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7086600" y="5120640"/>
            <a:ext cx="4553712" cy="96012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315200" y="5230368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ls ~/.claude/skills/ 실행 시 prd, ralph 폴더가 보임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"create a prd" 같은 표현에 스킬이 자동 반응 (또는 /prd)</a:t>
            </a:r>
            <a:endParaRPr lang="en-US" sz="1080" dirty="0"/>
          </a:p>
        </p:txBody>
      </p:sp>
      <p:sp>
        <p:nvSpPr>
          <p:cNvPr id="28" name="Text 2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02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프로젝트에 Ralph 실행 파일 복사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309360" cy="3017520"/>
          </a:xfrm>
          <a:prstGeom prst="roundRect">
            <a:avLst>
              <a:gd name="adj" fmla="val 2727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8928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8928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12264"/>
            <a:ext cx="63093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58568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실제로 작업할 프로젝트 루트에서 실행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2546604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/path/to/your-project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4672" y="2834640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-p scripts/ralph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4672" y="3122676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/tmp/ralph/ralph.sh scripts/ralph/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04672" y="3410712"/>
            <a:ext cx="585216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4672" y="3554730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 Code를 쓴다면: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04672" y="3842766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/tmp/ralph/CLAUDE.md scripts/ralph/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04672" y="4130802"/>
            <a:ext cx="585216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4672" y="4274820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+x scripts/ralph/ralph.sh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892040"/>
            <a:ext cx="6309360" cy="1234440"/>
          </a:xfrm>
          <a:prstGeom prst="roundRect">
            <a:avLst>
              <a:gd name="adj" fmla="val 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5029200"/>
            <a:ext cx="5852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전역 스킬(PRD 작성용)과 별개로, 실행 루프 자체는 프로젝트 폴더 안에 있어야 합니다.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08660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086600" y="2029968"/>
            <a:ext cx="4553712" cy="1234440"/>
          </a:xfrm>
          <a:prstGeom prst="roundRect">
            <a:avLst>
              <a:gd name="adj" fmla="val 6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0" y="21762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scripts/ralph/ralph.sh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315200" y="25786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scripts/ralph/CLAUDE.md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315200" y="28895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(Claude Code용 프롬프트 템플릿)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086600" y="3429000"/>
            <a:ext cx="4553712" cy="1143000"/>
          </a:xfrm>
          <a:prstGeom prst="roundRect">
            <a:avLst>
              <a:gd name="adj" fmla="val 72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15200" y="3547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체크리스트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315200" y="382219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./scripts/ralph/ralph.sh에 실행 권한 있음 (ls -l → x)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현재 위치가 git 저장소 루트 (git status 정상)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02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작성을 AI에게 맡기기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309360" cy="3429000"/>
          </a:xfrm>
          <a:prstGeom prst="roundRect">
            <a:avLst>
              <a:gd name="adj" fmla="val 2400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8928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8928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12264"/>
            <a:ext cx="63093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58568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Load the prd skill and create 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2546604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PRD for [기능 설명]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4672" y="2834640"/>
            <a:ext cx="585216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4672" y="2978658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예시: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04672" y="3266694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...for adding a task priority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4672" y="3554730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 to my todo app (high/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04672" y="3842766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medium/low, filter by priority)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04672" y="4130802"/>
            <a:ext cx="585216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4672" y="4274820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AI가 명확화 질문을 던집니다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08660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086600" y="2029968"/>
            <a:ext cx="4553712" cy="1417320"/>
          </a:xfrm>
          <a:prstGeom prst="roundRect">
            <a:avLst>
              <a:gd name="adj" fmla="val 5806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0" y="2167128"/>
            <a:ext cx="41148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질문에 애매하게 답하면 PRD도 애매해지고, 작업 쪼개기도 부정확해집니다. 가능한 한 구체적인 수치·조건·UI 동작을 명시하세요.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086600" y="3584448"/>
            <a:ext cx="4553712" cy="914400"/>
          </a:xfrm>
          <a:prstGeom prst="roundRect">
            <a:avLst>
              <a:gd name="adj" fmla="val 9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0" y="37033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하나당 PRD 하나 — 여러 기능을 한 PRD에 욱여넣지 마세요.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086600" y="4636008"/>
            <a:ext cx="4553712" cy="777240"/>
          </a:xfrm>
          <a:prstGeom prst="roundRect">
            <a:avLst>
              <a:gd name="adj" fmla="val 105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0" y="463600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산출물:  tasks/prd-[feature-name].md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086600" y="5550408"/>
            <a:ext cx="4553712" cy="621792"/>
          </a:xfrm>
          <a:prstGeom prst="roundRect">
            <a:avLst>
              <a:gd name="adj" fmla="val 1323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15200" y="555040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tasks/prd-*.md 생성 · 목표/스토리/범위 포함 확인</a:t>
            </a:r>
            <a:endParaRPr lang="en-US" sz="1080" dirty="0"/>
          </a:p>
        </p:txBody>
      </p:sp>
      <p:sp>
        <p:nvSpPr>
          <p:cNvPr id="30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02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PRD를 prd.json으로 변환하기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309360" cy="3429000"/>
          </a:xfrm>
          <a:prstGeom prst="roundRect">
            <a:avLst>
              <a:gd name="adj" fmla="val 2400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8928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8928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12264"/>
            <a:ext cx="63093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58568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Load the ralph skill and convert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2546604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tasks/prd-[feature-name].md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4672" y="2834640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prd.json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4672" y="3122676"/>
            <a:ext cx="585216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04672" y="3266694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대안 프롬프트: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4672" y="3554730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Convert this to prd.json with ralph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04672" y="3842766"/>
            <a:ext cx="585216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04672" y="3986784"/>
            <a:ext cx="58521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prd.json 생성 완료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086600" y="1691640"/>
            <a:ext cx="4553712" cy="1280160"/>
          </a:xfrm>
          <a:prstGeom prst="roundRect">
            <a:avLst>
              <a:gd name="adj" fmla="val 6429"/>
            </a:avLst>
          </a:prstGeom>
          <a:solidFill>
            <a:srgbClr val="1124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0" y="1920240"/>
            <a:ext cx="402336" cy="402336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761" y="2016801"/>
            <a:ext cx="209215" cy="20921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818120" y="1810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7818120" y="21214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프로젝트 루트의 prd.json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086600" y="3108960"/>
            <a:ext cx="4553712" cy="2103120"/>
          </a:xfrm>
          <a:prstGeom prst="roundRect">
            <a:avLst>
              <a:gd name="adj" fmla="val 391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31520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체크리스트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7315200" y="3566160"/>
            <a:ext cx="4160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prd.json이 프로젝트 루트에 생성됨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cat prd.json | jq . 로 유효한 JSON인지 확인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02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prd.json 구조 이해하기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035040" cy="4526280"/>
          </a:xfrm>
          <a:prstGeom prst="roundRect">
            <a:avLst>
              <a:gd name="adj" fmla="val 1818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8928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8928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830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prd.json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12264"/>
            <a:ext cx="60350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58568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2546604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"project": "MyApp",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4672" y="2834640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"branchName": "ralph/task-priority",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4672" y="3122676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"userStories": [{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04672" y="3410712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"id": "US-001", "priority": 1,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4672" y="3698748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"title": "Add priority field…",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04672" y="3986784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"acceptanceCriteria": [ … ],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04672" y="4274820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"passes": false, "notes": ""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4672" y="4562856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{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04672" y="4850892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"id": "US-002", "priority": 2,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04672" y="5138928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"title": "Display priority…"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4672" y="5426964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04672" y="5715000"/>
            <a:ext cx="55778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8580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858000" y="2057400"/>
            <a:ext cx="4782312" cy="1188720"/>
          </a:xfrm>
          <a:prstGeom prst="roundRect">
            <a:avLst>
              <a:gd name="adj" fmla="val 692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86600" y="219456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prd.json은 프로젝트 루트나 scripts/ralph 아래에서 찾을 수 있습니다.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85800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필드 요약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858000" y="37673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/ priority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858000" y="40416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식별자와 처리 순서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858000" y="4389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acceptanceCriteria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858000" y="4663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기준 — 검증 가능해야 함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858000" y="50109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passes / notes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858000" y="52852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항상 false, "" 로 시작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858000" y="5623560"/>
            <a:ext cx="4782312" cy="502920"/>
          </a:xfrm>
          <a:prstGeom prst="roundRect">
            <a:avLst>
              <a:gd name="adj" fmla="val 16364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040880" y="56235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공식 예제(prd.json.example) 기준 구조를 확인한다</a:t>
            </a:r>
            <a:endParaRPr lang="en-US" sz="1030" dirty="0"/>
          </a:p>
        </p:txBody>
      </p:sp>
      <p:sp>
        <p:nvSpPr>
          <p:cNvPr id="37" name="Text 3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02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작업 추가하기 (US-001~004)</a:t>
            </a:r>
            <a:endParaRPr lang="en-US" sz="2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982712"/>
                <a:gridCol w="13716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우선순위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US-001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priority field to 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US-002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priority indicator on task cards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US-003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priority selector to task 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US-004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filter dropdown to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389120"/>
            <a:ext cx="11091672" cy="621792"/>
          </a:xfrm>
          <a:prstGeom prst="roundRect">
            <a:avLst>
              <a:gd name="adj" fmla="val 13235"/>
            </a:avLst>
          </a:prstGeom>
          <a:solidFill>
            <a:srgbClr val="1124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49808" y="4480560"/>
            <a:ext cx="384048" cy="384048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980" y="4572732"/>
            <a:ext cx="199705" cy="1997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4389120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→ 백엔드 로직 → UI 표시 → UI 상호작용   =   US-001 → 002 → 003 → 004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548640" y="5193792"/>
            <a:ext cx="2670048" cy="777240"/>
          </a:xfrm>
          <a:prstGeom prst="roundRect">
            <a:avLst>
              <a:gd name="adj" fmla="val 10588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5193792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중복 없이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3355848" y="5193792"/>
            <a:ext cx="2670048" cy="777240"/>
          </a:xfrm>
          <a:prstGeom prst="roundRect">
            <a:avLst>
              <a:gd name="adj" fmla="val 10588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465576" y="5193792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= 처리 순서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163056" y="5193792"/>
            <a:ext cx="2670048" cy="777240"/>
          </a:xfrm>
          <a:prstGeom prst="roundRect">
            <a:avLst>
              <a:gd name="adj" fmla="val 10588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272784" y="5193792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passes/notes 기본값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970264" y="5193792"/>
            <a:ext cx="2670048" cy="777240"/>
          </a:xfrm>
          <a:prstGeom prst="roundRect">
            <a:avLst>
              <a:gd name="adj" fmla="val 10588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079992" y="5193792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acceptanceCriteria 명확히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02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실행하기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0136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80136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80136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6916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020824"/>
            <a:ext cx="1109167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167128"/>
            <a:ext cx="1063447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./scripts/ralph/ralph.sh --tool claude [N]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2455164"/>
            <a:ext cx="1063447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./scripts/ralph/ralph.sh --tool claude 10   # 예: 최대 10회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108960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10896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기본값은 10회 — story 개수보다 넉넉하게 잡으세요 (예: story 4개 → iteration 6~8회 권장)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913632"/>
            <a:ext cx="5431536" cy="1188720"/>
          </a:xfrm>
          <a:prstGeom prst="roundRect">
            <a:avLst>
              <a:gd name="adj" fmla="val 692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4041648"/>
            <a:ext cx="497433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기억은 오직 git 커밋 이력 · progress.txt · prd.json을 통해서만 전달됩니다.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08776" y="3913632"/>
            <a:ext cx="5431536" cy="1188720"/>
          </a:xfrm>
          <a:prstGeom prst="roundRect">
            <a:avLst>
              <a:gd name="adj" fmla="val 692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37376" y="4041648"/>
            <a:ext cx="497433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타입체크/테스트 피드백 루프가 없으면 Ralph는 사실상 동작하지 않는 것과 같습니다.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1124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5285232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실행 전 typecheck/테스트 명령이 정상 동작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git branch로 새 feature 브랜치 생성 확인   ☐  완료 후 &lt;promise&gt;COMPLETE&lt;/promise&gt; 출력 확인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84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8448" y="722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상황 확인 및 디버깅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492240" cy="2834640"/>
          </a:xfrm>
          <a:prstGeom prst="roundRect">
            <a:avLst>
              <a:gd name="adj" fmla="val 2903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8928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8928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8308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12264"/>
            <a:ext cx="64922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58568"/>
            <a:ext cx="6035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어떤 story가 끝났는지 확인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" y="2546604"/>
            <a:ext cx="6035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prd.json | jq '.userStories[]'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4672" y="2834640"/>
            <a:ext cx="603504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4672" y="2978658"/>
            <a:ext cx="6035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이전 iteration이 남긴 학습 내용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04672" y="3266694"/>
            <a:ext cx="6035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progress.txt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4672" y="3554730"/>
            <a:ext cx="603504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04672" y="3698748"/>
            <a:ext cx="6035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커밋 이력 확인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04672" y="3986784"/>
            <a:ext cx="6035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 -10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315200" y="1691640"/>
            <a:ext cx="4325112" cy="2468880"/>
          </a:xfrm>
          <a:prstGeom prst="roundRect">
            <a:avLst>
              <a:gd name="adj" fmla="val 333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43800" y="1901952"/>
            <a:ext cx="384048" cy="384048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972" y="1994124"/>
            <a:ext cx="199705" cy="19970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543800" y="23774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story가 계속 실패한다면 여전히 너무 크거나 acceptance criteria가 모호할 가능성이 높습니다 → 다시 쪼개세요.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7543800" y="333756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AGENTS.md(또는 CLAUDE.md)에 남긴 패턴·주의사항은 다음 실행에도 자동으로 읽히므로 삭제하지 말고 누적되게 두세요.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7315200" y="4297680"/>
            <a:ext cx="4325112" cy="1051560"/>
          </a:xfrm>
          <a:prstGeom prst="roundRect">
            <a:avLst>
              <a:gd name="adj" fmla="val 78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543800" y="4416552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실패 story 원인을 progress.txt에서 확인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필요 시 더 작은 단위 2~3개로 쪼개 재실행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02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정리하며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84048" cy="38404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2149572"/>
            <a:ext cx="199705" cy="1997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002536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prd.json은 id·title·description·acceptanceCriteria·priority·passes·notes 7개 필드로 구성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2715768"/>
            <a:ext cx="384048" cy="38404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32" y="2807940"/>
            <a:ext cx="199705" cy="1997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60904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쪼개기가 성공의 핵심 — Good/Bad 기준으로 직접 검토·조정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22960" y="3374136"/>
            <a:ext cx="384048" cy="38404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3466308"/>
            <a:ext cx="199705" cy="1997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319272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계층별(DB→백엔드→UI표시→UI상호작용)로 쪼개면 자연스럽게 작아진다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22960" y="4032504"/>
            <a:ext cx="384048" cy="38404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2" y="4124676"/>
            <a:ext cx="199705" cy="1997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397764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Ralph는 git·progress.txt·prd.json으로만 기억을 이어간다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822960" y="4690872"/>
            <a:ext cx="384048" cy="384048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132" y="4783044"/>
            <a:ext cx="199705" cy="1997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17320" y="463600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피드백 루프(typecheck·test) 없이는 Ralph가 사실상 동작하지 않는다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822960" y="562356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실패한 story가 있다면 크기를 줄여 재실행 — Ralph는 쪼갠 만큼 정확해진다.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7589520" y="2011680"/>
            <a:ext cx="4050792" cy="2651760"/>
          </a:xfrm>
          <a:prstGeom prst="roundRect">
            <a:avLst>
              <a:gd name="adj" fmla="val 3103"/>
            </a:avLst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7790688" y="221284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15"/>
          <p:cNvSpPr/>
          <p:nvPr/>
        </p:nvSpPr>
        <p:spPr>
          <a:xfrm>
            <a:off x="7991856" y="221284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16"/>
          <p:cNvSpPr/>
          <p:nvPr/>
        </p:nvSpPr>
        <p:spPr>
          <a:xfrm>
            <a:off x="8193024" y="221284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17"/>
          <p:cNvSpPr/>
          <p:nvPr/>
        </p:nvSpPr>
        <p:spPr>
          <a:xfrm>
            <a:off x="7589520" y="2103120"/>
            <a:ext cx="4050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prd.json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7589520" y="2432304"/>
            <a:ext cx="40507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2578608"/>
            <a:ext cx="35935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"id": "US-004",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845552" y="2866644"/>
            <a:ext cx="35935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"passes": true,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845552" y="3154680"/>
            <a:ext cx="35935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"notes": "filter persists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7845552" y="3442716"/>
            <a:ext cx="35935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URL params"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7845552" y="3730752"/>
            <a:ext cx="3593592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845552" y="3874770"/>
            <a:ext cx="3593592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&lt;promise&gt;COMPLETE&lt;/promise&gt;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ENGINEERING · GUIDE 02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2026-08-17T06:00:05Z</dcterms:created>
  <dcterms:modified xsi:type="dcterms:W3CDTF">2026-08-17T06:00:05Z</dcterms:modified>
</cp:coreProperties>
</file>