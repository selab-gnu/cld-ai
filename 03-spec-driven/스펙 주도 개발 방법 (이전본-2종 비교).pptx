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AI 코딩 도우미와 함께 쓰는 스펙 주도 개발 도구 두 가지를 비교합니다. 둘 다 Claude Code에서 같은 할 일 관리 앱을 만드는 실습으로 진행했습니다. 왼쪽 띠의 파란색이 Spec Kit, 주황색이 OpenSpec으로, 발표 내내 같은 색으로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바이브 코딩은 빠르지만 결과가 매번 달라지고, 왜 그렇게 만들었는지가 채팅에만 남습니다. 스펙 주도 개발은 사람이 무엇을 왜 만들지를 명세로 먼저 쓰고, AI가 그 명세에서 계획과 코드를 만듭니다. 모든 중간 산출물이 파일로 남아 코드처럼 리뷰할 수 있다는 점이 핵심입니다. 오늘 비교할 두 도구는 모두 이 원칙을 따르지만, 명세를 다루는 단위와 수명이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비교가 공정하도록 예제, 기술 스택, 문서 구조를 모두 맞췄습니다. 두 모듈 모두 README로 소개하고, GUIDE에서 단계별로 앱을 만들고, SAMPLE에서 완성된 앱을 실행하고 명세대로 동작하는지 확인합니다. 문서의 경로와 명령은 두 도구의 최신 버전을 직접 설치하고 초기화해서 확인한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Kit은 GitHub이 만든 도구로, 파이썬 uv로 설치합니다. 프로젝트당 한 번 헌법을 정하고, 기능마다 명세, 명확화, 계획, 체크리스트, 작업 분해, 일관성 점검, 구현, 수렴까지 9개 명령을 거칩니다. Claude Code에서는 스킬로 설치되어 점 대신 하이픈 표기로 입력합니다. 마지막 converge가 코드가 명세를 다 만족한다고 보고할 때까지 implement와 converge를 반복합니다.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Spec Kit으로 만든 my-todo 프로젝트의 결과입니다. 기능 폴더 001-todo-list-app 하나에 명세, 계획, 조사, 데이터 모델, 계약 3개, 검증 시나리오, 체크리스트 2개, 작업 목록까지 11개 문서가 생겼습니다. 특히 quickstart.md는 Spec Kit이 만들어 주는 검증 시나리오로, SAMPLE.md는 이것을 초보자용으로 풀어 쓴 것입니다. 생성된 앱은 테스트 34개를 모두 통과했습니다. 장점은 꼼꼼함이고, 단점은 작은 변경에도 문서가 많다는 점입니다. 두 번째 기능은 002 폴더로 또 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OpenSpec은 Node.js npm으로 설치하고 openspec init --tools claude로 초기화합니다. 핵심은 두 폴더입니다. changes 폴더는 국회에 올라온 개정안처럼 진행 중인 변경을 담고, specs 폴더는 현재 법전처럼 시스템이 지금 어떻게 동작하는지를 담습니다. propose 한 번에 제안서, 델타 명세, 설계, 작업 목록 4종이 만들어지고, apply로 구현한 뒤 archive하면 변경 내용이 기준 명세에 합쳐지고 변경 폴더는 이력으로 보관됩니다. 기본 명령은 6개로 Spec Kit보다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OpenSpec의 핵심은 델타 명세입니다. 전체 명세를 다시 쓰지 않고 ADDED, MODIFIED, REMOVED로 바뀌는 부분만 적습니다. 예시는 실습의 두 번째 변경인 마감일 추가입니다. archive하면 ADDED는 기준 명세에 추가되고, MODIFIED는 같은 이름의 요구사항을 통째로 교체하며, REMOVED는 삭제됩니다. 그래서 이미 코드가 있는 브라운필드 프로젝트에 특히 강합니다. 주의할 점은 한국어로 작성하더라도 구조 제목과 SHALL, MUST 키워드는 영어로 두어야 검증을 통과한다는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방법을 항목별로 정리했습니다. 가장 큰 차이는 명세의 수명입니다. Spec Kit은 기능마다 001, 002 폴더로 문서가 쌓이는 반면, OpenSpec은 변경이 끝날 때마다 기준 명세 하나에 합쳐서 항상 현재 상태를 보여 줍니다. 절차도 Spec Kit은 9단계로 꼼꼼하고, OpenSpec은 제안, 구현, 보관의 핵심 3단계로 가볍습니다. 원칙은 Spec Kit이 헌법 문서로, OpenSpec이 config.yaml로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새 기능을 처음부터 꼼꼼하게 설계해야 할 때는 Spec Kit이, 이미 있는 시스템을 조금씩 계속 바꿔 나갈 때는 OpenSpec이 잘 맞습니다. 둘 중 하나만 정답인 것은 아닙니다. 새 프로젝트의 첫 버전을 Spec Kit으로 설계하고, 운영하면서 생기는 변경은 OpenSpec처럼 델타로 관리하는 식의 조합도 생각해 볼 수 있습니다. 수업에서는 같은 할 일 앱으로 두 흐름을 모두 경험해 보는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모듈 모두 README, GUIDE, SAMPLE 순서로 진행하고, 도전 과제로 마감일 기능을 추가하며 명세를 고쳐 나가는 경험을 합니다. 완료 기준은 자동 테스트 실패 0개와 SAMPLE의 시나리오 전부 통과입니다. 오른쪽 표는 실제로 준비하면서 겪은 문제들입니다. 숨김 폴더, 명령 표기, OpenSpec의 영어 키워드 규칙, npm 네트워크 오류, file로 열었을 때 빈 화면, AI가 정하는 폴더 이름 문제를 미리 안내하면 실습이 훨씬 매끄럽습니다.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280081"/>
            <a:ext cx="10566443" cy="467361"/>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5" y="2052242"/>
            <a:ext cx="10566435" cy="3992958"/>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280081"/>
            <a:ext cx="10566443" cy="467361"/>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5" y="2052242"/>
            <a:ext cx="10566435" cy="3992958"/>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391" cy="6857984"/>
          </a:xfrm>
          <a:prstGeom prst="rect">
            <a:avLst/>
          </a:prstGeom>
          <a:gradFill rotWithShape="1">
            <a:gsLst>
              <a:gs pos="0">
                <a:srgbClr val="2F6FDB"/>
              </a:gs>
              <a:gs pos="50000">
                <a:srgbClr val="2F6FDB"/>
              </a:gs>
              <a:gs pos="50000">
                <a:srgbClr val="B4531A"/>
              </a:gs>
              <a:gs pos="100000">
                <a:srgbClr val="B4531A"/>
              </a:gs>
            </a:gsLst>
            <a:lin ang="5400000" scaled="0"/>
          </a:gradFill>
          <a:ln/>
        </p:spPr>
      </p:sp>
      <p:sp>
        <p:nvSpPr>
          <p:cNvPr id="3" name="Text 1"/>
          <p:cNvSpPr/>
          <p:nvPr/>
        </p:nvSpPr>
        <p:spPr>
          <a:xfrm>
            <a:off x="812765" y="2090491"/>
            <a:ext cx="10883436" cy="27429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31A"/>
                </a:solidFill>
                <a:latin typeface="Noto Sans KR" pitchFamily="34" charset="0"/>
                <a:ea typeface="Noto Sans KR" pitchFamily="34" charset="-122"/>
                <a:cs typeface="Noto Sans KR" pitchFamily="34" charset="-120"/>
              </a:rPr>
              <a:t>03 · 스펙 주도 개발 (Spec-Driven Development)</a:t>
            </a:r>
            <a:endParaRPr lang="en-US" sz="1400" dirty="0"/>
          </a:p>
        </p:txBody>
      </p:sp>
      <p:sp>
        <p:nvSpPr>
          <p:cNvPr id="4" name="Text 2"/>
          <p:cNvSpPr/>
          <p:nvPr>
            <p:ph type="title"/>
          </p:nvPr>
        </p:nvSpPr>
        <p:spPr>
          <a:xfrm>
            <a:off x="812765" y="2593357"/>
            <a:ext cx="10883436" cy="1589974"/>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1B2430"/>
                </a:solidFill>
                <a:latin typeface="IBM Plex Sans KR" pitchFamily="34" charset="0"/>
                <a:ea typeface="IBM Plex Sans KR" pitchFamily="34" charset="-122"/>
                <a:cs typeface="IBM Plex Sans KR" pitchFamily="34" charset="-120"/>
              </a:rPr>
              <a:t>명세가 먼저,</a:t>
            </a:r>
            <a:endParaRPr lang="en-US" sz="5600" dirty="0"/>
          </a:p>
          <a:p>
            <a:pPr algn="l" indent="0" marL="0">
              <a:lnSpc>
                <a:spcPts val="6160"/>
              </a:lnSpc>
              <a:buNone/>
            </a:pPr>
            <a:r>
              <a:rPr lang="en-US" sz="5600" b="1" i="0" dirty="0">
                <a:solidFill>
                  <a:srgbClr val="1B2430"/>
                </a:solidFill>
                <a:latin typeface="IBM Plex Sans KR" pitchFamily="34" charset="0"/>
                <a:ea typeface="IBM Plex Sans KR" pitchFamily="34" charset="-122"/>
                <a:cs typeface="IBM Plex Sans KR" pitchFamily="34" charset="-120"/>
              </a:rPr>
              <a:t>코드는 나중에</a:t>
            </a:r>
            <a:endParaRPr lang="en-US" sz="5600" dirty="0"/>
          </a:p>
        </p:txBody>
      </p:sp>
      <p:sp>
        <p:nvSpPr>
          <p:cNvPr id="5" name="Text 3"/>
          <p:cNvSpPr/>
          <p:nvPr/>
        </p:nvSpPr>
        <p:spPr>
          <a:xfrm>
            <a:off x="812765" y="4411900"/>
            <a:ext cx="10883436" cy="380993"/>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F6FDB"/>
                </a:solidFill>
                <a:latin typeface="Noto Sans KR" pitchFamily="34" charset="0"/>
                <a:ea typeface="Noto Sans KR" pitchFamily="34" charset="-122"/>
                <a:cs typeface="Noto Sans KR" pitchFamily="34" charset="-120"/>
              </a:rPr>
              <a:t>Spec Kit</a:t>
            </a:r>
            <a:r>
              <a:rPr lang="en-US" sz="2000" dirty="0">
                <a:solidFill>
                  <a:srgbClr val="4A5568"/>
                </a:solidFill>
                <a:latin typeface="Noto Sans KR" pitchFamily="34" charset="0"/>
                <a:ea typeface="Noto Sans KR" pitchFamily="34" charset="-122"/>
                <a:cs typeface="Noto Sans KR" pitchFamily="34" charset="-120"/>
              </a:rPr>
              <a:t> 과 </a:t>
            </a:r>
            <a:r>
              <a:rPr lang="en-US" sz="2000" dirty="0">
                <a:solidFill>
                  <a:srgbClr val="B4531A"/>
                </a:solidFill>
                <a:latin typeface="Noto Sans KR" pitchFamily="34" charset="0"/>
                <a:ea typeface="Noto Sans KR" pitchFamily="34" charset="-122"/>
                <a:cs typeface="Noto Sans KR" pitchFamily="34" charset="-120"/>
              </a:rPr>
              <a:t>OpenSpec</a:t>
            </a:r>
            <a:r>
              <a:rPr lang="en-US" sz="2000" dirty="0">
                <a:solidFill>
                  <a:srgbClr val="4A5568"/>
                </a:solidFill>
                <a:latin typeface="Noto Sans KR" pitchFamily="34" charset="0"/>
                <a:ea typeface="Noto Sans KR" pitchFamily="34" charset="-122"/>
                <a:cs typeface="Noto Sans KR" pitchFamily="34" charset="-120"/>
              </a:rPr>
              <a:t> 으로 같은 할 일 앱을 만들고 비교하기</a:t>
            </a:r>
            <a:endParaRPr lang="en-US" sz="2000" dirty="0"/>
          </a:p>
        </p:txBody>
      </p:sp>
      <p:sp>
        <p:nvSpPr>
          <p:cNvPr id="6" name="Text 4"/>
          <p:cNvSpPr/>
          <p:nvPr/>
        </p:nvSpPr>
        <p:spPr>
          <a:xfrm>
            <a:off x="812765" y="6017278"/>
            <a:ext cx="7848582"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Noto Sans KR" pitchFamily="34" charset="0"/>
                <a:ea typeface="Noto Sans KR" pitchFamily="34" charset="-122"/>
                <a:cs typeface="Noto Sans KR" pitchFamily="34" charset="-120"/>
              </a:rPr>
              <a:t>M01 Spec Kit · M02 OpenSpec · 담당 이선아 교수</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5"/>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Noto Sans KR" pitchFamily="34" charset="0"/>
                <a:ea typeface="Noto Sans KR" pitchFamily="34" charset="-122"/>
                <a:cs typeface="Noto Sans KR" pitchFamily="34" charset="-120"/>
              </a:rPr>
              <a:t>왜 스펙 주도 개발인가</a:t>
            </a:r>
            <a:endParaRPr lang="en-US" sz="1200" dirty="0"/>
          </a:p>
        </p:txBody>
      </p:sp>
      <p:sp>
        <p:nvSpPr>
          <p:cNvPr id="3" name="Text 1"/>
          <p:cNvSpPr/>
          <p:nvPr>
            <p:ph type="title"/>
          </p:nvPr>
        </p:nvSpPr>
        <p:spPr>
          <a:xfrm>
            <a:off x="812765" y="1280081"/>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사람은 무엇을·왜, AI는 어떻게</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2013005"/>
          <a:ext cx="10554804" cy="2469679"/>
        </p:xfrm>
        <a:graphic>
          <a:graphicData uri="http://schemas.openxmlformats.org/drawingml/2006/table">
            <a:tbl>
              <a:tblPr/>
              <a:tblGrid>
                <a:gridCol w="2322057"/>
                <a:gridCol w="4116374"/>
                <a:gridCol w="4116374"/>
              </a:tblGrid>
              <a:tr h="411613">
                <a:tc>
                  <a:txBody>
                    <a:bodyPr/>
                    <a:lstStyle/>
                    <a:p>
                      <a:pPr indent="0" marL="0">
                        <a:lnSpc>
                          <a:spcPts val="2100"/>
                        </a:lnSpc>
                        <a:buNone/>
                      </a:pPr>
                      <a:r>
                        <a:rPr lang="en-US" sz="1500" b="1" dirty="0">
                          <a:solidFill>
                            <a:srgbClr val="F6F4EE"/>
                          </a:solidFill>
                          <a:latin typeface="Noto Sans KR" pitchFamily="34" charset="0"/>
                          <a:ea typeface="Noto Sans KR" pitchFamily="34" charset="-122"/>
                          <a:cs typeface="Noto Sans KR" pitchFamily="34" charset="-120"/>
                        </a:rPr>
                        <a:t>구분</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2100"/>
                        </a:lnSpc>
                        <a:buNone/>
                      </a:pPr>
                      <a:r>
                        <a:rPr lang="en-US" sz="1500" b="1" dirty="0">
                          <a:solidFill>
                            <a:srgbClr val="F6F4EE"/>
                          </a:solidFill>
                          <a:latin typeface="Noto Sans KR" pitchFamily="34" charset="0"/>
                          <a:ea typeface="Noto Sans KR" pitchFamily="34" charset="-122"/>
                          <a:cs typeface="Noto Sans KR" pitchFamily="34" charset="-120"/>
                        </a:rPr>
                        <a:t>바이브 코딩</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2100"/>
                        </a:lnSpc>
                        <a:buNone/>
                      </a:pPr>
                      <a:r>
                        <a:rPr lang="en-US" sz="1500" b="1" dirty="0">
                          <a:solidFill>
                            <a:srgbClr val="F6F4EE"/>
                          </a:solidFill>
                          <a:latin typeface="Noto Sans KR" pitchFamily="34" charset="0"/>
                          <a:ea typeface="Noto Sans KR" pitchFamily="34" charset="-122"/>
                          <a:cs typeface="Noto Sans KR" pitchFamily="34" charset="-120"/>
                        </a:rPr>
                        <a:t>스펙 주도 개발 (SDD)</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411613">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시작점</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"할 일 앱 만들어 줘" 한 줄</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원칙 → 명세 → 계획 → 작업</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1613">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결과</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그럴듯하지만 매번 달라짐</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명세에 묶여 예측 가능</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411613">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기록</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채팅 기록에만 남음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spec.md · plan.md 등 파일로 남음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1613">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바꿀 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코드를 직접 고침</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명세를 고치고 다시 생성</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411613">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리뷰</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코드만 리뷰</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명세 · 계획 · 코드 모두 리뷰</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765" y="6238278"/>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Noto Sans KR" pitchFamily="34" charset="0"/>
                <a:ea typeface="Noto Sans KR" pitchFamily="34" charset="-122"/>
                <a:cs typeface="Noto Sans KR" pitchFamily="34" charset="-120"/>
              </a:rPr>
              <a:t>실습 설계</a:t>
            </a:r>
            <a:endParaRPr lang="en-US" sz="1200" dirty="0"/>
          </a:p>
        </p:txBody>
      </p:sp>
      <p:sp>
        <p:nvSpPr>
          <p:cNvPr id="3" name="Text 1"/>
          <p:cNvSpPr/>
          <p:nvPr>
            <p:ph type="title"/>
          </p:nvPr>
        </p:nvSpPr>
        <p:spPr>
          <a:xfrm>
            <a:off x="812765" y="1280082"/>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같은 조건에서 도구만 바꿨다</a:t>
            </a:r>
            <a:endParaRPr lang="en-US" sz="3200" dirty="0"/>
          </a:p>
        </p:txBody>
      </p:sp>
      <p:sp>
        <p:nvSpPr>
          <p:cNvPr id="4" name="Shape 2"/>
          <p:cNvSpPr/>
          <p:nvPr/>
        </p:nvSpPr>
        <p:spPr>
          <a:xfrm>
            <a:off x="815940" y="2004586"/>
            <a:ext cx="3380344" cy="3349142"/>
          </a:xfrm>
          <a:prstGeom prst="roundRect">
            <a:avLst>
              <a:gd name="adj" fmla="val 2939"/>
            </a:avLst>
          </a:prstGeom>
          <a:solidFill>
            <a:srgbClr val="F4F5F7"/>
          </a:solidFill>
          <a:ln w="6350">
            <a:solidFill>
              <a:srgbClr val="E2E5EA"/>
            </a:solidFill>
            <a:prstDash val="solid"/>
          </a:ln>
        </p:spPr>
      </p:sp>
      <p:pic>
        <p:nvPicPr>
          <p:cNvPr id="5" name="Image 0" descr="CheckCircle">    </p:cNvPr>
          <p:cNvPicPr>
            <a:picLocks noChangeAspect="1"/>
          </p:cNvPicPr>
          <p:nvPr/>
        </p:nvPicPr>
        <p:blipFill>
          <a:blip r:embed="rId1"/>
          <a:srcRect l="0" r="0" t="0" b="0"/>
          <a:stretch/>
        </p:blipFill>
        <p:spPr>
          <a:xfrm>
            <a:off x="1072531" y="2261178"/>
            <a:ext cx="355593" cy="355593"/>
          </a:xfrm>
          <a:prstGeom prst="rect">
            <a:avLst/>
          </a:prstGeom>
        </p:spPr>
      </p:pic>
      <p:sp>
        <p:nvSpPr>
          <p:cNvPr id="6" name="Text 3"/>
          <p:cNvSpPr/>
          <p:nvPr/>
        </p:nvSpPr>
        <p:spPr>
          <a:xfrm>
            <a:off x="1072531" y="2743755"/>
            <a:ext cx="2953177"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IBM Plex Sans KR" pitchFamily="34" charset="0"/>
                <a:ea typeface="IBM Plex Sans KR" pitchFamily="34" charset="-122"/>
                <a:cs typeface="IBM Plex Sans KR" pitchFamily="34" charset="-120"/>
              </a:rPr>
              <a:t>같은 예제</a:t>
            </a:r>
            <a:endParaRPr lang="en-US" sz="2000" dirty="0"/>
          </a:p>
        </p:txBody>
      </p:sp>
      <p:sp>
        <p:nvSpPr>
          <p:cNvPr id="7" name="Text 4"/>
          <p:cNvSpPr/>
          <p:nvPr/>
        </p:nvSpPr>
        <p:spPr>
          <a:xfrm>
            <a:off x="1072531" y="3175521"/>
            <a:ext cx="2953177" cy="82548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할 일 관리 웹 앱</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추가 · 완료 · 삭제 · 필터</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남은 개수 · 새로 고침 후 유지</a:t>
            </a:r>
            <a:endParaRPr lang="en-US" sz="1400" dirty="0"/>
          </a:p>
        </p:txBody>
      </p:sp>
      <p:sp>
        <p:nvSpPr>
          <p:cNvPr id="8" name="Shape 5"/>
          <p:cNvSpPr/>
          <p:nvPr/>
        </p:nvSpPr>
        <p:spPr>
          <a:xfrm>
            <a:off x="4405792" y="2004586"/>
            <a:ext cx="3380389" cy="3349142"/>
          </a:xfrm>
          <a:prstGeom prst="roundRect">
            <a:avLst>
              <a:gd name="adj" fmla="val 2939"/>
            </a:avLst>
          </a:prstGeom>
          <a:solidFill>
            <a:srgbClr val="F4F5F7"/>
          </a:solidFill>
          <a:ln w="6350">
            <a:solidFill>
              <a:srgbClr val="E2E5EA"/>
            </a:solidFill>
            <a:prstDash val="solid"/>
          </a:ln>
        </p:spPr>
      </p:sp>
      <p:pic>
        <p:nvPicPr>
          <p:cNvPr id="9" name="Image 1" descr="Code">    </p:cNvPr>
          <p:cNvPicPr>
            <a:picLocks noChangeAspect="1"/>
          </p:cNvPicPr>
          <p:nvPr/>
        </p:nvPicPr>
        <p:blipFill>
          <a:blip r:embed="rId2"/>
          <a:srcRect l="0" r="0" t="0" b="0"/>
          <a:stretch/>
        </p:blipFill>
        <p:spPr>
          <a:xfrm>
            <a:off x="4662382" y="2261178"/>
            <a:ext cx="355593" cy="355593"/>
          </a:xfrm>
          <a:prstGeom prst="rect">
            <a:avLst/>
          </a:prstGeom>
        </p:spPr>
      </p:pic>
      <p:sp>
        <p:nvSpPr>
          <p:cNvPr id="10" name="Text 6"/>
          <p:cNvSpPr/>
          <p:nvPr/>
        </p:nvSpPr>
        <p:spPr>
          <a:xfrm>
            <a:off x="4662382" y="2743755"/>
            <a:ext cx="2953224"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IBM Plex Sans KR" pitchFamily="34" charset="0"/>
                <a:ea typeface="IBM Plex Sans KR" pitchFamily="34" charset="-122"/>
                <a:cs typeface="IBM Plex Sans KR" pitchFamily="34" charset="-120"/>
              </a:rPr>
              <a:t>같은 기술</a:t>
            </a:r>
            <a:endParaRPr lang="en-US" sz="2000" dirty="0"/>
          </a:p>
        </p:txBody>
      </p:sp>
      <p:sp>
        <p:nvSpPr>
          <p:cNvPr id="11" name="Text 7"/>
          <p:cNvSpPr/>
          <p:nvPr/>
        </p:nvSpPr>
        <p:spPr>
          <a:xfrm>
            <a:off x="4662382" y="3175521"/>
            <a:ext cx="2953224" cy="82548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Claude Code</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순수 HTML · CSS · JS</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node --test · localStorage</a:t>
            </a:r>
            <a:endParaRPr lang="en-US" sz="1400" dirty="0"/>
          </a:p>
        </p:txBody>
      </p:sp>
      <p:sp>
        <p:nvSpPr>
          <p:cNvPr id="12" name="Shape 8"/>
          <p:cNvSpPr/>
          <p:nvPr/>
        </p:nvSpPr>
        <p:spPr>
          <a:xfrm>
            <a:off x="7995689" y="2004586"/>
            <a:ext cx="3380344" cy="3349142"/>
          </a:xfrm>
          <a:prstGeom prst="roundRect">
            <a:avLst>
              <a:gd name="adj" fmla="val 2939"/>
            </a:avLst>
          </a:prstGeom>
          <a:solidFill>
            <a:srgbClr val="F4F5F7"/>
          </a:solidFill>
          <a:ln w="6350">
            <a:solidFill>
              <a:srgbClr val="E2E5EA"/>
            </a:solidFill>
            <a:prstDash val="solid"/>
          </a:ln>
        </p:spPr>
      </p:sp>
      <p:pic>
        <p:nvPicPr>
          <p:cNvPr id="13" name="Image 2" descr="Book">    </p:cNvPr>
          <p:cNvPicPr>
            <a:picLocks noChangeAspect="1"/>
          </p:cNvPicPr>
          <p:nvPr/>
        </p:nvPicPr>
        <p:blipFill>
          <a:blip r:embed="rId3"/>
          <a:srcRect l="0" r="0" t="0" b="0"/>
          <a:stretch/>
        </p:blipFill>
        <p:spPr>
          <a:xfrm>
            <a:off x="8252279" y="2261178"/>
            <a:ext cx="355593" cy="355593"/>
          </a:xfrm>
          <a:prstGeom prst="rect">
            <a:avLst/>
          </a:prstGeom>
        </p:spPr>
      </p:pic>
      <p:sp>
        <p:nvSpPr>
          <p:cNvPr id="14" name="Text 9"/>
          <p:cNvSpPr/>
          <p:nvPr/>
        </p:nvSpPr>
        <p:spPr>
          <a:xfrm>
            <a:off x="8252279" y="2743755"/>
            <a:ext cx="2953177"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IBM Plex Sans KR" pitchFamily="34" charset="0"/>
                <a:ea typeface="IBM Plex Sans KR" pitchFamily="34" charset="-122"/>
                <a:cs typeface="IBM Plex Sans KR" pitchFamily="34" charset="-120"/>
              </a:rPr>
              <a:t>같은 문서 구조</a:t>
            </a:r>
            <a:endParaRPr lang="en-US" sz="2000" dirty="0"/>
          </a:p>
        </p:txBody>
      </p:sp>
      <p:sp>
        <p:nvSpPr>
          <p:cNvPr id="15" name="Text 10"/>
          <p:cNvSpPr/>
          <p:nvPr/>
        </p:nvSpPr>
        <p:spPr>
          <a:xfrm>
            <a:off x="8252279" y="3175521"/>
            <a:ext cx="2953177" cy="82548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README — 소개·준비물</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GUIDE — 단계별 만들기</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SAMPLE — 실행·확인</a:t>
            </a:r>
            <a:endParaRPr lang="en-US" sz="1400" dirty="0"/>
          </a:p>
        </p:txBody>
      </p:sp>
      <p:sp>
        <p:nvSpPr>
          <p:cNvPr id="16" name="Text 11"/>
          <p:cNvSpPr/>
          <p:nvPr/>
        </p:nvSpPr>
        <p:spPr>
          <a:xfrm>
            <a:off x="812765" y="5610873"/>
            <a:ext cx="10883436"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oto Sans KR" pitchFamily="34" charset="0"/>
                <a:ea typeface="Noto Sans KR" pitchFamily="34" charset="-122"/>
                <a:cs typeface="Noto Sans KR" pitchFamily="34" charset="-120"/>
              </a:rPr>
              <a:t>검증 버전 </a:t>
            </a:r>
            <a:r>
              <a:rPr lang="en-US" sz="1300" dirty="0">
                <a:solidFill>
                  <a:srgbClr val="2F6FDB"/>
                </a:solidFill>
                <a:latin typeface="Noto Sans KR" pitchFamily="34" charset="0"/>
                <a:ea typeface="Noto Sans KR" pitchFamily="34" charset="-122"/>
                <a:cs typeface="Noto Sans KR" pitchFamily="34" charset="-120"/>
              </a:rPr>
              <a:t>specify-cli 1.1.3</a:t>
            </a:r>
            <a:r>
              <a:rPr lang="en-US" sz="1300" dirty="0">
                <a:solidFill>
                  <a:srgbClr val="4A5568"/>
                </a:solidFill>
                <a:latin typeface="Noto Sans KR" pitchFamily="34" charset="0"/>
                <a:ea typeface="Noto Sans KR" pitchFamily="34" charset="-122"/>
                <a:cs typeface="Noto Sans KR" pitchFamily="34" charset="-120"/>
              </a:rPr>
              <a:t> · </a:t>
            </a:r>
            <a:r>
              <a:rPr lang="en-US" sz="1300" dirty="0">
                <a:solidFill>
                  <a:srgbClr val="B4531A"/>
                </a:solidFill>
                <a:latin typeface="Noto Sans KR" pitchFamily="34" charset="0"/>
                <a:ea typeface="Noto Sans KR" pitchFamily="34" charset="-122"/>
                <a:cs typeface="Noto Sans KR" pitchFamily="34" charset="-120"/>
              </a:rPr>
              <a:t>@fission-ai/openspec 1.14.1</a:t>
            </a:r>
            <a:r>
              <a:rPr lang="en-US" sz="1300" dirty="0">
                <a:solidFill>
                  <a:srgbClr val="4A5568"/>
                </a:solidFill>
                <a:latin typeface="Noto Sans KR" pitchFamily="34" charset="0"/>
                <a:ea typeface="Noto Sans KR" pitchFamily="34" charset="-122"/>
                <a:cs typeface="Noto Sans KR" pitchFamily="34" charset="-120"/>
              </a:rPr>
              <a:t> — 직접 설치·초기화해 실제 생성 결과로 문서화</a:t>
            </a:r>
            <a:endParaRPr lang="en-US" sz="1300" dirty="0"/>
          </a:p>
        </p:txBody>
      </p:sp>
      <p:sp>
        <p:nvSpPr>
          <p:cNvPr id="17" name="Text 12"/>
          <p:cNvSpPr/>
          <p:nvPr/>
        </p:nvSpPr>
        <p:spPr>
          <a:xfrm>
            <a:off x="812765" y="6238278"/>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B"/>
                </a:solidFill>
                <a:latin typeface="Noto Sans KR" pitchFamily="34" charset="0"/>
                <a:ea typeface="Noto Sans KR" pitchFamily="34" charset="-122"/>
                <a:cs typeface="Noto Sans KR" pitchFamily="34" charset="-120"/>
              </a:rPr>
              <a:t>M01 · SPEC KIT (GitHub)</a:t>
            </a:r>
            <a:endParaRPr lang="en-US" sz="1200" dirty="0"/>
          </a:p>
        </p:txBody>
      </p:sp>
      <p:sp>
        <p:nvSpPr>
          <p:cNvPr id="3" name="Text 1"/>
          <p:cNvSpPr/>
          <p:nvPr>
            <p:ph type="title"/>
          </p:nvPr>
        </p:nvSpPr>
        <p:spPr>
          <a:xfrm>
            <a:off x="812765" y="1280082"/>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기능 하나를 단계별로 꼼꼼하게</a:t>
            </a:r>
            <a:endParaRPr lang="en-US" sz="3200" dirty="0"/>
          </a:p>
        </p:txBody>
      </p:sp>
      <p:sp>
        <p:nvSpPr>
          <p:cNvPr id="4" name="Shape 2"/>
          <p:cNvSpPr/>
          <p:nvPr/>
        </p:nvSpPr>
        <p:spPr>
          <a:xfrm>
            <a:off x="812765" y="2001411"/>
            <a:ext cx="3420524" cy="2319960"/>
          </a:xfrm>
          <a:prstGeom prst="roundRect">
            <a:avLst>
              <a:gd name="adj" fmla="val 3285"/>
            </a:avLst>
          </a:prstGeom>
          <a:solidFill>
            <a:srgbClr val="F4F5F7"/>
          </a:solidFill>
          <a:ln/>
        </p:spPr>
      </p:sp>
      <p:sp>
        <p:nvSpPr>
          <p:cNvPr id="5" name="Shape 3"/>
          <p:cNvSpPr/>
          <p:nvPr/>
        </p:nvSpPr>
        <p:spPr>
          <a:xfrm>
            <a:off x="812765" y="2001411"/>
            <a:ext cx="3420524" cy="2319960"/>
          </a:xfrm>
          <a:custGeom>
            <a:avLst/>
            <a:gdLst/>
            <a:ahLst/>
            <a:cxnLst/>
            <a:rect l="l" t="t" r="r" b="b"/>
            <a:pathLst>
              <a:path w="3420524" h="2319960">
                <a:moveTo>
                  <a:pt x="0" y="76200"/>
                </a:moveTo>
                <a:lnTo>
                  <a:pt x="0" y="76200"/>
                </a:lnTo>
                <a:arcTo hR="76200" wR="76200" stAng="10800000" swAng="5400000"/>
                <a:lnTo>
                  <a:pt x="3344324" y="0"/>
                </a:lnTo>
                <a:arcTo hR="76200" wR="76200" stAng="16200000" swAng="5400000"/>
                <a:lnTo>
                  <a:pt x="3420524" y="76200"/>
                </a:lnTo>
                <a:arcTo hR="25400" wR="76200" stAng="0" swAng="-5400000"/>
                <a:lnTo>
                  <a:pt x="76200" y="50800"/>
                </a:lnTo>
                <a:arcTo hR="25400" wR="76200" stAng="16200000" swAng="-5400000"/>
                <a:close/>
              </a:path>
            </a:pathLst>
          </a:custGeom>
          <a:solidFill>
            <a:srgbClr val="2F6FDB"/>
          </a:solidFill>
          <a:ln/>
        </p:spPr>
      </p:sp>
      <p:sp>
        <p:nvSpPr>
          <p:cNvPr id="6" name="Text 4"/>
          <p:cNvSpPr/>
          <p:nvPr/>
        </p:nvSpPr>
        <p:spPr>
          <a:xfrm>
            <a:off x="1041328" y="2279247"/>
            <a:ext cx="3052299"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① 원칙 · 명세</a:t>
            </a:r>
            <a:endParaRPr lang="en-US" sz="1800" dirty="0"/>
          </a:p>
        </p:txBody>
      </p:sp>
      <p:sp>
        <p:nvSpPr>
          <p:cNvPr id="7" name="Text 5"/>
          <p:cNvSpPr/>
          <p:nvPr/>
        </p:nvSpPr>
        <p:spPr>
          <a:xfrm>
            <a:off x="1041328" y="2655129"/>
            <a:ext cx="3052299"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사람이 무엇을 · 왜</a:t>
            </a:r>
            <a:endParaRPr lang="en-US" sz="1200" dirty="0"/>
          </a:p>
        </p:txBody>
      </p:sp>
      <p:sp>
        <p:nvSpPr>
          <p:cNvPr id="8" name="Text 6"/>
          <p:cNvSpPr/>
          <p:nvPr/>
        </p:nvSpPr>
        <p:spPr>
          <a:xfrm>
            <a:off x="1041328" y="2970054"/>
            <a:ext cx="3052299" cy="867466"/>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/speckit-constitution</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/speckit-specify</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/speckit-clarify</a:t>
            </a:r>
            <a:endParaRPr lang="en-US" sz="1300" dirty="0"/>
          </a:p>
        </p:txBody>
      </p:sp>
      <p:sp>
        <p:nvSpPr>
          <p:cNvPr id="9" name="Shape 7"/>
          <p:cNvSpPr/>
          <p:nvPr/>
        </p:nvSpPr>
        <p:spPr>
          <a:xfrm>
            <a:off x="4385679" y="2001411"/>
            <a:ext cx="3420569" cy="2319960"/>
          </a:xfrm>
          <a:prstGeom prst="roundRect">
            <a:avLst>
              <a:gd name="adj" fmla="val 3285"/>
            </a:avLst>
          </a:prstGeom>
          <a:solidFill>
            <a:srgbClr val="F4F5F7"/>
          </a:solidFill>
          <a:ln/>
        </p:spPr>
      </p:sp>
      <p:sp>
        <p:nvSpPr>
          <p:cNvPr id="10" name="Shape 8"/>
          <p:cNvSpPr/>
          <p:nvPr/>
        </p:nvSpPr>
        <p:spPr>
          <a:xfrm>
            <a:off x="4385679" y="2001411"/>
            <a:ext cx="3420569" cy="2319960"/>
          </a:xfrm>
          <a:custGeom>
            <a:avLst/>
            <a:gdLst/>
            <a:ahLst/>
            <a:cxnLst/>
            <a:rect l="l" t="t" r="r" b="b"/>
            <a:pathLst>
              <a:path w="3420569" h="2319960">
                <a:moveTo>
                  <a:pt x="0" y="76200"/>
                </a:moveTo>
                <a:lnTo>
                  <a:pt x="0" y="76200"/>
                </a:lnTo>
                <a:arcTo hR="76200" wR="76200" stAng="10800000" swAng="5400000"/>
                <a:lnTo>
                  <a:pt x="3344369" y="0"/>
                </a:lnTo>
                <a:arcTo hR="76200" wR="76200" stAng="16200000" swAng="5400000"/>
                <a:lnTo>
                  <a:pt x="3420569" y="76200"/>
                </a:lnTo>
                <a:arcTo hR="25400" wR="76200" stAng="0" swAng="-5400000"/>
                <a:lnTo>
                  <a:pt x="76200" y="50800"/>
                </a:lnTo>
                <a:arcTo hR="25400" wR="76200" stAng="16200000" swAng="-5400000"/>
                <a:close/>
              </a:path>
            </a:pathLst>
          </a:custGeom>
          <a:solidFill>
            <a:srgbClr val="2F6FDB"/>
          </a:solidFill>
          <a:ln/>
        </p:spPr>
      </p:sp>
      <p:sp>
        <p:nvSpPr>
          <p:cNvPr id="11" name="Text 9"/>
          <p:cNvSpPr/>
          <p:nvPr/>
        </p:nvSpPr>
        <p:spPr>
          <a:xfrm>
            <a:off x="4614242" y="2279247"/>
            <a:ext cx="3052346"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② 계획 · 분해</a:t>
            </a:r>
            <a:endParaRPr lang="en-US" sz="1800" dirty="0"/>
          </a:p>
        </p:txBody>
      </p:sp>
      <p:sp>
        <p:nvSpPr>
          <p:cNvPr id="12" name="Text 10"/>
          <p:cNvSpPr/>
          <p:nvPr/>
        </p:nvSpPr>
        <p:spPr>
          <a:xfrm>
            <a:off x="4614242" y="2655129"/>
            <a:ext cx="30523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AI가 어떻게</a:t>
            </a:r>
            <a:endParaRPr lang="en-US" sz="1200" dirty="0"/>
          </a:p>
        </p:txBody>
      </p:sp>
      <p:sp>
        <p:nvSpPr>
          <p:cNvPr id="13" name="Text 11"/>
          <p:cNvSpPr/>
          <p:nvPr/>
        </p:nvSpPr>
        <p:spPr>
          <a:xfrm>
            <a:off x="4614242" y="2970054"/>
            <a:ext cx="3052346" cy="1148154"/>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/speckit-plan</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/speckit-checklist</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/speckit-tasks</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/speckit-analyze</a:t>
            </a:r>
            <a:endParaRPr lang="en-US" sz="1300" dirty="0"/>
          </a:p>
        </p:txBody>
      </p:sp>
      <p:sp>
        <p:nvSpPr>
          <p:cNvPr id="14" name="Shape 12"/>
          <p:cNvSpPr/>
          <p:nvPr/>
        </p:nvSpPr>
        <p:spPr>
          <a:xfrm>
            <a:off x="7958639" y="2001411"/>
            <a:ext cx="3420569" cy="2319960"/>
          </a:xfrm>
          <a:prstGeom prst="roundRect">
            <a:avLst>
              <a:gd name="adj" fmla="val 3285"/>
            </a:avLst>
          </a:prstGeom>
          <a:solidFill>
            <a:srgbClr val="F4F5F7"/>
          </a:solidFill>
          <a:ln/>
        </p:spPr>
      </p:sp>
      <p:sp>
        <p:nvSpPr>
          <p:cNvPr id="15" name="Shape 13"/>
          <p:cNvSpPr/>
          <p:nvPr/>
        </p:nvSpPr>
        <p:spPr>
          <a:xfrm>
            <a:off x="7958639" y="2001411"/>
            <a:ext cx="3420569" cy="2319960"/>
          </a:xfrm>
          <a:custGeom>
            <a:avLst/>
            <a:gdLst/>
            <a:ahLst/>
            <a:cxnLst/>
            <a:rect l="l" t="t" r="r" b="b"/>
            <a:pathLst>
              <a:path w="3420569" h="2319960">
                <a:moveTo>
                  <a:pt x="0" y="76200"/>
                </a:moveTo>
                <a:lnTo>
                  <a:pt x="0" y="76200"/>
                </a:lnTo>
                <a:arcTo hR="76200" wR="76200" stAng="10800000" swAng="5400000"/>
                <a:lnTo>
                  <a:pt x="3344369" y="0"/>
                </a:lnTo>
                <a:arcTo hR="76200" wR="76200" stAng="16200000" swAng="5400000"/>
                <a:lnTo>
                  <a:pt x="3420569" y="76200"/>
                </a:lnTo>
                <a:arcTo hR="25400" wR="76200" stAng="0" swAng="-5400000"/>
                <a:lnTo>
                  <a:pt x="76200" y="50800"/>
                </a:lnTo>
                <a:arcTo hR="25400" wR="76200" stAng="16200000" swAng="-5400000"/>
                <a:close/>
              </a:path>
            </a:pathLst>
          </a:custGeom>
          <a:solidFill>
            <a:srgbClr val="2F6FDB"/>
          </a:solidFill>
          <a:ln/>
        </p:spPr>
      </p:sp>
      <p:sp>
        <p:nvSpPr>
          <p:cNvPr id="16" name="Text 14"/>
          <p:cNvSpPr/>
          <p:nvPr/>
        </p:nvSpPr>
        <p:spPr>
          <a:xfrm>
            <a:off x="8187202" y="2279247"/>
            <a:ext cx="3052346"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③ 구현 · 수렴</a:t>
            </a:r>
            <a:endParaRPr lang="en-US" sz="1800" dirty="0"/>
          </a:p>
        </p:txBody>
      </p:sp>
      <p:sp>
        <p:nvSpPr>
          <p:cNvPr id="17" name="Text 15"/>
          <p:cNvSpPr/>
          <p:nvPr/>
        </p:nvSpPr>
        <p:spPr>
          <a:xfrm>
            <a:off x="8187202" y="2655129"/>
            <a:ext cx="30523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AI가 실행, 명세와 대조</a:t>
            </a:r>
            <a:endParaRPr lang="en-US" sz="1200" dirty="0"/>
          </a:p>
        </p:txBody>
      </p:sp>
      <p:sp>
        <p:nvSpPr>
          <p:cNvPr id="18" name="Text 16"/>
          <p:cNvSpPr/>
          <p:nvPr/>
        </p:nvSpPr>
        <p:spPr>
          <a:xfrm>
            <a:off x="8187202" y="2970054"/>
            <a:ext cx="3052346" cy="867466"/>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/speckit-implement</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/speckit-converge</a:t>
            </a:r>
            <a:endParaRPr lang="en-US" sz="1300" dirty="0"/>
          </a:p>
          <a:p>
            <a:pPr algn="l" indent="0" marL="0">
              <a:lnSpc>
                <a:spcPts val="2210"/>
              </a:lnSpc>
              <a:buNone/>
            </a:pPr>
            <a:r>
              <a:rPr lang="en-US" sz="1300" dirty="0">
                <a:solidFill>
                  <a:srgbClr val="1B2430"/>
                </a:solidFill>
                <a:latin typeface="JetBrains Mono" pitchFamily="49" charset="0"/>
                <a:ea typeface="JetBrains Mono" pitchFamily="49" charset="-122"/>
                <a:cs typeface="JetBrains Mono" pitchFamily="49" charset="-120"/>
              </a:rPr>
              <a:t>↺ Converged 까지 반복</a:t>
            </a:r>
            <a:endParaRPr lang="en-US" sz="1300" dirty="0"/>
          </a:p>
        </p:txBody>
      </p:sp>
      <p:sp>
        <p:nvSpPr>
          <p:cNvPr id="19" name="Text 17"/>
          <p:cNvSpPr/>
          <p:nvPr/>
        </p:nvSpPr>
        <p:spPr>
          <a:xfrm>
            <a:off x="812765" y="4575341"/>
            <a:ext cx="10566443" cy="467316"/>
          </a:xfrm>
          <a:prstGeom prst="roundRect">
            <a:avLst>
              <a:gd name="adj" fmla="val 13588"/>
            </a:avLst>
          </a:prstGeom>
          <a:solidFill>
            <a:srgbClr val="1B2430"/>
          </a:solidFill>
          <a:ln/>
        </p:spPr>
        <p:txBody>
          <a:bodyPr wrap="square" lIns="159201" tIns="108401" rIns="0" bIns="830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uv tool install specify-cli → specify init my-todo --integration claude</a:t>
            </a:r>
            <a:endParaRPr lang="en-US" sz="1200" dirty="0"/>
          </a:p>
        </p:txBody>
      </p:sp>
      <p:sp>
        <p:nvSpPr>
          <p:cNvPr id="20" name="Text 18"/>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B"/>
                </a:solidFill>
                <a:latin typeface="Noto Sans KR" pitchFamily="34" charset="0"/>
                <a:ea typeface="Noto Sans KR" pitchFamily="34" charset="-122"/>
                <a:cs typeface="Noto Sans KR" pitchFamily="34" charset="-120"/>
              </a:rPr>
              <a:t>M01 · 실제 실행 결과 (my-todo)</a:t>
            </a:r>
            <a:endParaRPr lang="en-US" sz="1200" dirty="0"/>
          </a:p>
        </p:txBody>
      </p:sp>
      <p:sp>
        <p:nvSpPr>
          <p:cNvPr id="3" name="Text 1"/>
          <p:cNvSpPr/>
          <p:nvPr>
            <p:ph type="title"/>
          </p:nvPr>
        </p:nvSpPr>
        <p:spPr>
          <a:xfrm>
            <a:off x="812765" y="1280080"/>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기능 하나에 문서 한 묶음이 쌓인다</a:t>
            </a:r>
            <a:endParaRPr lang="en-US" sz="3200" dirty="0"/>
          </a:p>
        </p:txBody>
      </p:sp>
      <p:sp>
        <p:nvSpPr>
          <p:cNvPr id="4" name="Shape 2"/>
          <p:cNvSpPr/>
          <p:nvPr/>
        </p:nvSpPr>
        <p:spPr>
          <a:xfrm>
            <a:off x="812765" y="2001413"/>
            <a:ext cx="6400813" cy="3840605"/>
          </a:xfrm>
          <a:prstGeom prst="roundRect">
            <a:avLst>
              <a:gd name="adj" fmla="val 2645"/>
            </a:avLst>
          </a:prstGeom>
          <a:solidFill>
            <a:srgbClr val="1B2430"/>
          </a:solidFill>
          <a:ln/>
        </p:spPr>
      </p:sp>
      <p:sp>
        <p:nvSpPr>
          <p:cNvPr id="5" name="Text 3"/>
          <p:cNvSpPr/>
          <p:nvPr/>
        </p:nvSpPr>
        <p:spPr>
          <a:xfrm>
            <a:off x="1117546" y="2255382"/>
            <a:ext cx="5964988"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A8F0"/>
                </a:solidFill>
                <a:latin typeface="JetBrains Mono" pitchFamily="49" charset="0"/>
                <a:ea typeface="JetBrains Mono" pitchFamily="49" charset="-122"/>
                <a:cs typeface="JetBrains Mono" pitchFamily="49" charset="-120"/>
              </a:rPr>
              <a:t>specs/001-todo-list-app/</a:t>
            </a:r>
            <a:endParaRPr lang="en-US" sz="1400" dirty="0"/>
          </a:p>
        </p:txBody>
      </p:sp>
      <p:sp>
        <p:nvSpPr>
          <p:cNvPr id="6" name="Text 4"/>
          <p:cNvSpPr/>
          <p:nvPr/>
        </p:nvSpPr>
        <p:spPr>
          <a:xfrm>
            <a:off x="1117546" y="2555044"/>
            <a:ext cx="5964988" cy="2204608"/>
          </a:xfrm>
          <a:prstGeom prst="rect">
            <a:avLst/>
          </a:prstGeom>
          <a:noFill/>
          <a:ln/>
        </p:spPr>
        <p:txBody>
          <a:bodyPr wrap="square" lIns="0" tIns="0" rIns="0" bIns="0" rtlCol="0" anchor="t">
            <a:normAutofit/>
          </a:bodyPr>
          <a:lstStyle/>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spec.md </a:t>
            </a:r>
            <a:r>
              <a:rPr lang="en-US" sz="1300" dirty="0">
                <a:solidFill>
                  <a:srgbClr val="9AA6B5"/>
                </a:solidFill>
                <a:latin typeface="JetBrains Mono" pitchFamily="49" charset="0"/>
                <a:ea typeface="JetBrains Mono" pitchFamily="49" charset="-122"/>
                <a:cs typeface="JetBrains Mono" pitchFamily="49" charset="-120"/>
              </a:rPr>
              <a:t>명세 · 무엇을 왜</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plan.md </a:t>
            </a:r>
            <a:r>
              <a:rPr lang="en-US" sz="1300" dirty="0">
                <a:solidFill>
                  <a:srgbClr val="9AA6B5"/>
                </a:solidFill>
                <a:latin typeface="JetBrains Mono" pitchFamily="49" charset="0"/>
                <a:ea typeface="JetBrains Mono" pitchFamily="49" charset="-122"/>
                <a:cs typeface="JetBrains Mono" pitchFamily="49" charset="-120"/>
              </a:rPr>
              <a:t>기술 계획</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research.md</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data-model.md</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contracts/ (3)</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quickstart.md </a:t>
            </a:r>
            <a:r>
              <a:rPr lang="en-US" sz="1300" dirty="0">
                <a:solidFill>
                  <a:srgbClr val="9AA6B5"/>
                </a:solidFill>
                <a:latin typeface="JetBrains Mono" pitchFamily="49" charset="0"/>
                <a:ea typeface="JetBrains Mono" pitchFamily="49" charset="-122"/>
                <a:cs typeface="JetBrains Mono" pitchFamily="49" charset="-120"/>
              </a:rPr>
              <a:t>검증 시나리오</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checklists/ (2)</a:t>
            </a:r>
            <a:endParaRPr lang="en-US" sz="1300" dirty="0"/>
          </a:p>
          <a:p>
            <a:pPr algn="l" indent="0" marL="0">
              <a:lnSpc>
                <a:spcPts val="2145"/>
              </a:lnSpc>
              <a:buNone/>
            </a:pPr>
            <a:r>
              <a:rPr lang="en-US" sz="1300" dirty="0">
                <a:solidFill>
                  <a:srgbClr val="E6EAF0"/>
                </a:solidFill>
                <a:latin typeface="JetBrains Mono" pitchFamily="49" charset="0"/>
                <a:ea typeface="JetBrains Mono" pitchFamily="49" charset="-122"/>
                <a:cs typeface="JetBrains Mono" pitchFamily="49" charset="-120"/>
              </a:rPr>
              <a:t>└─ tasks.md </a:t>
            </a:r>
            <a:r>
              <a:rPr lang="en-US" sz="1300" dirty="0">
                <a:solidFill>
                  <a:srgbClr val="9AA6B5"/>
                </a:solidFill>
                <a:latin typeface="JetBrains Mono" pitchFamily="49" charset="0"/>
                <a:ea typeface="JetBrains Mono" pitchFamily="49" charset="-122"/>
                <a:cs typeface="JetBrains Mono" pitchFamily="49" charset="-120"/>
              </a:rPr>
              <a:t>작업 목록</a:t>
            </a:r>
            <a:endParaRPr lang="en-US" sz="1300" dirty="0"/>
          </a:p>
        </p:txBody>
      </p:sp>
      <p:sp>
        <p:nvSpPr>
          <p:cNvPr id="7" name="Text 5"/>
          <p:cNvSpPr/>
          <p:nvPr/>
        </p:nvSpPr>
        <p:spPr>
          <a:xfrm>
            <a:off x="7518359" y="2001413"/>
            <a:ext cx="3976674" cy="640035"/>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F6FDB"/>
                </a:solidFill>
                <a:latin typeface="IBM Plex Sans KR" pitchFamily="34" charset="0"/>
                <a:ea typeface="IBM Plex Sans KR" pitchFamily="34" charset="-122"/>
                <a:cs typeface="IBM Plex Sans KR" pitchFamily="34" charset="-120"/>
              </a:rPr>
              <a:t>10 + 5</a:t>
            </a:r>
            <a:endParaRPr lang="en-US" sz="4400" dirty="0"/>
          </a:p>
        </p:txBody>
      </p:sp>
      <p:sp>
        <p:nvSpPr>
          <p:cNvPr id="8" name="Text 6"/>
          <p:cNvSpPr/>
          <p:nvPr/>
        </p:nvSpPr>
        <p:spPr>
          <a:xfrm>
            <a:off x="7518359" y="2641408"/>
            <a:ext cx="397667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oto Sans KR" pitchFamily="34" charset="0"/>
                <a:ea typeface="Noto Sans KR" pitchFamily="34" charset="-122"/>
                <a:cs typeface="Noto Sans KR" pitchFamily="34" charset="-120"/>
              </a:rPr>
              <a:t>Claude Code 스킬 (기본 + git 확장)</a:t>
            </a:r>
            <a:endParaRPr lang="en-US" sz="1300" dirty="0"/>
          </a:p>
        </p:txBody>
      </p:sp>
      <p:sp>
        <p:nvSpPr>
          <p:cNvPr id="9" name="Text 7"/>
          <p:cNvSpPr/>
          <p:nvPr/>
        </p:nvSpPr>
        <p:spPr>
          <a:xfrm>
            <a:off x="7518359" y="3486144"/>
            <a:ext cx="3976674" cy="640035"/>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F6FDB"/>
                </a:solidFill>
                <a:latin typeface="IBM Plex Sans KR" pitchFamily="34" charset="0"/>
                <a:ea typeface="IBM Plex Sans KR" pitchFamily="34" charset="-122"/>
                <a:cs typeface="IBM Plex Sans KR" pitchFamily="34" charset="-120"/>
              </a:rPr>
              <a:t>11</a:t>
            </a:r>
            <a:endParaRPr lang="en-US" sz="4400" dirty="0"/>
          </a:p>
        </p:txBody>
      </p:sp>
      <p:sp>
        <p:nvSpPr>
          <p:cNvPr id="10" name="Text 8"/>
          <p:cNvSpPr/>
          <p:nvPr/>
        </p:nvSpPr>
        <p:spPr>
          <a:xfrm>
            <a:off x="7518359" y="4126139"/>
            <a:ext cx="397667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oto Sans KR" pitchFamily="34" charset="0"/>
                <a:ea typeface="Noto Sans KR" pitchFamily="34" charset="-122"/>
                <a:cs typeface="Noto Sans KR" pitchFamily="34" charset="-120"/>
              </a:rPr>
              <a:t>기능 001에 생성된 문서 수</a:t>
            </a:r>
            <a:endParaRPr lang="en-US" sz="1300" dirty="0"/>
          </a:p>
        </p:txBody>
      </p:sp>
      <p:sp>
        <p:nvSpPr>
          <p:cNvPr id="11" name="Text 9"/>
          <p:cNvSpPr/>
          <p:nvPr/>
        </p:nvSpPr>
        <p:spPr>
          <a:xfrm>
            <a:off x="7518359" y="4970878"/>
            <a:ext cx="3976674" cy="640035"/>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F6FDB"/>
                </a:solidFill>
                <a:latin typeface="IBM Plex Sans KR" pitchFamily="34" charset="0"/>
                <a:ea typeface="IBM Plex Sans KR" pitchFamily="34" charset="-122"/>
                <a:cs typeface="IBM Plex Sans KR" pitchFamily="34" charset="-120"/>
              </a:rPr>
              <a:t>34 / 34</a:t>
            </a:r>
            <a:endParaRPr lang="en-US" sz="4400" dirty="0"/>
          </a:p>
        </p:txBody>
      </p:sp>
      <p:sp>
        <p:nvSpPr>
          <p:cNvPr id="12" name="Text 10"/>
          <p:cNvSpPr/>
          <p:nvPr/>
        </p:nvSpPr>
        <p:spPr>
          <a:xfrm>
            <a:off x="7518359" y="5610873"/>
            <a:ext cx="3976674"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oto Sans KR" pitchFamily="34" charset="0"/>
                <a:ea typeface="Noto Sans KR" pitchFamily="34" charset="-122"/>
                <a:cs typeface="Noto Sans KR" pitchFamily="34" charset="-120"/>
              </a:rPr>
              <a:t>node --test 통과</a:t>
            </a:r>
            <a:endParaRPr lang="en-US" sz="1300" dirty="0"/>
          </a:p>
        </p:txBody>
      </p:sp>
      <p:sp>
        <p:nvSpPr>
          <p:cNvPr id="13" name="Text 11"/>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Noto Sans KR" pitchFamily="34" charset="0"/>
                <a:ea typeface="Noto Sans KR" pitchFamily="34" charset="-122"/>
                <a:cs typeface="Noto Sans KR" pitchFamily="34" charset="-120"/>
              </a:rPr>
              <a:t>M02 · OPENSPEC (Fission AI)</a:t>
            </a:r>
            <a:endParaRPr lang="en-US" sz="1200" dirty="0"/>
          </a:p>
        </p:txBody>
      </p:sp>
      <p:sp>
        <p:nvSpPr>
          <p:cNvPr id="3" name="Text 1"/>
          <p:cNvSpPr/>
          <p:nvPr>
            <p:ph type="title"/>
          </p:nvPr>
        </p:nvSpPr>
        <p:spPr>
          <a:xfrm>
            <a:off x="812765" y="1280080"/>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변경을 제안하고, 명세에 합친다</a:t>
            </a:r>
            <a:endParaRPr lang="en-US" sz="3200" dirty="0"/>
          </a:p>
        </p:txBody>
      </p:sp>
      <p:sp>
        <p:nvSpPr>
          <p:cNvPr id="4" name="Shape 2"/>
          <p:cNvSpPr/>
          <p:nvPr/>
        </p:nvSpPr>
        <p:spPr>
          <a:xfrm>
            <a:off x="819115" y="2007763"/>
            <a:ext cx="2171716" cy="828279"/>
          </a:xfrm>
          <a:prstGeom prst="roundRect">
            <a:avLst>
              <a:gd name="adj" fmla="val 8433"/>
            </a:avLst>
          </a:prstGeom>
          <a:solidFill>
            <a:srgbClr val="F4F5F7"/>
          </a:solidFill>
          <a:ln w="12700">
            <a:solidFill>
              <a:srgbClr val="B4531A"/>
            </a:solidFill>
            <a:prstDash val="dash"/>
          </a:ln>
        </p:spPr>
      </p:sp>
      <p:sp>
        <p:nvSpPr>
          <p:cNvPr id="5" name="Text 3"/>
          <p:cNvSpPr/>
          <p:nvPr/>
        </p:nvSpPr>
        <p:spPr>
          <a:xfrm>
            <a:off x="1002155" y="2165397"/>
            <a:ext cx="1859805"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/opsx:explore</a:t>
            </a:r>
            <a:endParaRPr lang="en-US" sz="1400" dirty="0"/>
          </a:p>
        </p:txBody>
      </p:sp>
      <p:sp>
        <p:nvSpPr>
          <p:cNvPr id="6" name="Text 4"/>
          <p:cNvSpPr/>
          <p:nvPr/>
        </p:nvSpPr>
        <p:spPr>
          <a:xfrm>
            <a:off x="1002155" y="2465059"/>
            <a:ext cx="1859805"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(선택) 생각 정리</a:t>
            </a:r>
            <a:endParaRPr lang="en-US" sz="1200" dirty="0"/>
          </a:p>
        </p:txBody>
      </p:sp>
      <p:pic>
        <p:nvPicPr>
          <p:cNvPr id="7" name="Image 0" descr="arrow-right">    </p:cNvPr>
          <p:cNvPicPr>
            <a:picLocks noChangeAspect="1"/>
          </p:cNvPicPr>
          <p:nvPr/>
        </p:nvPicPr>
        <p:blipFill>
          <a:blip r:embed="rId1"/>
          <a:srcRect l="0" r="0" t="0" b="0"/>
          <a:stretch/>
        </p:blipFill>
        <p:spPr>
          <a:xfrm>
            <a:off x="3124166" y="2333002"/>
            <a:ext cx="355593" cy="177797"/>
          </a:xfrm>
          <a:prstGeom prst="rect">
            <a:avLst/>
          </a:prstGeom>
        </p:spPr>
      </p:pic>
      <p:sp>
        <p:nvSpPr>
          <p:cNvPr id="8" name="Shape 5"/>
          <p:cNvSpPr/>
          <p:nvPr/>
        </p:nvSpPr>
        <p:spPr>
          <a:xfrm>
            <a:off x="3613093" y="2007763"/>
            <a:ext cx="2171761" cy="828279"/>
          </a:xfrm>
          <a:prstGeom prst="roundRect">
            <a:avLst>
              <a:gd name="adj" fmla="val 8433"/>
            </a:avLst>
          </a:prstGeom>
          <a:solidFill>
            <a:srgbClr val="F4F5F7"/>
          </a:solidFill>
          <a:ln w="12700">
            <a:solidFill>
              <a:srgbClr val="B4531A"/>
            </a:solidFill>
            <a:prstDash val="solid"/>
          </a:ln>
        </p:spPr>
      </p:sp>
      <p:sp>
        <p:nvSpPr>
          <p:cNvPr id="9" name="Text 6"/>
          <p:cNvSpPr/>
          <p:nvPr/>
        </p:nvSpPr>
        <p:spPr>
          <a:xfrm>
            <a:off x="3796134" y="2165397"/>
            <a:ext cx="1859852"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/opsx:propose</a:t>
            </a:r>
            <a:endParaRPr lang="en-US" sz="1400" dirty="0"/>
          </a:p>
        </p:txBody>
      </p:sp>
      <p:sp>
        <p:nvSpPr>
          <p:cNvPr id="10" name="Text 7"/>
          <p:cNvSpPr/>
          <p:nvPr/>
        </p:nvSpPr>
        <p:spPr>
          <a:xfrm>
            <a:off x="3796134" y="2465059"/>
            <a:ext cx="1859852"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계획 문서 4종</a:t>
            </a:r>
            <a:endParaRPr lang="en-US" sz="1200" dirty="0"/>
          </a:p>
        </p:txBody>
      </p:sp>
      <p:pic>
        <p:nvPicPr>
          <p:cNvPr id="11" name="Image 1" descr="arrow-right">    </p:cNvPr>
          <p:cNvPicPr>
            <a:picLocks noChangeAspect="1"/>
          </p:cNvPicPr>
          <p:nvPr/>
        </p:nvPicPr>
        <p:blipFill>
          <a:blip r:embed="rId2"/>
          <a:srcRect l="0" r="0" t="0" b="0"/>
          <a:stretch/>
        </p:blipFill>
        <p:spPr>
          <a:xfrm>
            <a:off x="5918190" y="2333002"/>
            <a:ext cx="355593" cy="177797"/>
          </a:xfrm>
          <a:prstGeom prst="rect">
            <a:avLst/>
          </a:prstGeom>
        </p:spPr>
      </p:pic>
      <p:sp>
        <p:nvSpPr>
          <p:cNvPr id="12" name="Shape 8"/>
          <p:cNvSpPr/>
          <p:nvPr/>
        </p:nvSpPr>
        <p:spPr>
          <a:xfrm>
            <a:off x="6407117" y="2007763"/>
            <a:ext cx="2171716" cy="828279"/>
          </a:xfrm>
          <a:prstGeom prst="roundRect">
            <a:avLst>
              <a:gd name="adj" fmla="val 8433"/>
            </a:avLst>
          </a:prstGeom>
          <a:solidFill>
            <a:srgbClr val="F4F5F7"/>
          </a:solidFill>
          <a:ln w="12700">
            <a:solidFill>
              <a:srgbClr val="B4531A"/>
            </a:solidFill>
            <a:prstDash val="solid"/>
          </a:ln>
        </p:spPr>
      </p:sp>
      <p:sp>
        <p:nvSpPr>
          <p:cNvPr id="13" name="Text 9"/>
          <p:cNvSpPr/>
          <p:nvPr/>
        </p:nvSpPr>
        <p:spPr>
          <a:xfrm>
            <a:off x="6590157" y="2165397"/>
            <a:ext cx="1859805"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/opsx:apply</a:t>
            </a:r>
            <a:endParaRPr lang="en-US" sz="1400" dirty="0"/>
          </a:p>
        </p:txBody>
      </p:sp>
      <p:sp>
        <p:nvSpPr>
          <p:cNvPr id="14" name="Text 10"/>
          <p:cNvSpPr/>
          <p:nvPr/>
        </p:nvSpPr>
        <p:spPr>
          <a:xfrm>
            <a:off x="6590157" y="2465059"/>
            <a:ext cx="1859805"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구현</a:t>
            </a:r>
            <a:endParaRPr lang="en-US" sz="1200" dirty="0"/>
          </a:p>
        </p:txBody>
      </p:sp>
      <p:pic>
        <p:nvPicPr>
          <p:cNvPr id="15" name="Image 2" descr="arrow-right">    </p:cNvPr>
          <p:cNvPicPr>
            <a:picLocks noChangeAspect="1"/>
          </p:cNvPicPr>
          <p:nvPr/>
        </p:nvPicPr>
        <p:blipFill>
          <a:blip r:embed="rId3"/>
          <a:srcRect l="0" r="0" t="0" b="0"/>
          <a:stretch/>
        </p:blipFill>
        <p:spPr>
          <a:xfrm>
            <a:off x="8712168" y="2333002"/>
            <a:ext cx="355593" cy="177797"/>
          </a:xfrm>
          <a:prstGeom prst="rect">
            <a:avLst/>
          </a:prstGeom>
        </p:spPr>
      </p:pic>
      <p:sp>
        <p:nvSpPr>
          <p:cNvPr id="16" name="Shape 11"/>
          <p:cNvSpPr/>
          <p:nvPr/>
        </p:nvSpPr>
        <p:spPr>
          <a:xfrm>
            <a:off x="9201097" y="2007763"/>
            <a:ext cx="2171761" cy="828279"/>
          </a:xfrm>
          <a:prstGeom prst="roundRect">
            <a:avLst>
              <a:gd name="adj" fmla="val 8433"/>
            </a:avLst>
          </a:prstGeom>
          <a:solidFill>
            <a:srgbClr val="F4F5F7"/>
          </a:solidFill>
          <a:ln w="12700">
            <a:solidFill>
              <a:srgbClr val="B4531A"/>
            </a:solidFill>
            <a:prstDash val="solid"/>
          </a:ln>
        </p:spPr>
      </p:sp>
      <p:sp>
        <p:nvSpPr>
          <p:cNvPr id="17" name="Text 12"/>
          <p:cNvSpPr/>
          <p:nvPr/>
        </p:nvSpPr>
        <p:spPr>
          <a:xfrm>
            <a:off x="9384137" y="2165397"/>
            <a:ext cx="1859852"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/opsx:archive</a:t>
            </a:r>
            <a:endParaRPr lang="en-US" sz="1400" dirty="0"/>
          </a:p>
        </p:txBody>
      </p:sp>
      <p:sp>
        <p:nvSpPr>
          <p:cNvPr id="18" name="Text 13"/>
          <p:cNvSpPr/>
          <p:nvPr/>
        </p:nvSpPr>
        <p:spPr>
          <a:xfrm>
            <a:off x="9384137" y="2465059"/>
            <a:ext cx="1859852"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Noto Sans KR" pitchFamily="34" charset="0"/>
                <a:ea typeface="Noto Sans KR" pitchFamily="34" charset="-122"/>
                <a:cs typeface="Noto Sans KR" pitchFamily="34" charset="-120"/>
              </a:rPr>
              <a:t>병합 · 보관</a:t>
            </a:r>
            <a:endParaRPr lang="en-US" sz="1200" dirty="0"/>
          </a:p>
        </p:txBody>
      </p:sp>
      <p:sp>
        <p:nvSpPr>
          <p:cNvPr id="19" name="Shape 14"/>
          <p:cNvSpPr/>
          <p:nvPr/>
        </p:nvSpPr>
        <p:spPr>
          <a:xfrm>
            <a:off x="812765" y="3096360"/>
            <a:ext cx="5181643" cy="2745657"/>
          </a:xfrm>
          <a:prstGeom prst="roundRect">
            <a:avLst>
              <a:gd name="adj" fmla="val 3700"/>
            </a:avLst>
          </a:prstGeom>
          <a:solidFill>
            <a:srgbClr val="F4F5F7"/>
          </a:solidFill>
          <a:ln/>
        </p:spPr>
      </p:sp>
      <p:sp>
        <p:nvSpPr>
          <p:cNvPr id="20" name="Text 15"/>
          <p:cNvSpPr/>
          <p:nvPr/>
        </p:nvSpPr>
        <p:spPr>
          <a:xfrm>
            <a:off x="1066734" y="3324923"/>
            <a:ext cx="4813915" cy="25654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1A"/>
                </a:solidFill>
                <a:latin typeface="JetBrains Mono" pitchFamily="49" charset="0"/>
                <a:ea typeface="JetBrains Mono" pitchFamily="49" charset="-122"/>
                <a:cs typeface="JetBrains Mono" pitchFamily="49" charset="-120"/>
              </a:rPr>
              <a:t>openspec/changes/&lt;변경&gt;/</a:t>
            </a:r>
            <a:endParaRPr lang="en-US" sz="1300" dirty="0"/>
          </a:p>
        </p:txBody>
      </p:sp>
      <p:sp>
        <p:nvSpPr>
          <p:cNvPr id="21" name="Text 16"/>
          <p:cNvSpPr/>
          <p:nvPr/>
        </p:nvSpPr>
        <p:spPr>
          <a:xfrm>
            <a:off x="1066734" y="3657647"/>
            <a:ext cx="481391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IBM Plex Sans KR" pitchFamily="34" charset="0"/>
                <a:ea typeface="IBM Plex Sans KR" pitchFamily="34" charset="-122"/>
                <a:cs typeface="IBM Plex Sans KR" pitchFamily="34" charset="-120"/>
              </a:rPr>
              <a:t>개정안 = 진행 중인 변경</a:t>
            </a:r>
            <a:endParaRPr lang="en-US" sz="2000" dirty="0"/>
          </a:p>
        </p:txBody>
      </p:sp>
      <p:sp>
        <p:nvSpPr>
          <p:cNvPr id="22" name="Text 17"/>
          <p:cNvSpPr/>
          <p:nvPr/>
        </p:nvSpPr>
        <p:spPr>
          <a:xfrm>
            <a:off x="1066734" y="4064006"/>
            <a:ext cx="4813915" cy="55879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proposal · 델타 specs · design · tasks</a:t>
            </a:r>
            <a:endParaRPr lang="en-US" sz="1400" dirty="0"/>
          </a:p>
          <a:p>
            <a:pPr algn="l" indent="0" marL="0">
              <a:lnSpc>
                <a:spcPts val="2100"/>
              </a:lnSpc>
              <a:buNone/>
            </a:pPr>
            <a:r>
              <a:rPr lang="en-US" sz="1400" dirty="0">
                <a:solidFill>
                  <a:srgbClr val="4A5568"/>
                </a:solidFill>
                <a:latin typeface="Noto Sans KR" pitchFamily="34" charset="0"/>
                <a:ea typeface="Noto Sans KR" pitchFamily="34" charset="-122"/>
                <a:cs typeface="Noto Sans KR" pitchFamily="34" charset="-120"/>
              </a:rPr>
              <a:t>변경 1건 = 폴더 1개</a:t>
            </a:r>
            <a:endParaRPr lang="en-US" sz="1400" dirty="0"/>
          </a:p>
        </p:txBody>
      </p:sp>
      <p:sp>
        <p:nvSpPr>
          <p:cNvPr id="23" name="Shape 18"/>
          <p:cNvSpPr/>
          <p:nvPr/>
        </p:nvSpPr>
        <p:spPr>
          <a:xfrm>
            <a:off x="6197565" y="3096360"/>
            <a:ext cx="5181643" cy="2745657"/>
          </a:xfrm>
          <a:prstGeom prst="roundRect">
            <a:avLst>
              <a:gd name="adj" fmla="val 3700"/>
            </a:avLst>
          </a:prstGeom>
          <a:solidFill>
            <a:srgbClr val="1B2430"/>
          </a:solidFill>
          <a:ln/>
        </p:spPr>
      </p:sp>
      <p:sp>
        <p:nvSpPr>
          <p:cNvPr id="24" name="Text 19"/>
          <p:cNvSpPr/>
          <p:nvPr/>
        </p:nvSpPr>
        <p:spPr>
          <a:xfrm>
            <a:off x="6451534" y="3324923"/>
            <a:ext cx="4813915" cy="25654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A060"/>
                </a:solidFill>
                <a:latin typeface="JetBrains Mono" pitchFamily="49" charset="0"/>
                <a:ea typeface="JetBrains Mono" pitchFamily="49" charset="-122"/>
                <a:cs typeface="JetBrains Mono" pitchFamily="49" charset="-120"/>
              </a:rPr>
              <a:t>openspec/specs/&lt;기능&gt;/spec.md</a:t>
            </a:r>
            <a:endParaRPr lang="en-US" sz="1300" dirty="0"/>
          </a:p>
        </p:txBody>
      </p:sp>
      <p:sp>
        <p:nvSpPr>
          <p:cNvPr id="25" name="Text 20"/>
          <p:cNvSpPr/>
          <p:nvPr/>
        </p:nvSpPr>
        <p:spPr>
          <a:xfrm>
            <a:off x="6451534" y="3657647"/>
            <a:ext cx="481391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E"/>
                </a:solidFill>
                <a:latin typeface="IBM Plex Sans KR" pitchFamily="34" charset="0"/>
                <a:ea typeface="IBM Plex Sans KR" pitchFamily="34" charset="-122"/>
                <a:cs typeface="IBM Plex Sans KR" pitchFamily="34" charset="-120"/>
              </a:rPr>
              <a:t>현재 법전 = 진실의 원천</a:t>
            </a:r>
            <a:endParaRPr lang="en-US" sz="2000" dirty="0"/>
          </a:p>
        </p:txBody>
      </p:sp>
      <p:sp>
        <p:nvSpPr>
          <p:cNvPr id="26" name="Text 21"/>
          <p:cNvSpPr/>
          <p:nvPr/>
        </p:nvSpPr>
        <p:spPr>
          <a:xfrm>
            <a:off x="6451534" y="4064006"/>
            <a:ext cx="4813915" cy="55879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DE"/>
                </a:solidFill>
                <a:latin typeface="Noto Sans KR" pitchFamily="34" charset="0"/>
                <a:ea typeface="Noto Sans KR" pitchFamily="34" charset="-122"/>
                <a:cs typeface="Noto Sans KR" pitchFamily="34" charset="-120"/>
              </a:rPr>
              <a:t>지금 시스템이 어떻게 동작하는지</a:t>
            </a:r>
            <a:endParaRPr lang="en-US" sz="1400" dirty="0"/>
          </a:p>
          <a:p>
            <a:pPr algn="l" indent="0" marL="0">
              <a:lnSpc>
                <a:spcPts val="2100"/>
              </a:lnSpc>
              <a:buNone/>
            </a:pPr>
            <a:r>
              <a:rPr lang="en-US" sz="1400" dirty="0">
                <a:solidFill>
                  <a:srgbClr val="C9D2DE"/>
                </a:solidFill>
                <a:latin typeface="Noto Sans KR" pitchFamily="34" charset="0"/>
                <a:ea typeface="Noto Sans KR" pitchFamily="34" charset="-122"/>
                <a:cs typeface="Noto Sans KR" pitchFamily="34" charset="-120"/>
              </a:rPr>
              <a:t>archive 할 때마다 최신으로 갱신</a:t>
            </a:r>
            <a:endParaRPr lang="en-US" sz="1400" dirty="0"/>
          </a:p>
        </p:txBody>
      </p:sp>
      <p:sp>
        <p:nvSpPr>
          <p:cNvPr id="27" name="Text 22"/>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Noto Sans KR" pitchFamily="34" charset="0"/>
                <a:ea typeface="Noto Sans KR" pitchFamily="34" charset="-122"/>
                <a:cs typeface="Noto Sans KR" pitchFamily="34" charset="-120"/>
              </a:rPr>
              <a:t>M02 · 핵심 개념</a:t>
            </a:r>
            <a:endParaRPr lang="en-US" sz="1200" dirty="0"/>
          </a:p>
        </p:txBody>
      </p:sp>
      <p:sp>
        <p:nvSpPr>
          <p:cNvPr id="3" name="Text 1"/>
          <p:cNvSpPr/>
          <p:nvPr>
            <p:ph type="title"/>
          </p:nvPr>
        </p:nvSpPr>
        <p:spPr>
          <a:xfrm>
            <a:off x="812765" y="1280083"/>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델타 명세: 바뀌는 부분만 적는다</a:t>
            </a:r>
            <a:endParaRPr lang="en-US" sz="3200" dirty="0"/>
          </a:p>
        </p:txBody>
      </p:sp>
      <p:sp>
        <p:nvSpPr>
          <p:cNvPr id="4" name="Shape 2"/>
          <p:cNvSpPr/>
          <p:nvPr/>
        </p:nvSpPr>
        <p:spPr>
          <a:xfrm>
            <a:off x="812765" y="2001413"/>
            <a:ext cx="5410206" cy="3840605"/>
          </a:xfrm>
          <a:prstGeom prst="roundRect">
            <a:avLst>
              <a:gd name="adj" fmla="val 2645"/>
            </a:avLst>
          </a:prstGeom>
          <a:solidFill>
            <a:srgbClr val="1B2430"/>
          </a:solidFill>
          <a:ln/>
        </p:spPr>
      </p:sp>
      <p:sp>
        <p:nvSpPr>
          <p:cNvPr id="5" name="Text 3"/>
          <p:cNvSpPr/>
          <p:nvPr/>
        </p:nvSpPr>
        <p:spPr>
          <a:xfrm>
            <a:off x="1092140" y="2255382"/>
            <a:ext cx="4996999"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5"/>
                </a:solidFill>
                <a:latin typeface="Noto Sans KR" pitchFamily="34" charset="0"/>
                <a:ea typeface="Noto Sans KR" pitchFamily="34" charset="-122"/>
                <a:cs typeface="Noto Sans KR" pitchFamily="34" charset="-120"/>
              </a:rPr>
              <a:t>changes/add-due-date/specs/todo-list/spec.md</a:t>
            </a:r>
            <a:endParaRPr lang="en-US" sz="1200" dirty="0"/>
          </a:p>
        </p:txBody>
      </p:sp>
      <p:sp>
        <p:nvSpPr>
          <p:cNvPr id="6" name="Text 4"/>
          <p:cNvSpPr/>
          <p:nvPr/>
        </p:nvSpPr>
        <p:spPr>
          <a:xfrm>
            <a:off x="1092140" y="2544902"/>
            <a:ext cx="4996999" cy="2402829"/>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0A060"/>
                </a:solidFill>
                <a:latin typeface="JetBrains Mono" pitchFamily="49" charset="0"/>
                <a:ea typeface="JetBrains Mono" pitchFamily="49" charset="-122"/>
                <a:cs typeface="JetBrains Mono" pitchFamily="49" charset="-120"/>
              </a:rPr>
              <a:t>## ADDED Requirements</a:t>
            </a:r>
            <a:endParaRPr lang="en-US" sz="1300" dirty="0"/>
          </a:p>
          <a:p>
            <a:pPr algn="l" indent="0" marL="0">
              <a:lnSpc>
                <a:spcPts val="2080"/>
              </a:lnSpc>
              <a:buNone/>
            </a:pP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 Requirement: 마감일 지정</a:t>
            </a: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The system </a:t>
            </a:r>
            <a:r>
              <a:rPr lang="en-US" sz="1300" dirty="0">
                <a:solidFill>
                  <a:srgbClr val="F0A060"/>
                </a:solidFill>
                <a:latin typeface="JetBrains Mono" pitchFamily="49" charset="0"/>
                <a:ea typeface="JetBrains Mono" pitchFamily="49" charset="-122"/>
                <a:cs typeface="JetBrains Mono" pitchFamily="49" charset="-120"/>
              </a:rPr>
              <a:t>SHALL</a:t>
            </a:r>
            <a:r>
              <a:rPr lang="en-US" sz="1300" dirty="0">
                <a:solidFill>
                  <a:srgbClr val="E6EAF0"/>
                </a:solidFill>
                <a:latin typeface="JetBrains Mono" pitchFamily="49" charset="0"/>
                <a:ea typeface="JetBrains Mono" pitchFamily="49" charset="-122"/>
                <a:cs typeface="JetBrains Mono" pitchFamily="49" charset="-120"/>
              </a:rPr>
              <a:t> … 사용자는</a:t>
            </a: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할 일에 마감일을 지정할 수 있다.</a:t>
            </a:r>
            <a:endParaRPr lang="en-US" sz="1300" dirty="0"/>
          </a:p>
          <a:p>
            <a:pPr algn="l" indent="0" marL="0">
              <a:lnSpc>
                <a:spcPts val="2080"/>
              </a:lnSpc>
              <a:buNone/>
            </a:pP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 Scenario: 마감일과 함께 추가</a:t>
            </a: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 </a:t>
            </a:r>
            <a:r>
              <a:rPr lang="en-US" sz="1300" b="1" dirty="0">
                <a:solidFill>
                  <a:srgbClr val="E6EAF0"/>
                </a:solidFill>
                <a:latin typeface="JetBrains Mono" pitchFamily="49" charset="0"/>
                <a:ea typeface="JetBrains Mono" pitchFamily="49" charset="-122"/>
                <a:cs typeface="JetBrains Mono" pitchFamily="49" charset="-120"/>
              </a:rPr>
              <a:t>WHEN</a:t>
            </a:r>
            <a:r>
              <a:rPr lang="en-US" sz="1300" dirty="0">
                <a:solidFill>
                  <a:srgbClr val="E6EAF0"/>
                </a:solidFill>
                <a:latin typeface="JetBrains Mono" pitchFamily="49" charset="0"/>
                <a:ea typeface="JetBrains Mono" pitchFamily="49" charset="-122"/>
                <a:cs typeface="JetBrains Mono" pitchFamily="49" charset="-120"/>
              </a:rPr>
              <a:t> 마감일을 고르고 추가한다</a:t>
            </a:r>
            <a:endParaRPr lang="en-US" sz="1300" dirty="0"/>
          </a:p>
          <a:p>
            <a:pPr algn="l" indent="0" marL="0">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 </a:t>
            </a:r>
            <a:r>
              <a:rPr lang="en-US" sz="1300" b="1" dirty="0">
                <a:solidFill>
                  <a:srgbClr val="E6EAF0"/>
                </a:solidFill>
                <a:latin typeface="JetBrains Mono" pitchFamily="49" charset="0"/>
                <a:ea typeface="JetBrains Mono" pitchFamily="49" charset="-122"/>
                <a:cs typeface="JetBrains Mono" pitchFamily="49" charset="-120"/>
              </a:rPr>
              <a:t>THEN</a:t>
            </a:r>
            <a:r>
              <a:rPr lang="en-US" sz="1300" dirty="0">
                <a:solidFill>
                  <a:srgbClr val="E6EAF0"/>
                </a:solidFill>
                <a:latin typeface="JetBrains Mono" pitchFamily="49" charset="0"/>
                <a:ea typeface="JetBrains Mono" pitchFamily="49" charset="-122"/>
                <a:cs typeface="JetBrains Mono" pitchFamily="49" charset="-120"/>
              </a:rPr>
              <a:t> 옆에 마감일이 표시된다</a:t>
            </a:r>
            <a:endParaRPr lang="en-US" sz="1300" dirty="0"/>
          </a:p>
        </p:txBody>
      </p:sp>
      <p:sp>
        <p:nvSpPr>
          <p:cNvPr id="7" name="Text 5"/>
          <p:cNvSpPr/>
          <p:nvPr/>
        </p:nvSpPr>
        <p:spPr>
          <a:xfrm>
            <a:off x="6527752" y="2001413"/>
            <a:ext cx="4996999"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/opsx:archive 때 기준 명세에 병합</a:t>
            </a:r>
            <a:endParaRPr lang="en-US" sz="1800" dirty="0"/>
          </a:p>
        </p:txBody>
      </p:sp>
      <p:sp>
        <p:nvSpPr>
          <p:cNvPr id="8" name="Text 6"/>
          <p:cNvSpPr/>
          <p:nvPr/>
        </p:nvSpPr>
        <p:spPr>
          <a:xfrm>
            <a:off x="6527752" y="2453512"/>
            <a:ext cx="1396967" cy="358129"/>
          </a:xfrm>
          <a:prstGeom prst="roundRect">
            <a:avLst>
              <a:gd name="adj" fmla="val 14185"/>
            </a:avLst>
          </a:prstGeom>
          <a:solidFill>
            <a:srgbClr val="2E7D4F"/>
          </a:solidFill>
          <a:ln/>
        </p:spPr>
        <p:txBody>
          <a:bodyPr wrap="square" lIns="86721" tIns="48621" rIns="86721" bIns="23221" rtlCol="0" anchor="t">
            <a:normAutofit/>
          </a:bodyPr>
          <a:lstStyle/>
          <a:p>
            <a:pPr algn="ctr" indent="0" marL="0">
              <a:lnSpc>
                <a:spcPts val="1820"/>
              </a:lnSpc>
              <a:buNone/>
            </a:pPr>
            <a:r>
              <a:rPr lang="en-US" sz="1300" b="1" dirty="0">
                <a:solidFill>
                  <a:srgbClr val="FFFDF8"/>
                </a:solidFill>
                <a:latin typeface="JetBrains Mono" pitchFamily="49" charset="0"/>
                <a:ea typeface="JetBrains Mono" pitchFamily="49" charset="-122"/>
                <a:cs typeface="JetBrains Mono" pitchFamily="49" charset="-120"/>
              </a:rPr>
              <a:t>ADDED</a:t>
            </a:r>
            <a:endParaRPr lang="en-US" sz="1300" dirty="0"/>
          </a:p>
        </p:txBody>
      </p:sp>
      <p:sp>
        <p:nvSpPr>
          <p:cNvPr id="9" name="Text 7"/>
          <p:cNvSpPr/>
          <p:nvPr/>
        </p:nvSpPr>
        <p:spPr>
          <a:xfrm>
            <a:off x="8077109" y="2499206"/>
            <a:ext cx="1574301" cy="29209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기준 명세에 </a:t>
            </a:r>
            <a:r>
              <a:rPr lang="en-US" sz="1500" b="1" dirty="0">
                <a:solidFill>
                  <a:srgbClr val="1B2430"/>
                </a:solidFill>
                <a:latin typeface="Noto Sans KR" pitchFamily="34" charset="0"/>
                <a:ea typeface="Noto Sans KR" pitchFamily="34" charset="-122"/>
                <a:cs typeface="Noto Sans KR" pitchFamily="34" charset="-120"/>
              </a:rPr>
              <a:t>추가</a:t>
            </a:r>
            <a:endParaRPr lang="en-US" sz="1500" dirty="0"/>
          </a:p>
        </p:txBody>
      </p:sp>
      <p:sp>
        <p:nvSpPr>
          <p:cNvPr id="10" name="Text 8"/>
          <p:cNvSpPr/>
          <p:nvPr/>
        </p:nvSpPr>
        <p:spPr>
          <a:xfrm>
            <a:off x="6527752" y="2989439"/>
            <a:ext cx="1396967" cy="358129"/>
          </a:xfrm>
          <a:prstGeom prst="roundRect">
            <a:avLst>
              <a:gd name="adj" fmla="val 14185"/>
            </a:avLst>
          </a:prstGeom>
          <a:solidFill>
            <a:srgbClr val="B4531A"/>
          </a:solidFill>
          <a:ln/>
        </p:spPr>
        <p:txBody>
          <a:bodyPr wrap="square" lIns="86721" tIns="48621" rIns="86721" bIns="23221" rtlCol="0" anchor="t">
            <a:normAutofit/>
          </a:bodyPr>
          <a:lstStyle/>
          <a:p>
            <a:pPr algn="ctr" indent="0" marL="0">
              <a:lnSpc>
                <a:spcPts val="1820"/>
              </a:lnSpc>
              <a:buNone/>
            </a:pPr>
            <a:r>
              <a:rPr lang="en-US" sz="1300" b="1" dirty="0">
                <a:solidFill>
                  <a:srgbClr val="FFFDF8"/>
                </a:solidFill>
                <a:latin typeface="JetBrains Mono" pitchFamily="49" charset="0"/>
                <a:ea typeface="JetBrains Mono" pitchFamily="49" charset="-122"/>
                <a:cs typeface="JetBrains Mono" pitchFamily="49" charset="-120"/>
              </a:rPr>
              <a:t>MODIFIED</a:t>
            </a:r>
            <a:endParaRPr lang="en-US" sz="1300" dirty="0"/>
          </a:p>
        </p:txBody>
      </p:sp>
      <p:sp>
        <p:nvSpPr>
          <p:cNvPr id="11" name="Text 9"/>
          <p:cNvSpPr/>
          <p:nvPr/>
        </p:nvSpPr>
        <p:spPr>
          <a:xfrm>
            <a:off x="8077109" y="3035133"/>
            <a:ext cx="2677600" cy="29209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430"/>
                </a:solidFill>
                <a:latin typeface="Noto Sans KR" pitchFamily="34" charset="0"/>
                <a:ea typeface="Noto Sans KR" pitchFamily="34" charset="-122"/>
                <a:cs typeface="Noto Sans KR" pitchFamily="34" charset="-120"/>
              </a:rPr>
              <a:t>같은 요구사항을 </a:t>
            </a:r>
            <a:r>
              <a:rPr lang="en-US" sz="1500" b="1" dirty="0">
                <a:solidFill>
                  <a:srgbClr val="1B2430"/>
                </a:solidFill>
                <a:latin typeface="Noto Sans KR" pitchFamily="34" charset="0"/>
                <a:ea typeface="Noto Sans KR" pitchFamily="34" charset="-122"/>
                <a:cs typeface="Noto Sans KR" pitchFamily="34" charset="-120"/>
              </a:rPr>
              <a:t>통째로 교체</a:t>
            </a:r>
            <a:endParaRPr lang="en-US" sz="1500" dirty="0"/>
          </a:p>
        </p:txBody>
      </p:sp>
      <p:sp>
        <p:nvSpPr>
          <p:cNvPr id="12" name="Text 10"/>
          <p:cNvSpPr/>
          <p:nvPr/>
        </p:nvSpPr>
        <p:spPr>
          <a:xfrm>
            <a:off x="6527752" y="3525363"/>
            <a:ext cx="1396967" cy="358129"/>
          </a:xfrm>
          <a:prstGeom prst="roundRect">
            <a:avLst>
              <a:gd name="adj" fmla="val 14185"/>
            </a:avLst>
          </a:prstGeom>
          <a:solidFill>
            <a:srgbClr val="4A5568"/>
          </a:solidFill>
          <a:ln/>
        </p:spPr>
        <p:txBody>
          <a:bodyPr wrap="square" lIns="86721" tIns="48621" rIns="86721" bIns="23221" rtlCol="0" anchor="t">
            <a:normAutofit/>
          </a:bodyPr>
          <a:lstStyle/>
          <a:p>
            <a:pPr algn="ctr" indent="0" marL="0">
              <a:lnSpc>
                <a:spcPts val="1820"/>
              </a:lnSpc>
              <a:buNone/>
            </a:pPr>
            <a:r>
              <a:rPr lang="en-US" sz="1300" b="1" dirty="0">
                <a:solidFill>
                  <a:srgbClr val="FFFDF8"/>
                </a:solidFill>
                <a:latin typeface="JetBrains Mono" pitchFamily="49" charset="0"/>
                <a:ea typeface="JetBrains Mono" pitchFamily="49" charset="-122"/>
                <a:cs typeface="JetBrains Mono" pitchFamily="49" charset="-120"/>
              </a:rPr>
              <a:t>REMOVED</a:t>
            </a:r>
            <a:endParaRPr lang="en-US" sz="1300" dirty="0"/>
          </a:p>
        </p:txBody>
      </p:sp>
      <p:sp>
        <p:nvSpPr>
          <p:cNvPr id="13" name="Text 11"/>
          <p:cNvSpPr/>
          <p:nvPr/>
        </p:nvSpPr>
        <p:spPr>
          <a:xfrm>
            <a:off x="8077109" y="3571060"/>
            <a:ext cx="2641244" cy="29209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0"/>
                </a:solidFill>
                <a:latin typeface="Noto Sans KR" pitchFamily="34" charset="0"/>
                <a:ea typeface="Noto Sans KR" pitchFamily="34" charset="-122"/>
                <a:cs typeface="Noto Sans KR" pitchFamily="34" charset="-120"/>
              </a:rPr>
              <a:t>삭제</a:t>
            </a:r>
            <a:r>
              <a:rPr lang="en-US" sz="1500" dirty="0">
                <a:solidFill>
                  <a:srgbClr val="1B2430"/>
                </a:solidFill>
                <a:latin typeface="Noto Sans KR" pitchFamily="34" charset="0"/>
                <a:ea typeface="Noto Sans KR" pitchFamily="34" charset="-122"/>
                <a:cs typeface="Noto Sans KR" pitchFamily="34" charset="-120"/>
              </a:rPr>
              <a:t> (이유 · 이전 방법 필수)</a:t>
            </a:r>
            <a:endParaRPr lang="en-US" sz="1500" dirty="0"/>
          </a:p>
        </p:txBody>
      </p:sp>
      <p:sp>
        <p:nvSpPr>
          <p:cNvPr id="14" name="Text 12"/>
          <p:cNvSpPr/>
          <p:nvPr/>
        </p:nvSpPr>
        <p:spPr>
          <a:xfrm>
            <a:off x="6527752" y="4061290"/>
            <a:ext cx="4851455" cy="800130"/>
          </a:xfrm>
          <a:prstGeom prst="roundRect">
            <a:avLst>
              <a:gd name="adj" fmla="val 9523"/>
            </a:avLst>
          </a:prstGeom>
          <a:solidFill>
            <a:srgbClr val="F4F5F7"/>
          </a:solidFill>
          <a:ln/>
        </p:spPr>
        <p:txBody>
          <a:bodyPr wrap="square" lIns="155482" tIns="130082" rIns="20606" bIns="104682" rtlCol="0" anchor="t">
            <a:normAutofit/>
          </a:bodyPr>
          <a:lstStyle/>
          <a:p>
            <a:pPr algn="l" indent="0" marL="0">
              <a:lnSpc>
                <a:spcPts val="1950"/>
              </a:lnSpc>
              <a:buNone/>
            </a:pPr>
            <a:r>
              <a:rPr lang="en-US" sz="1300" dirty="0">
                <a:solidFill>
                  <a:srgbClr val="4A5568"/>
                </a:solidFill>
                <a:latin typeface="Noto Sans KR" pitchFamily="34" charset="0"/>
                <a:ea typeface="Noto Sans KR" pitchFamily="34" charset="-122"/>
                <a:cs typeface="Noto Sans KR" pitchFamily="34" charset="-120"/>
              </a:rPr>
              <a:t>한국어로 써도 </a:t>
            </a:r>
            <a:r>
              <a:rPr lang="en-US" sz="1300" b="1" dirty="0">
                <a:solidFill>
                  <a:srgbClr val="4A5568"/>
                </a:solidFill>
                <a:latin typeface="Noto Sans KR" pitchFamily="34" charset="0"/>
                <a:ea typeface="Noto Sans KR" pitchFamily="34" charset="-122"/>
                <a:cs typeface="Noto Sans KR" pitchFamily="34" charset="-120"/>
              </a:rPr>
              <a:t>구조 제목과 SHALL/MUST는 영어</a:t>
            </a:r>
            <a:r>
              <a:rPr lang="en-US" sz="1300" dirty="0">
                <a:solidFill>
                  <a:srgbClr val="4A5568"/>
                </a:solidFill>
                <a:latin typeface="Noto Sans KR" pitchFamily="34" charset="0"/>
                <a:ea typeface="Noto Sans KR" pitchFamily="34" charset="-122"/>
                <a:cs typeface="Noto Sans KR" pitchFamily="34" charset="-120"/>
              </a:rPr>
              <a:t>로.</a:t>
            </a:r>
            <a:endParaRPr lang="en-US" sz="1300" dirty="0"/>
          </a:p>
          <a:p>
            <a:pPr algn="l" indent="0" marL="0">
              <a:lnSpc>
                <a:spcPts val="1950"/>
              </a:lnSpc>
              <a:buNone/>
            </a:pPr>
            <a:r>
              <a:rPr lang="en-US" sz="1300" dirty="0">
                <a:solidFill>
                  <a:srgbClr val="4A5568"/>
                </a:solidFill>
                <a:latin typeface="Noto Sans KR" pitchFamily="34" charset="0"/>
                <a:ea typeface="Noto Sans KR" pitchFamily="34" charset="-122"/>
                <a:cs typeface="Noto Sans KR" pitchFamily="34" charset="-120"/>
              </a:rPr>
              <a:t>openspec validate --strict 가 형식을 검사한다.</a:t>
            </a:r>
            <a:endParaRPr lang="en-US" sz="1300" dirty="0"/>
          </a:p>
        </p:txBody>
      </p:sp>
      <p:sp>
        <p:nvSpPr>
          <p:cNvPr id="15" name="Text 13"/>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Noto Sans KR" pitchFamily="34" charset="0"/>
                <a:ea typeface="Noto Sans KR" pitchFamily="34" charset="-122"/>
                <a:cs typeface="Noto Sans KR" pitchFamily="34" charset="-120"/>
              </a:rPr>
              <a:t>비교</a:t>
            </a:r>
            <a:endParaRPr lang="en-US" sz="1200" dirty="0"/>
          </a:p>
        </p:txBody>
      </p:sp>
      <p:sp>
        <p:nvSpPr>
          <p:cNvPr id="3" name="Text 1"/>
          <p:cNvSpPr/>
          <p:nvPr>
            <p:ph type="title"/>
          </p:nvPr>
        </p:nvSpPr>
        <p:spPr>
          <a:xfrm>
            <a:off x="812765" y="1229271"/>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한눈에 보는 두 방법</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1911381"/>
          <a:ext cx="10554804" cy="3223978"/>
        </p:xfrm>
        <a:graphic>
          <a:graphicData uri="http://schemas.openxmlformats.org/drawingml/2006/table">
            <a:tbl>
              <a:tblPr/>
              <a:tblGrid>
                <a:gridCol w="1899865"/>
                <a:gridCol w="4327470"/>
                <a:gridCol w="4327470"/>
              </a:tblGrid>
              <a:tr h="358220">
                <a:tc>
                  <a:txBody>
                    <a:bodyPr/>
                    <a:lstStyle/>
                    <a:p>
                      <a:pPr indent="0" marL="0">
                        <a:lnSpc>
                          <a:spcPts val="1820"/>
                        </a:lnSpc>
                        <a:buNone/>
                      </a:pPr>
                      <a:r>
                        <a:rPr lang="en-US" sz="1300" b="1" dirty="0">
                          <a:solidFill>
                            <a:srgbClr val="F6F4EE"/>
                          </a:solidFill>
                          <a:latin typeface="Noto Sans KR" pitchFamily="34" charset="0"/>
                          <a:ea typeface="Noto Sans KR" pitchFamily="34" charset="-122"/>
                          <a:cs typeface="Noto Sans KR" pitchFamily="34" charset="-120"/>
                        </a:rPr>
                        <a:t>항목</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7FA8F0"/>
                          </a:solidFill>
                          <a:latin typeface="Noto Sans KR" pitchFamily="34" charset="0"/>
                          <a:ea typeface="Noto Sans KR" pitchFamily="34" charset="-122"/>
                          <a:cs typeface="Noto Sans KR" pitchFamily="34" charset="-120"/>
                        </a:rPr>
                        <a:t>M01 Spec Kit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0A060"/>
                          </a:solidFill>
                          <a:latin typeface="Noto Sans KR" pitchFamily="34" charset="0"/>
                          <a:ea typeface="Noto Sans KR" pitchFamily="34" charset="-122"/>
                          <a:cs typeface="Noto Sans KR" pitchFamily="34" charset="-120"/>
                        </a:rPr>
                        <a:t>M02 OpenSpec</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설치</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Python · uv tool install specify-cli</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Node.js · npm i -g @fission-ai/openspec</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작업 단위</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기능 → specs/001-todo-list-app/</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변경 → openspec/changes/add-todo-list/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명세의 수명</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기능마다 폴더로 쌓인다</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archive 때 기준 명세 하나에 병합</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절차</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9단계 (헌법 → … → 수렴)</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핵심 3단계 (제안 → 구현 → 보관)</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원칙 문서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constitution.md (버전 관리)</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config.yaml 의 context · rules</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Claude Code</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스킬 10종 · /speckit-plan</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커맨드 6 + 스킬 6 · /opsx:propose</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완료 확인</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/speckit-converge → Converged</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openspec validate --strict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잘 맞는 곳</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새 기능 · 그린필드 · 꼼꼼한 설계</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820"/>
                        </a:lnSpc>
                        <a:buNone/>
                      </a:pPr>
                      <a:r>
                        <a:rPr lang="en-US" sz="1300" dirty="0">
                          <a:solidFill>
                            <a:srgbClr val="1B2430"/>
                          </a:solidFill>
                          <a:latin typeface="Noto Sans KR" pitchFamily="34" charset="0"/>
                          <a:ea typeface="Noto Sans KR" pitchFamily="34" charset="-122"/>
                          <a:cs typeface="Noto Sans KR" pitchFamily="34" charset="-120"/>
                        </a:rPr>
                        <a:t>기존 시스템 · 브라운필드 · 잦은 변경</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bl>
          </a:graphicData>
        </a:graphic>
      </p:graphicFrame>
      <p:sp>
        <p:nvSpPr>
          <p:cNvPr id="5" name="Text 2"/>
          <p:cNvSpPr/>
          <p:nvPr/>
        </p:nvSpPr>
        <p:spPr>
          <a:xfrm>
            <a:off x="812765" y="6238277"/>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Noto Sans KR" pitchFamily="34" charset="0"/>
                <a:ea typeface="Noto Sans KR" pitchFamily="34" charset="-122"/>
                <a:cs typeface="Noto Sans KR" pitchFamily="34" charset="-120"/>
              </a:rPr>
              <a:t>선택 기준</a:t>
            </a:r>
            <a:endParaRPr lang="en-US" sz="1200" dirty="0"/>
          </a:p>
        </p:txBody>
      </p:sp>
      <p:sp>
        <p:nvSpPr>
          <p:cNvPr id="3" name="Text 1"/>
          <p:cNvSpPr/>
          <p:nvPr>
            <p:ph type="title"/>
          </p:nvPr>
        </p:nvSpPr>
        <p:spPr>
          <a:xfrm>
            <a:off x="812765" y="1330896"/>
            <a:ext cx="10883436" cy="96012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새로 설계할 땐 </a:t>
            </a:r>
            <a:r>
              <a:rPr lang="en-US" sz="3200" b="1" i="0" dirty="0">
                <a:solidFill>
                  <a:srgbClr val="2F6FDB"/>
                </a:solidFill>
                <a:latin typeface="IBM Plex Sans KR" pitchFamily="34" charset="0"/>
                <a:ea typeface="IBM Plex Sans KR" pitchFamily="34" charset="-122"/>
                <a:cs typeface="IBM Plex Sans KR" pitchFamily="34" charset="-120"/>
              </a:rPr>
              <a:t>Spec Kit</a:t>
            </a:r>
            <a:r>
              <a:rPr lang="en-US" sz="3200" b="1" i="0" dirty="0">
                <a:solidFill>
                  <a:srgbClr val="1B2430"/>
                </a:solidFill>
                <a:latin typeface="IBM Plex Sans KR" pitchFamily="34" charset="0"/>
                <a:ea typeface="IBM Plex Sans KR" pitchFamily="34" charset="-122"/>
                <a:cs typeface="IBM Plex Sans KR" pitchFamily="34" charset="-120"/>
              </a:rPr>
              <a:t>,</a:t>
            </a:r>
            <a:endParaRPr lang="en-US" sz="3200" dirty="0"/>
          </a:p>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계속 바꿀 땐 </a:t>
            </a:r>
            <a:r>
              <a:rPr lang="en-US" sz="3200" b="1" i="0" dirty="0">
                <a:solidFill>
                  <a:srgbClr val="B4531A"/>
                </a:solidFill>
                <a:latin typeface="IBM Plex Sans KR" pitchFamily="34" charset="0"/>
                <a:ea typeface="IBM Plex Sans KR" pitchFamily="34" charset="-122"/>
                <a:cs typeface="IBM Plex Sans KR" pitchFamily="34" charset="-120"/>
              </a:rPr>
              <a:t>OpenSpec</a:t>
            </a:r>
            <a:endParaRPr lang="en-US" sz="3200" dirty="0"/>
          </a:p>
        </p:txBody>
      </p:sp>
      <p:sp>
        <p:nvSpPr>
          <p:cNvPr id="4" name="Shape 2"/>
          <p:cNvSpPr/>
          <p:nvPr/>
        </p:nvSpPr>
        <p:spPr>
          <a:xfrm>
            <a:off x="812765" y="2570398"/>
            <a:ext cx="5156237" cy="3271620"/>
          </a:xfrm>
          <a:prstGeom prst="roundRect">
            <a:avLst>
              <a:gd name="adj" fmla="val 3105"/>
            </a:avLst>
          </a:prstGeom>
          <a:solidFill>
            <a:srgbClr val="F4F5F7"/>
          </a:solidFill>
          <a:ln/>
        </p:spPr>
      </p:sp>
      <p:sp>
        <p:nvSpPr>
          <p:cNvPr id="5" name="Shape 3"/>
          <p:cNvSpPr/>
          <p:nvPr/>
        </p:nvSpPr>
        <p:spPr>
          <a:xfrm>
            <a:off x="812765" y="2570398"/>
            <a:ext cx="5156237" cy="3271620"/>
          </a:xfrm>
          <a:custGeom>
            <a:avLst/>
            <a:gdLst/>
            <a:ahLst/>
            <a:cxnLst/>
            <a:rect l="l" t="t" r="r" b="b"/>
            <a:pathLst>
              <a:path w="5156237" h="3271620">
                <a:moveTo>
                  <a:pt x="0" y="101600"/>
                </a:moveTo>
                <a:lnTo>
                  <a:pt x="0" y="101600"/>
                </a:lnTo>
                <a:arcTo hR="101600" wR="101600" stAng="10800000" swAng="5400000"/>
                <a:lnTo>
                  <a:pt x="5054637" y="0"/>
                </a:lnTo>
                <a:arcTo hR="101600" wR="101600" stAng="16200000" swAng="5400000"/>
                <a:lnTo>
                  <a:pt x="5156237" y="101600"/>
                </a:lnTo>
                <a:arcTo hR="50800" wR="101600" stAng="0" swAng="-5400000"/>
                <a:lnTo>
                  <a:pt x="101600" y="50800"/>
                </a:lnTo>
                <a:arcTo hR="50800" wR="101600" stAng="16200000" swAng="-5400000"/>
                <a:close/>
              </a:path>
            </a:pathLst>
          </a:custGeom>
          <a:solidFill>
            <a:srgbClr val="2F6FDB"/>
          </a:solidFill>
          <a:ln/>
        </p:spPr>
      </p:sp>
      <p:sp>
        <p:nvSpPr>
          <p:cNvPr id="6" name="Text 4"/>
          <p:cNvSpPr/>
          <p:nvPr/>
        </p:nvSpPr>
        <p:spPr>
          <a:xfrm>
            <a:off x="1092140" y="2873642"/>
            <a:ext cx="4735411"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B"/>
                </a:solidFill>
                <a:latin typeface="IBM Plex Sans KR" pitchFamily="34" charset="0"/>
                <a:ea typeface="IBM Plex Sans KR" pitchFamily="34" charset="-122"/>
                <a:cs typeface="IBM Plex Sans KR" pitchFamily="34" charset="-120"/>
              </a:rPr>
              <a:t>Spec Kit 을 고를 때</a:t>
            </a:r>
            <a:endParaRPr lang="en-US" sz="1800" dirty="0"/>
          </a:p>
        </p:txBody>
      </p:sp>
      <p:sp>
        <p:nvSpPr>
          <p:cNvPr id="7" name="Text 5"/>
          <p:cNvSpPr/>
          <p:nvPr/>
        </p:nvSpPr>
        <p:spPr>
          <a:xfrm>
            <a:off x="1157672" y="3274926"/>
            <a:ext cx="4662259" cy="1163189"/>
          </a:xfrm>
          <a:prstGeom prst="rect">
            <a:avLst/>
          </a:prstGeom>
          <a:noFill/>
          <a:ln/>
        </p:spPr>
        <p:txBody>
          <a:bodyPr wrap="square" lIns="0" tIns="0" rIns="0" bIns="0" rtlCol="0" anchor="t">
            <a:normAutofit/>
          </a:bodyPr>
          <a:lstStyle/>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처음부터 새로 만드는 기능</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요구사항이 모호해 질문·점검이 필요할 때</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헌법으로 팀 원칙을 강제하고 싶을 때</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계약·검증 시나리오까지 문서가 필요할 때</a:t>
            </a:r>
            <a:endParaRPr lang="en-US" sz="1400" dirty="0"/>
          </a:p>
        </p:txBody>
      </p:sp>
      <p:sp>
        <p:nvSpPr>
          <p:cNvPr id="8" name="Shape 6"/>
          <p:cNvSpPr/>
          <p:nvPr/>
        </p:nvSpPr>
        <p:spPr>
          <a:xfrm>
            <a:off x="6222971" y="2570398"/>
            <a:ext cx="5156237" cy="3271620"/>
          </a:xfrm>
          <a:prstGeom prst="roundRect">
            <a:avLst>
              <a:gd name="adj" fmla="val 3105"/>
            </a:avLst>
          </a:prstGeom>
          <a:solidFill>
            <a:srgbClr val="F4F5F7"/>
          </a:solidFill>
          <a:ln/>
        </p:spPr>
      </p:sp>
      <p:sp>
        <p:nvSpPr>
          <p:cNvPr id="9" name="Shape 7"/>
          <p:cNvSpPr/>
          <p:nvPr/>
        </p:nvSpPr>
        <p:spPr>
          <a:xfrm>
            <a:off x="6222971" y="2570398"/>
            <a:ext cx="5156237" cy="3271620"/>
          </a:xfrm>
          <a:custGeom>
            <a:avLst/>
            <a:gdLst/>
            <a:ahLst/>
            <a:cxnLst/>
            <a:rect l="l" t="t" r="r" b="b"/>
            <a:pathLst>
              <a:path w="5156237" h="3271620">
                <a:moveTo>
                  <a:pt x="0" y="101600"/>
                </a:moveTo>
                <a:lnTo>
                  <a:pt x="0" y="101600"/>
                </a:lnTo>
                <a:arcTo hR="101600" wR="101600" stAng="10800000" swAng="5400000"/>
                <a:lnTo>
                  <a:pt x="5054637" y="0"/>
                </a:lnTo>
                <a:arcTo hR="101600" wR="101600" stAng="16200000" swAng="5400000"/>
                <a:lnTo>
                  <a:pt x="5156237" y="101600"/>
                </a:lnTo>
                <a:arcTo hR="50800" wR="101600" stAng="0" swAng="-5400000"/>
                <a:lnTo>
                  <a:pt x="101600" y="50800"/>
                </a:lnTo>
                <a:arcTo hR="50800" wR="101600" stAng="16200000" swAng="-5400000"/>
                <a:close/>
              </a:path>
            </a:pathLst>
          </a:custGeom>
          <a:solidFill>
            <a:srgbClr val="B4531A"/>
          </a:solidFill>
          <a:ln/>
        </p:spPr>
      </p:sp>
      <p:sp>
        <p:nvSpPr>
          <p:cNvPr id="10" name="Text 8"/>
          <p:cNvSpPr/>
          <p:nvPr/>
        </p:nvSpPr>
        <p:spPr>
          <a:xfrm>
            <a:off x="6502346" y="2873642"/>
            <a:ext cx="4735411"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31A"/>
                </a:solidFill>
                <a:latin typeface="IBM Plex Sans KR" pitchFamily="34" charset="0"/>
                <a:ea typeface="IBM Plex Sans KR" pitchFamily="34" charset="-122"/>
                <a:cs typeface="IBM Plex Sans KR" pitchFamily="34" charset="-120"/>
              </a:rPr>
              <a:t>OpenSpec 을 고를 때</a:t>
            </a:r>
            <a:endParaRPr lang="en-US" sz="1800" dirty="0"/>
          </a:p>
        </p:txBody>
      </p:sp>
      <p:sp>
        <p:nvSpPr>
          <p:cNvPr id="11" name="Text 9"/>
          <p:cNvSpPr/>
          <p:nvPr/>
        </p:nvSpPr>
        <p:spPr>
          <a:xfrm>
            <a:off x="6567878" y="3274926"/>
            <a:ext cx="4662259" cy="1163189"/>
          </a:xfrm>
          <a:prstGeom prst="rect">
            <a:avLst/>
          </a:prstGeom>
          <a:noFill/>
          <a:ln/>
        </p:spPr>
        <p:txBody>
          <a:bodyPr wrap="square" lIns="0" tIns="0" rIns="0" bIns="0" rtlCol="0" anchor="t">
            <a:normAutofit/>
          </a:bodyPr>
          <a:lstStyle/>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이미 코드가 있는 프로젝트</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작은 변경이 자주 일어날 때</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현재 동작을 설명하는 명세가 하나 필요할 때</a:t>
            </a:r>
            <a:endParaRPr lang="en-US" sz="1400" dirty="0"/>
          </a:p>
          <a:p>
            <a:pPr algn="l" marL="188468" indent="-188468">
              <a:lnSpc>
                <a:spcPts val="2240"/>
              </a:lnSpc>
              <a:buSzPct val="100000"/>
              <a:buChar char="•"/>
            </a:pPr>
            <a:r>
              <a:rPr lang="en-US" sz="1400" dirty="0">
                <a:solidFill>
                  <a:srgbClr val="1B2430"/>
                </a:solidFill>
                <a:latin typeface="Noto Sans KR" pitchFamily="34" charset="0"/>
                <a:ea typeface="Noto Sans KR" pitchFamily="34" charset="-122"/>
                <a:cs typeface="Noto Sans KR" pitchFamily="34" charset="-120"/>
              </a:rPr>
              <a:t>단계를 줄여 빠르게 돌리고 싶을 때</a:t>
            </a:r>
            <a:endParaRPr lang="en-US" sz="1400" dirty="0"/>
          </a:p>
        </p:txBody>
      </p:sp>
      <p:sp>
        <p:nvSpPr>
          <p:cNvPr id="12" name="Text 10"/>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Noto Sans KR" pitchFamily="34" charset="0"/>
                <a:ea typeface="Noto Sans KR" pitchFamily="34" charset="-122"/>
                <a:cs typeface="Noto Sans KR" pitchFamily="34" charset="-120"/>
              </a:rPr>
              <a:t>수업 진행</a:t>
            </a:r>
            <a:endParaRPr lang="en-US" sz="1200" dirty="0"/>
          </a:p>
        </p:txBody>
      </p:sp>
      <p:sp>
        <p:nvSpPr>
          <p:cNvPr id="3" name="Text 1"/>
          <p:cNvSpPr/>
          <p:nvPr>
            <p:ph type="title"/>
          </p:nvPr>
        </p:nvSpPr>
        <p:spPr>
          <a:xfrm>
            <a:off x="812765" y="1280077"/>
            <a:ext cx="10883436" cy="4927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IBM Plex Sans KR" pitchFamily="34" charset="0"/>
                <a:ea typeface="IBM Plex Sans KR" pitchFamily="34" charset="-122"/>
                <a:cs typeface="IBM Plex Sans KR" pitchFamily="34" charset="-120"/>
              </a:rPr>
              <a:t>실습 순서와 자주 막히는 곳</a:t>
            </a:r>
            <a:endParaRPr lang="en-US" sz="3200" dirty="0"/>
          </a:p>
        </p:txBody>
      </p:sp>
      <p:sp>
        <p:nvSpPr>
          <p:cNvPr id="4" name="Text 2"/>
          <p:cNvSpPr/>
          <p:nvPr/>
        </p:nvSpPr>
        <p:spPr>
          <a:xfrm>
            <a:off x="812765" y="2001410"/>
            <a:ext cx="4227814"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모듈마다 같은 순서</a:t>
            </a:r>
            <a:endParaRPr lang="en-US" sz="1800" dirty="0"/>
          </a:p>
        </p:txBody>
      </p:sp>
      <p:sp>
        <p:nvSpPr>
          <p:cNvPr id="5" name="Text 3"/>
          <p:cNvSpPr/>
          <p:nvPr/>
        </p:nvSpPr>
        <p:spPr>
          <a:xfrm>
            <a:off x="878824" y="2402700"/>
            <a:ext cx="4154135" cy="1234381"/>
          </a:xfrm>
          <a:prstGeom prst="rect">
            <a:avLst/>
          </a:prstGeom>
          <a:noFill/>
          <a:ln/>
        </p:spPr>
        <p:txBody>
          <a:bodyPr wrap="square" lIns="0" tIns="0" rIns="0" bIns="0" rtlCol="0" anchor="t">
            <a:normAutofit/>
          </a:bodyPr>
          <a:lstStyle/>
          <a:p>
            <a:pPr algn="l" marL="187941" indent="-187941">
              <a:lnSpc>
                <a:spcPts val="2380"/>
              </a:lnSpc>
              <a:buSzPct val="100000"/>
              <a:buFontTx/>
              <a:buAutoNum type="arabicPeriod" startAt="1"/>
            </a:pPr>
            <a:r>
              <a:rPr lang="en-US" sz="1400" dirty="0">
                <a:solidFill>
                  <a:srgbClr val="1B2430"/>
                </a:solidFill>
                <a:latin typeface="Noto Sans KR" pitchFamily="34" charset="0"/>
                <a:ea typeface="Noto Sans KR" pitchFamily="34" charset="-122"/>
                <a:cs typeface="Noto Sans KR" pitchFamily="34" charset="-120"/>
              </a:rPr>
              <a:t>README — 목적 · 준비물</a:t>
            </a:r>
            <a:endParaRPr lang="en-US" sz="1400" dirty="0"/>
          </a:p>
          <a:p>
            <a:pPr algn="l" marL="187941" indent="-187941">
              <a:lnSpc>
                <a:spcPts val="2380"/>
              </a:lnSpc>
              <a:buSzPct val="100000"/>
              <a:buFontTx/>
              <a:buAutoNum type="arabicPeriod" startAt="1"/>
            </a:pPr>
            <a:r>
              <a:rPr lang="en-US" sz="1400" dirty="0">
                <a:solidFill>
                  <a:srgbClr val="1B2430"/>
                </a:solidFill>
                <a:latin typeface="Noto Sans KR" pitchFamily="34" charset="0"/>
                <a:ea typeface="Noto Sans KR" pitchFamily="34" charset="-122"/>
                <a:cs typeface="Noto Sans KR" pitchFamily="34" charset="-120"/>
              </a:rPr>
              <a:t>GUIDE — 단계별로 앱 만들기</a:t>
            </a:r>
            <a:endParaRPr lang="en-US" sz="1400" dirty="0"/>
          </a:p>
          <a:p>
            <a:pPr algn="l" marL="187941" indent="-187941">
              <a:lnSpc>
                <a:spcPts val="2380"/>
              </a:lnSpc>
              <a:buSzPct val="100000"/>
              <a:buFontTx/>
              <a:buAutoNum type="arabicPeriod" startAt="1"/>
            </a:pPr>
            <a:r>
              <a:rPr lang="en-US" sz="1400" dirty="0">
                <a:solidFill>
                  <a:srgbClr val="1B2430"/>
                </a:solidFill>
                <a:latin typeface="Noto Sans KR" pitchFamily="34" charset="0"/>
                <a:ea typeface="Noto Sans KR" pitchFamily="34" charset="-122"/>
                <a:cs typeface="Noto Sans KR" pitchFamily="34" charset="-120"/>
              </a:rPr>
              <a:t>SAMPLE — 실행 · 사용 · 확인</a:t>
            </a:r>
            <a:endParaRPr lang="en-US" sz="1400" dirty="0"/>
          </a:p>
          <a:p>
            <a:pPr algn="l" marL="187941" indent="-187941">
              <a:lnSpc>
                <a:spcPts val="2380"/>
              </a:lnSpc>
              <a:buSzPct val="100000"/>
              <a:buFontTx/>
              <a:buAutoNum type="arabicPeriod" startAt="1"/>
            </a:pPr>
            <a:r>
              <a:rPr lang="en-US" sz="1400" dirty="0">
                <a:solidFill>
                  <a:srgbClr val="1B2430"/>
                </a:solidFill>
                <a:latin typeface="Noto Sans KR" pitchFamily="34" charset="0"/>
                <a:ea typeface="Noto Sans KR" pitchFamily="34" charset="-122"/>
                <a:cs typeface="Noto Sans KR" pitchFamily="34" charset="-120"/>
              </a:rPr>
              <a:t>도전 — 8단계 마감일 기능</a:t>
            </a:r>
            <a:endParaRPr lang="en-US" sz="1400" dirty="0"/>
          </a:p>
        </p:txBody>
      </p:sp>
      <p:sp>
        <p:nvSpPr>
          <p:cNvPr id="6" name="Text 4"/>
          <p:cNvSpPr/>
          <p:nvPr/>
        </p:nvSpPr>
        <p:spPr>
          <a:xfrm>
            <a:off x="812765" y="3738662"/>
            <a:ext cx="4104673" cy="749318"/>
          </a:xfrm>
          <a:prstGeom prst="roundRect">
            <a:avLst>
              <a:gd name="adj" fmla="val 10169"/>
            </a:avLst>
          </a:prstGeom>
          <a:solidFill>
            <a:srgbClr val="F1F3F6"/>
          </a:solidFill>
          <a:ln/>
        </p:spPr>
        <p:txBody>
          <a:bodyPr wrap="square" lIns="130082" tIns="104682" rIns="16086" bIns="79282" rtlCol="0" anchor="t">
            <a:normAutofit/>
          </a:bodyPr>
          <a:lstStyle/>
          <a:p>
            <a:pPr algn="l" indent="0" marL="0">
              <a:lnSpc>
                <a:spcPts val="1950"/>
              </a:lnSpc>
              <a:buNone/>
            </a:pPr>
            <a:r>
              <a:rPr lang="en-US" sz="1300" dirty="0">
                <a:solidFill>
                  <a:srgbClr val="4A5568"/>
                </a:solidFill>
                <a:latin typeface="Noto Sans KR" pitchFamily="34" charset="0"/>
                <a:ea typeface="Noto Sans KR" pitchFamily="34" charset="-122"/>
                <a:cs typeface="Noto Sans KR" pitchFamily="34" charset="-120"/>
              </a:rPr>
              <a:t>완료 기준: 테스트 fail 0 +</a:t>
            </a:r>
            <a:endParaRPr lang="en-US" sz="1300" dirty="0"/>
          </a:p>
          <a:p>
            <a:pPr algn="l" indent="0" marL="0">
              <a:lnSpc>
                <a:spcPts val="1950"/>
              </a:lnSpc>
              <a:buNone/>
            </a:pPr>
            <a:r>
              <a:rPr lang="en-US" sz="1300" dirty="0">
                <a:solidFill>
                  <a:srgbClr val="4A5568"/>
                </a:solidFill>
                <a:latin typeface="Noto Sans KR" pitchFamily="34" charset="0"/>
                <a:ea typeface="Noto Sans KR" pitchFamily="34" charset="-122"/>
                <a:cs typeface="Noto Sans KR" pitchFamily="34" charset="-120"/>
              </a:rPr>
              <a:t>SAMPLE 시나리오 전부 통과</a:t>
            </a:r>
            <a:endParaRPr lang="en-US" sz="1300" dirty="0"/>
          </a:p>
        </p:txBody>
      </p:sp>
      <p:sp>
        <p:nvSpPr>
          <p:cNvPr id="7" name="Text 5"/>
          <p:cNvSpPr/>
          <p:nvPr/>
        </p:nvSpPr>
        <p:spPr>
          <a:xfrm>
            <a:off x="5222220" y="2001410"/>
            <a:ext cx="6341697"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IBM Plex Sans KR" pitchFamily="34" charset="0"/>
                <a:ea typeface="IBM Plex Sans KR" pitchFamily="34" charset="-122"/>
                <a:cs typeface="IBM Plex Sans KR" pitchFamily="34" charset="-120"/>
              </a:rPr>
              <a:t>이럴 땐 이렇게</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33813" y="2414293"/>
          <a:ext cx="6145394" cy="2320821"/>
        </p:xfrm>
        <a:graphic>
          <a:graphicData uri="http://schemas.openxmlformats.org/drawingml/2006/table">
            <a:tbl>
              <a:tblPr/>
              <a:tblGrid>
                <a:gridCol w="2458158"/>
                <a:gridCol w="3687237"/>
              </a:tblGrid>
              <a:tr h="331546">
                <a:tc>
                  <a:txBody>
                    <a:bodyPr/>
                    <a:lstStyle/>
                    <a:p>
                      <a:pPr indent="0" marL="0">
                        <a:lnSpc>
                          <a:spcPts val="1680"/>
                        </a:lnSpc>
                        <a:buNone/>
                      </a:pPr>
                      <a:r>
                        <a:rPr lang="en-US" sz="1200" b="1" dirty="0">
                          <a:solidFill>
                            <a:srgbClr val="F6F4EE"/>
                          </a:solidFill>
                          <a:latin typeface="Noto Sans KR" pitchFamily="34" charset="0"/>
                          <a:ea typeface="Noto Sans KR" pitchFamily="34" charset="-122"/>
                          <a:cs typeface="Noto Sans KR" pitchFamily="34" charset="-120"/>
                        </a:rPr>
                        <a:t>증상</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680"/>
                        </a:lnSpc>
                        <a:buNone/>
                      </a:pPr>
                      <a:r>
                        <a:rPr lang="en-US" sz="1200" b="1" dirty="0">
                          <a:solidFill>
                            <a:srgbClr val="F6F4EE"/>
                          </a:solidFill>
                          <a:latin typeface="Noto Sans KR" pitchFamily="34" charset="0"/>
                          <a:ea typeface="Noto Sans KR" pitchFamily="34" charset="-122"/>
                          <a:cs typeface="Noto Sans KR" pitchFamily="34" charset="-120"/>
                        </a:rPr>
                        <a:t>해결</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.claude 폴더가 안 보임</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숨김 폴더 — ls -a, Finder ⌘⇧.</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/speckit.plan 이 안 됨</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Claude Code는 하이픈 /speckit-plan</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validate 실패</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SHALL/MUST·구조 제목은 영어, #### Scenario</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npm ECONNRESET</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npm 프록시 설정·네트워크·IPv6 확인</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앱 화면이 비어 있음</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file:// 대신 python3 -m http.server 8000</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1546">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폴더 이름이 문서와 다름</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c>
                  <a:txBody>
                    <a:bodyPr/>
                    <a:lstStyle/>
                    <a:p>
                      <a:pPr indent="0" marL="0">
                        <a:lnSpc>
                          <a:spcPts val="1680"/>
                        </a:lnSpc>
                        <a:buNone/>
                      </a:pPr>
                      <a:r>
                        <a:rPr lang="en-US" sz="1200" dirty="0">
                          <a:solidFill>
                            <a:srgbClr val="1B2430"/>
                          </a:solidFill>
                          <a:latin typeface="Noto Sans KR" pitchFamily="34" charset="0"/>
                          <a:ea typeface="Noto Sans KR" pitchFamily="34" charset="-122"/>
                          <a:cs typeface="Noto Sans KR" pitchFamily="34" charset="-120"/>
                        </a:rPr>
                        <a:t>AI가 정함 — 프롬프트에서 이름 지정</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0C2C4"/>
                      </a:solidFill>
                      <a:prstDash val="solid"/>
                      <a:round/>
                      <a:headEnd type="none" w="med" len="med"/>
                      <a:tailEnd type="none" w="med" len="med"/>
                    </a:lnL>
                    <a:lnR w="12700" cap="flat" cmpd="sng" algn="ctr">
                      <a:solidFill>
                        <a:srgbClr val="C0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4"/>
                      </a:solidFill>
                      <a:prstDash val="solid"/>
                      <a:round/>
                      <a:headEnd type="none" w="med" len="med"/>
                      <a:tailEnd type="none" w="med" len="med"/>
                    </a:lnB>
                    <a:solidFill>
                      <a:srgbClr val="F1F3F6"/>
                    </a:solidFill>
                  </a:tcPr>
                </a:tc>
              </a:tr>
            </a:tbl>
          </a:graphicData>
        </a:graphic>
      </p:graphicFrame>
      <p:sp>
        <p:nvSpPr>
          <p:cNvPr id="9" name="Text 6"/>
          <p:cNvSpPr/>
          <p:nvPr/>
        </p:nvSpPr>
        <p:spPr>
          <a:xfrm>
            <a:off x="812765" y="6238273"/>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KR" pitchFamily="34" charset="0"/>
                <a:ea typeface="Noto Sans KR" pitchFamily="34" charset="-122"/>
                <a:cs typeface="Noto Sans KR" pitchFamily="34" charset="-120"/>
              </a:rPr>
              <a:t>03 스펙 주도 개발 · 10 / 10 · github.com/github/spec-kit · github.com/Fission-AI/OpenSpec</a:t>
            </a:r>
            <a:endParaRPr lang="en-US" sz="1200" dirty="0"/>
          </a:p>
        </p:txBody>
      </p:sp>
    </p:spTree>
  </p:cSld>
  <p:clrMapOvr>
    <a:masterClrMapping/>
  </p:clrMapOvr>
</p:sld>
</file>

<file path=ppt/theme/theme1.xml><?xml version="1.0" encoding="utf-8"?>
<a:theme xmlns:a="http://schemas.openxmlformats.org/drawingml/2006/main" name="Spec Kit vs OpenSpec — 스펙 주도 개발 두 가지 방법">
  <a:themeElements>
    <a:clrScheme name="Spec Kit vs OpenSpec — 스펙 주도 개발 두 가지 방법">
      <a:dk1>
        <a:srgbClr val="1B2430"/>
      </a:dk1>
      <a:lt1>
        <a:srgbClr val="FFFFFF"/>
      </a:lt1>
      <a:dk2>
        <a:srgbClr val="545B64"/>
      </a:dk2>
      <a:lt2>
        <a:srgbClr val="E8E9EA"/>
      </a:lt2>
      <a:accent1>
        <a:srgbClr val="B4531A"/>
      </a:accent1>
      <a:accent2>
        <a:srgbClr val="2F6FDB"/>
      </a:accent2>
      <a:accent3>
        <a:srgbClr val="2E7D4F"/>
      </a:accent3>
      <a:accent4>
        <a:srgbClr val="7FA8F0"/>
      </a:accent4>
      <a:accent5>
        <a:srgbClr val="F0A060"/>
      </a:accent5>
      <a:accent6>
        <a:srgbClr val="4A5568"/>
      </a:accent6>
      <a:hlink>
        <a:srgbClr val="0563C1"/>
      </a:hlink>
      <a:folHlink>
        <a:srgbClr val="954F72"/>
      </a:folHlink>
    </a:clrScheme>
    <a:fontScheme name="Spec Kit vs OpenSpec — 스펙 주도 개발 두 가지 방법">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 Kit vs OpenSpec — 스펙 주도 개발 두 가지 방법</dc:title>
  <dc:subject/>
  <dc:creator/>
  <cp:lastModifiedBy/>
  <cp:revision>1</cp:revision>
  <dcterms:created xsi:type="dcterms:W3CDTF">2026-10-11T11:59:07Z</dcterms:created>
  <dcterms:modified xsi:type="dcterms:W3CDTF">2026-10-11T11:59:07Z</dcterms:modified>
</cp:coreProperties>
</file>