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AI 코딩 도우미와 함께 쓰는 스펙 주도 개발 도구 다섯 가지를 비교합니다. Kiro, OpenSpec, Spec Kit, GSD, BMAD 모두 같은 할 일 관리 앱을 만드는 실습으로 진행했습니다. 왼쪽 띠의 다섯 색이 각 도구의 색입니다. 보라색 Kiro, 주황색 OpenSpec, 파란색 Spec Kit, 초록색 GSD, 분홍색 BMAD로 발표 내내 같은 색으로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바이브 코딩은 빠르지만 결과가 매번 달라지고, 왜 그렇게 만들었는지가 채팅에만 남습니다. 스펙 주도 개발은 사람이 무엇을 왜 만들지를 명세로 먼저 쓰고, AI가 그 명세에서 계획과 코드를 만듭니다. 모든 중간 산출물이 파일로 남아 코드처럼 리뷰할 수 있다는 점이 핵심입니다. 오늘 비교할 다섯 도구는 모두 이 원칙을 따르지만, 명세를 다루는 단위와 수명, 그리고 AI의 작업 방식까지 얼마나 관리하는지가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비교가 공정하도록 예제, 기술 스택, 문서 구조를 모두 맞췄습니다. Kiro만 자체 IDE의 에이전트를 쓰고, 나머지 네 도구는 Claude Code에서 진행합니다. 다섯 모듈 모두 README로 소개하고, GUIDE에서 단계별로 앱을 만들고, SAMPLE에서 완성된 앱을 실행하고 명세대로 동작하는지 확인합니다. 마지막 도전 과제로 마감일 기능을 추가하며 명세를 바꾸는 방식을 비교합니다. 문서의 경로와 명령은 각 도구의 최신 버전을 직접 설치하고 초기화해서 확인한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과정은 다섯 모듈을 차례로 진행합니다. M01 Kiro는 명령어 없이 IDE 안에서 SDD의 기본 순서를 익힙니다. M02 OpenSpec은 같은 흐름을 Claude Code에서 변경 단위로 가볍게, M03 Spec Kit은 가장 많은 단계와 품질 관문으로 꼼꼼하게 합니다. 여기까지 세 도구는 명세 문서를 잘 쓰는 데 집중합니다. M04 GSD와 M05 BMAD는 한 걸음 더 나아가, AI가 일하는 방식 자체, 즉 컨텍스트 관리와 역할 분담, 리뷰와 커밋까지 시스템으로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Kiro는 AWS가 만든 AI 개발 환경으로, 별도 CLI나 명령어 없이 IDE 화면 안에서 버튼과 채팅으로 SDD를 진행합니다. 먼저 스티어링 파일 세 개로 제품, 기술, 구조 규칙을 알려 주고, Spec을 만들면 요구사항, 설계, 작업 목록을 한 단계씩 사람이 검토하고 승인합니다. 요구사항은 오른쪽처럼 WHEN, THE SYSTEM SHALL 형식의 EARS로 쓰여 테스트하기 쉬운 문장이 됩니다. 저장할 때 테스트를 자동으로 돌리는 Agent Hook, 요구사항을 고치면 작업을 다시 맞추는 Sync Files까지 IDE가 챙겨 주기 때문에 SDD를 처음 배우는 첫 모듈로 삼았습니다.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OpenSpec은 Node.js npm으로 설치하고 openspec init --tools claude로 초기화합니다. 핵심은 두 폴더입니다. changes 폴더는 국회에 올라온 개정안처럼 진행 중인 변경을 담고, specs 폴더는 현재 법전처럼 시스템이 지금 어떻게 동작하는지를 담습니다. propose 한 번에 제안서, 델타 명세, 설계, 작업 목록 4종이 만들어지고, apply로 구현한 뒤 archive하면 변경 내용이 기준 명세에 합쳐지고 변경 폴더는 이력으로 보관됩니다. 기본 명령은 6개로 Spec Kit보다 훨씬 가볍습니다.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OpenSpec의 핵심은 델타 명세입니다. 전체 명세를 다시 쓰지 않고 ADDED, MODIFIED, REMOVED로 바뀌는 부분만 적습니다. 예시는 실습의 두 번째 변경인 마감일 추가입니다. archive하면 ADDED는 기준 명세에 추가되고, MODIFIED는 같은 이름의 요구사항을 통째로 교체하며, REMOVED는 삭제됩니다. 그래서 이미 코드가 있는 브라운필드 프로젝트에 특히 강합니다. 주의할 점은 한국어로 작성하더라도 구조 제목과 SHALL, MUST 키워드는 영어로 두어야 검증을 통과한다는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Kit은 GitHub이 만든 도구로, 파이썬 uv로 설치합니다. 프로젝트당 한 번 헌법을 정하고, 기능마다 명세, 명확화, 계획, 체크리스트, 작업 분해, 일관성 점검, 구현, 수렴까지 9개 명령을 거칩니다. Claude Code에서는 스킬로 설치되어 점 대신 하이픈 표기로 입력합니다. 마지막 converge가 코드가 명세를 다 만족한다고 보고할 때까지 implement와 converge를 반복합니다.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Spec Kit으로 만든 my-todo 프로젝트의 결과입니다. 기능 폴더 001-todo-list-app 하나에 명세, 계획, 조사, 데이터 모델, 계약 3개, 검증 시나리오, 체크리스트 2개, 작업 목록까지 11개 문서가 생겼습니다. 특히 quickstart.md는 Spec Kit이 만들어 주는 검증 시나리오로, SAMPLE.md는 이것을 초보자용으로 풀어 쓴 것입니다. 생성된 앱은 테스트 34개를 모두 통과했습니다. 장점은 꼼꼼함이고, 단점은 작은 변경에도 문서가 많다는 점입니다. 두 번째 기능은 002 폴더로 또 쌓입니다.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GSD, 지금 이름으로 GSD Core는 컨텍스트 rot, 즉 대화가 길어질수록 AI 품질이 떨어지는 문제를 막는 데 초점을 둡니다. 로드맵을 단계로 나누고, 단계마다 논의, 기획, 실행, 검증 명령을 차례로 실행하는데 명령 사이마다 /clear로 대화를 비웁니다. 기억은 .planning 폴더의 PROJECT, REQUIREMENTS, ROADMAP, STATE 문서가 대신합니다. 무거운 리서치와 구현은 매번 새 컨텍스트의 서브에이전트 35종이 나눠 맡고, 실행 결과는 작업 하나마다 git 커밋 하나로 남습니다. 마지막에는 자동 검증과 함께 사람이 직접 확인하는 인수 테스트를 거칩니다. 서브에이전트를 많이 쓰므로 토큰 사용량이 다른 모듈보다 많다는 점은 미리 알려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BMAD Method의 핵심은 일의 크기에 맞게 계획한다는 것입니다. 작은 수정은 바로 bmad-build로 가고, 할 일 앱 같은 에픽은 bmad-spec으로 SPEC.md라는 5개 항목의 짧은 계약서를 만든 뒤 스토리로 나눠 스토리마다 bmad-build를 돌립니다. 더 큰 프로젝트는 PRD와 아키텍처를 먼저 만들고 에픽 여러 개로 나눕니다. 어떤 경로든 구현 단위는 같습니다. bmad-build 한 번이 계획 승인, 구현, 독립 리뷰, 수정, 커밋을 모두 포함해서, 리뷰가 흐름 안에 기본으로 들어가 있습니다. 필요할 때는 Mary, John, Winston 같은 이름 있는 역할 에이전트를 불러 각자의 관점으로 일하게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비교표는 구조입니다. 형태는 IDE, CLI, 명령과 서브에이전트, 스킬과 역할 에이전트로 다릅니다. 원칙을 적는 곳도 Kiro는 스티어링, OpenSpec은 config.yaml, Spec Kit은 헌법, GSD는 PROJECT와 STATE 문서, BMAD는 설정 파일과 스펙의 제약 항목입니다. 가장 큰 차이는 작업 단위입니다. Kiro와 Spec Kit은 기능, OpenSpec은 변경, GSD는 마일스톤과 단계, BMAD는 일의 크기에 따라 단위 자체를 고릅니다. 계획 문서는 Spec Kit이 가장 많고, BMAD의 SPEC.md가 가장 짧습니다.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비교표는 실행입니다. 앞의 세 도구는 에이전트 하나가 일하지만, GSD는 역할별 서브에이전트 35종이, BMAD는 이름 있는 역할 에이전트와 독립 리뷰어가 나눠서 일합니다. 완료 확인도 Kiro는 작업 상태, OpenSpec은 형식 검증, Spec Kit은 수렴 검사, GSD는 자동 검증과 사람 인수 테스트, BMAD는 독립 리뷰와 사람 확인으로 점점 사람과 리뷰의 비중이 커집니다. 도전 과제인 마감일 추가를 보면 명세 변경 방식의 차이가 잘 드러납니다. 같은 Spec을 고치거나, 델타로 병합하거나, 새 폴더를 만들거나, 빠른 모드로 처리하거나, 스펙을 갱신해 다시 빌드합니다.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SDD를 처음 배울 때는 Kiro, 이미 있는 시스템을 조금씩 계속 바꿔 나갈 때는 OpenSpec, 새 기능을 처음부터 꼼꼼하게 설계해야 할 때는 Spec Kit이 잘 맞습니다. 여러 단계에 걸친 긴 작업에서 품질과 진행 상태를 지키고 싶다면 GSD, 일의 크기가 제각각이라 필요한 만큼만 계획하고 리뷰를 기본으로 넣고 싶다면 BMAD가 맞습니다. 하나만 정답인 것은 아닙니다. 예를 들어 첫 버전은 Spec Kit으로 설계하고, 운영 중 변경은 OpenSpec 델타로 관리하는 식의 조합도 가능합니다. 수업의 목표는 같은 할 일 앱으로 다섯 흐름을 모두 경험해 보는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모듈 모두 README, GUIDE, SAMPLE 순서로 진행하고, 도전 과제로 마감일 기능을 추가하며 명세를 고쳐 나가는 경험을 합니다. 완료 기준은 자동 테스트 실패 0개와 SAMPLE의 시나리오 전부 통과입니다. 오른쪽 표는 실제로 준비하면서 겪은 문제들입니다. 숨김 폴더, Kiro의 권한 요청, OpenSpec의 영어 키워드 규칙, Spec Kit과 GSD의 하이픈 명령 표기, BMAD의 uv 설치, 그리고 모든 도구에 공통으로 긴 대화와 npm 패키지 끼어들기, file로 열었을 때 빈 화면 문제를 미리 안내하면 실습이 훨씬 매끄럽습니다.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1371600"/>
          </a:xfrm>
          <a:prstGeom prst="rect">
            <a:avLst/>
          </a:prstGeom>
          <a:solidFill>
            <a:srgbClr val="7A4CC2"/>
          </a:solidFill>
          <a:ln/>
        </p:spPr>
      </p:sp>
      <p:sp>
        <p:nvSpPr>
          <p:cNvPr id="3" name="Shape 1"/>
          <p:cNvSpPr/>
          <p:nvPr/>
        </p:nvSpPr>
        <p:spPr>
          <a:xfrm>
            <a:off x="0" y="1371600"/>
            <a:ext cx="155448" cy="1371600"/>
          </a:xfrm>
          <a:prstGeom prst="rect">
            <a:avLst/>
          </a:prstGeom>
          <a:solidFill>
            <a:srgbClr val="B4531A"/>
          </a:solidFill>
          <a:ln/>
        </p:spPr>
      </p:sp>
      <p:sp>
        <p:nvSpPr>
          <p:cNvPr id="4" name="Shape 2"/>
          <p:cNvSpPr/>
          <p:nvPr/>
        </p:nvSpPr>
        <p:spPr>
          <a:xfrm>
            <a:off x="0" y="2743200"/>
            <a:ext cx="155448" cy="1371600"/>
          </a:xfrm>
          <a:prstGeom prst="rect">
            <a:avLst/>
          </a:prstGeom>
          <a:solidFill>
            <a:srgbClr val="2F6FDB"/>
          </a:solidFill>
          <a:ln/>
        </p:spPr>
      </p:sp>
      <p:sp>
        <p:nvSpPr>
          <p:cNvPr id="5" name="Shape 3"/>
          <p:cNvSpPr/>
          <p:nvPr/>
        </p:nvSpPr>
        <p:spPr>
          <a:xfrm>
            <a:off x="0" y="4114800"/>
            <a:ext cx="155448" cy="1371600"/>
          </a:xfrm>
          <a:prstGeom prst="rect">
            <a:avLst/>
          </a:prstGeom>
          <a:solidFill>
            <a:srgbClr val="2E7D4F"/>
          </a:solidFill>
          <a:ln/>
        </p:spPr>
      </p:sp>
      <p:sp>
        <p:nvSpPr>
          <p:cNvPr id="6" name="Shape 4"/>
          <p:cNvSpPr/>
          <p:nvPr/>
        </p:nvSpPr>
        <p:spPr>
          <a:xfrm>
            <a:off x="0" y="5486400"/>
            <a:ext cx="155448" cy="1371600"/>
          </a:xfrm>
          <a:prstGeom prst="rect">
            <a:avLst/>
          </a:prstGeom>
          <a:solidFill>
            <a:srgbClr val="B8336A"/>
          </a:solidFill>
          <a:ln/>
        </p:spPr>
      </p:sp>
      <p:sp>
        <p:nvSpPr>
          <p:cNvPr id="7" name="Text 5"/>
          <p:cNvSpPr txBox="1"/>
          <p:nvPr/>
        </p:nvSpPr>
        <p:spPr>
          <a:xfrm>
            <a:off x="813816" y="2093976"/>
            <a:ext cx="10881360" cy="274320"/>
          </a:xfrm>
          <a:prstGeom prst="rect">
            <a:avLst/>
          </a:prstGeom>
          <a:noFill/>
          <a:ln/>
        </p:spPr>
        <p:txBody>
          <a:bodyPr wrap="square" lIns="0" tIns="0" rIns="0" bIns="0" rtlCol="0" anchor="t"/>
          <a:lstStyle/>
          <a:p>
            <a:pPr indent="0" marL="0">
              <a:buNone/>
            </a:pPr>
            <a:r>
              <a:rPr lang="en-US" sz="1300" b="1" spc="100" kern="0" dirty="0">
                <a:solidFill>
                  <a:srgbClr val="B4531A"/>
                </a:solidFill>
                <a:latin typeface="Noto Sans KR" pitchFamily="34" charset="0"/>
                <a:ea typeface="Noto Sans KR" pitchFamily="34" charset="-122"/>
                <a:cs typeface="Noto Sans KR" pitchFamily="34" charset="-120"/>
              </a:rPr>
              <a:t>03 · 스펙 주도 개발 (Spec-Driven Development)</a:t>
            </a:r>
            <a:endParaRPr lang="en-US" sz="1300" dirty="0"/>
          </a:p>
        </p:txBody>
      </p:sp>
      <p:sp>
        <p:nvSpPr>
          <p:cNvPr id="8" name="Text 6"/>
          <p:cNvSpPr txBox="1"/>
          <p:nvPr/>
        </p:nvSpPr>
        <p:spPr>
          <a:xfrm>
            <a:off x="813816" y="2596896"/>
            <a:ext cx="10881360" cy="1591056"/>
          </a:xfrm>
          <a:prstGeom prst="rect">
            <a:avLst/>
          </a:prstGeom>
          <a:noFill/>
          <a:ln/>
        </p:spPr>
        <p:txBody>
          <a:bodyPr wrap="square" lIns="0" tIns="0" rIns="0" bIns="0" rtlCol="0" anchor="t"/>
          <a:lstStyle/>
          <a:p>
            <a:pPr indent="0" marL="0">
              <a:lnSpc>
                <a:spcPct val="95000"/>
              </a:lnSpc>
              <a:buNone/>
            </a:pPr>
            <a:r>
              <a:rPr lang="en-US" sz="5400" b="1" dirty="0">
                <a:solidFill>
                  <a:srgbClr val="1B2430"/>
                </a:solidFill>
                <a:latin typeface="IBM Plex Sans KR" pitchFamily="34" charset="0"/>
                <a:ea typeface="IBM Plex Sans KR" pitchFamily="34" charset="-122"/>
                <a:cs typeface="IBM Plex Sans KR" pitchFamily="34" charset="-120"/>
              </a:rPr>
              <a:t>명세가 먼저,</a:t>
            </a:r>
            <a:endParaRPr lang="en-US" sz="5400" dirty="0"/>
          </a:p>
          <a:p>
            <a:pPr indent="0" marL="0">
              <a:lnSpc>
                <a:spcPct val="95000"/>
              </a:lnSpc>
              <a:buNone/>
            </a:pPr>
            <a:r>
              <a:rPr lang="en-US" sz="5400" b="1" dirty="0">
                <a:solidFill>
                  <a:srgbClr val="1B2430"/>
                </a:solidFill>
                <a:latin typeface="IBM Plex Sans KR" pitchFamily="34" charset="0"/>
                <a:ea typeface="IBM Plex Sans KR" pitchFamily="34" charset="-122"/>
                <a:cs typeface="IBM Plex Sans KR" pitchFamily="34" charset="-120"/>
              </a:rPr>
              <a:t>코드는 나중에</a:t>
            </a:r>
            <a:endParaRPr lang="en-US" sz="5400" dirty="0"/>
          </a:p>
        </p:txBody>
      </p:sp>
      <p:sp>
        <p:nvSpPr>
          <p:cNvPr id="9" name="Text 7"/>
          <p:cNvSpPr txBox="1"/>
          <p:nvPr/>
        </p:nvSpPr>
        <p:spPr>
          <a:xfrm>
            <a:off x="813816" y="4407408"/>
            <a:ext cx="10881360" cy="384048"/>
          </a:xfrm>
          <a:prstGeom prst="rect">
            <a:avLst/>
          </a:prstGeom>
          <a:noFill/>
          <a:ln/>
        </p:spPr>
        <p:txBody>
          <a:bodyPr wrap="square" lIns="0" tIns="0" rIns="0" bIns="0" rtlCol="0" anchor="t"/>
          <a:lstStyle/>
          <a:p>
            <a:pPr indent="0" marL="0">
              <a:buNone/>
            </a:pPr>
            <a:r>
              <a:rPr lang="en-US" sz="2000" dirty="0">
                <a:solidFill>
                  <a:srgbClr val="7A4CC2"/>
                </a:solidFill>
                <a:latin typeface="Noto Sans KR" pitchFamily="34" charset="0"/>
                <a:ea typeface="Noto Sans KR" pitchFamily="34" charset="-122"/>
                <a:cs typeface="Noto Sans KR" pitchFamily="34" charset="-120"/>
              </a:rPr>
              <a:t>Kiro</a:t>
            </a:r>
            <a:pPr indent="0" marL="0">
              <a:buNone/>
            </a:pPr>
            <a:r>
              <a:rPr lang="en-US" sz="2000" dirty="0">
                <a:solidFill>
                  <a:srgbClr val="6B7280"/>
                </a:solidFill>
                <a:latin typeface="Noto Sans KR" pitchFamily="34" charset="0"/>
                <a:ea typeface="Noto Sans KR" pitchFamily="34" charset="-122"/>
                <a:cs typeface="Noto Sans KR" pitchFamily="34" charset="-120"/>
              </a:rPr>
              <a:t> · </a:t>
            </a:r>
            <a:pPr indent="0" marL="0">
              <a:buNone/>
            </a:pPr>
            <a:r>
              <a:rPr lang="en-US" sz="2000" dirty="0">
                <a:solidFill>
                  <a:srgbClr val="B4531A"/>
                </a:solidFill>
                <a:latin typeface="Noto Sans KR" pitchFamily="34" charset="0"/>
                <a:ea typeface="Noto Sans KR" pitchFamily="34" charset="-122"/>
                <a:cs typeface="Noto Sans KR" pitchFamily="34" charset="-120"/>
              </a:rPr>
              <a:t>OpenSpec</a:t>
            </a:r>
            <a:pPr indent="0" marL="0">
              <a:buNone/>
            </a:pPr>
            <a:r>
              <a:rPr lang="en-US" sz="2000" dirty="0">
                <a:solidFill>
                  <a:srgbClr val="6B7280"/>
                </a:solidFill>
                <a:latin typeface="Noto Sans KR" pitchFamily="34" charset="0"/>
                <a:ea typeface="Noto Sans KR" pitchFamily="34" charset="-122"/>
                <a:cs typeface="Noto Sans KR" pitchFamily="34" charset="-120"/>
              </a:rPr>
              <a:t> · </a:t>
            </a:r>
            <a:pPr indent="0" marL="0">
              <a:buNone/>
            </a:pPr>
            <a:r>
              <a:rPr lang="en-US" sz="2000" dirty="0">
                <a:solidFill>
                  <a:srgbClr val="2F6FDB"/>
                </a:solidFill>
                <a:latin typeface="Noto Sans KR" pitchFamily="34" charset="0"/>
                <a:ea typeface="Noto Sans KR" pitchFamily="34" charset="-122"/>
                <a:cs typeface="Noto Sans KR" pitchFamily="34" charset="-120"/>
              </a:rPr>
              <a:t>Spec Kit</a:t>
            </a:r>
            <a:pPr indent="0" marL="0">
              <a:buNone/>
            </a:pPr>
            <a:r>
              <a:rPr lang="en-US" sz="2000" dirty="0">
                <a:solidFill>
                  <a:srgbClr val="6B7280"/>
                </a:solidFill>
                <a:latin typeface="Noto Sans KR" pitchFamily="34" charset="0"/>
                <a:ea typeface="Noto Sans KR" pitchFamily="34" charset="-122"/>
                <a:cs typeface="Noto Sans KR" pitchFamily="34" charset="-120"/>
              </a:rPr>
              <a:t> · </a:t>
            </a:r>
            <a:pPr indent="0" marL="0">
              <a:buNone/>
            </a:pPr>
            <a:r>
              <a:rPr lang="en-US" sz="2000" dirty="0">
                <a:solidFill>
                  <a:srgbClr val="2E7D4F"/>
                </a:solidFill>
                <a:latin typeface="Noto Sans KR" pitchFamily="34" charset="0"/>
                <a:ea typeface="Noto Sans KR" pitchFamily="34" charset="-122"/>
                <a:cs typeface="Noto Sans KR" pitchFamily="34" charset="-120"/>
              </a:rPr>
              <a:t>GSD</a:t>
            </a:r>
            <a:pPr indent="0" marL="0">
              <a:buNone/>
            </a:pPr>
            <a:r>
              <a:rPr lang="en-US" sz="2000" dirty="0">
                <a:solidFill>
                  <a:srgbClr val="6B7280"/>
                </a:solidFill>
                <a:latin typeface="Noto Sans KR" pitchFamily="34" charset="0"/>
                <a:ea typeface="Noto Sans KR" pitchFamily="34" charset="-122"/>
                <a:cs typeface="Noto Sans KR" pitchFamily="34" charset="-120"/>
              </a:rPr>
              <a:t> · </a:t>
            </a:r>
            <a:pPr indent="0" marL="0">
              <a:buNone/>
            </a:pPr>
            <a:r>
              <a:rPr lang="en-US" sz="2000" dirty="0">
                <a:solidFill>
                  <a:srgbClr val="B8336A"/>
                </a:solidFill>
                <a:latin typeface="Noto Sans KR" pitchFamily="34" charset="0"/>
                <a:ea typeface="Noto Sans KR" pitchFamily="34" charset="-122"/>
                <a:cs typeface="Noto Sans KR" pitchFamily="34" charset="-120"/>
              </a:rPr>
              <a:t>BMAD</a:t>
            </a:r>
            <a:pPr indent="0" marL="0">
              <a:buNone/>
            </a:pPr>
            <a:r>
              <a:rPr lang="en-US" sz="2000" dirty="0">
                <a:solidFill>
                  <a:srgbClr val="4A5568"/>
                </a:solidFill>
                <a:latin typeface="Noto Sans KR" pitchFamily="34" charset="0"/>
                <a:ea typeface="Noto Sans KR" pitchFamily="34" charset="-122"/>
                <a:cs typeface="Noto Sans KR" pitchFamily="34" charset="-120"/>
              </a:rPr>
              <a:t>  다섯 가지로 같은 할 일 앱을 만들고 비교하기</a:t>
            </a:r>
            <a:endParaRPr lang="en-US" sz="2000" dirty="0"/>
          </a:p>
        </p:txBody>
      </p:sp>
      <p:sp>
        <p:nvSpPr>
          <p:cNvPr id="10" name="Text 8"/>
          <p:cNvSpPr txBox="1"/>
          <p:nvPr/>
        </p:nvSpPr>
        <p:spPr>
          <a:xfrm>
            <a:off x="813816" y="6016752"/>
            <a:ext cx="10058400" cy="256032"/>
          </a:xfrm>
          <a:prstGeom prst="rect">
            <a:avLst/>
          </a:prstGeom>
          <a:noFill/>
          <a:ln/>
        </p:spPr>
        <p:txBody>
          <a:bodyPr wrap="square" lIns="0" tIns="0" rIns="0" bIns="0" rtlCol="0" anchor="t"/>
          <a:lstStyle/>
          <a:p>
            <a:pPr indent="0" marL="0">
              <a:buNone/>
            </a:pPr>
            <a:r>
              <a:rPr lang="en-US" sz="1200" dirty="0">
                <a:solidFill>
                  <a:srgbClr val="6B7280"/>
                </a:solidFill>
                <a:latin typeface="Noto Sans KR" pitchFamily="34" charset="0"/>
                <a:ea typeface="Noto Sans KR" pitchFamily="34" charset="-122"/>
                <a:cs typeface="Noto Sans KR" pitchFamily="34" charset="-120"/>
              </a:rPr>
              <a:t>M01 Kiro · M02 OpenSpec · M03 Spec Kit · M04 GSD · M05 BMAD · 담당 이선아 교수</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6B7280"/>
                </a:solidFill>
                <a:latin typeface="Noto Sans KR" pitchFamily="34" charset="0"/>
                <a:ea typeface="Noto Sans KR" pitchFamily="34" charset="-122"/>
                <a:cs typeface="Noto Sans KR" pitchFamily="34" charset="-120"/>
              </a:rPr>
              <a:t>왜 스펙 주도 개발인가</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사람은 무엇을·왜, AI는 어떻게</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011680"/>
          <a:ext cx="10552176" cy="914400"/>
        </p:xfrm>
        <a:graphic>
          <a:graphicData uri="http://schemas.openxmlformats.org/drawingml/2006/table">
            <a:tbl>
              <a:tblPr/>
              <a:tblGrid>
                <a:gridCol w="2011680"/>
                <a:gridCol w="4023360"/>
                <a:gridCol w="4517136"/>
              </a:tblGrid>
              <a:tr h="457200">
                <a:tc>
                  <a:txBody>
                    <a:bodyPr/>
                    <a:lstStyle/>
                    <a:p>
                      <a:pPr indent="0" marL="0">
                        <a:buNone/>
                      </a:pPr>
                      <a:r>
                        <a:rPr lang="en-US" sz="1400" b="1" dirty="0">
                          <a:solidFill>
                            <a:srgbClr val="FFFFFF"/>
                          </a:solidFill>
                          <a:latin typeface="Noto Sans KR" pitchFamily="34" charset="0"/>
                          <a:ea typeface="Noto Sans KR" pitchFamily="34" charset="-122"/>
                          <a:cs typeface="Noto Sans KR" pitchFamily="34" charset="-120"/>
                        </a:rPr>
                        <a:t>구분</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400" b="1" dirty="0">
                          <a:solidFill>
                            <a:srgbClr val="FFFFFF"/>
                          </a:solidFill>
                          <a:latin typeface="Noto Sans KR" pitchFamily="34" charset="0"/>
                          <a:ea typeface="Noto Sans KR" pitchFamily="34" charset="-122"/>
                          <a:cs typeface="Noto Sans KR" pitchFamily="34" charset="-120"/>
                        </a:rPr>
                        <a:t>바이브 코딩</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400" b="1" dirty="0">
                          <a:solidFill>
                            <a:srgbClr val="7FA8F0"/>
                          </a:solidFill>
                          <a:latin typeface="Noto Sans KR" pitchFamily="34" charset="0"/>
                          <a:ea typeface="Noto Sans KR" pitchFamily="34" charset="-122"/>
                          <a:cs typeface="Noto Sans KR" pitchFamily="34" charset="-120"/>
                        </a:rPr>
                        <a:t>스펙 주도 개발 (SDD)</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r>
              <a:tr h="457200">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시작점</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"할 일 앱 만들어 줘" 한 줄</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원칙 → 명세 → 계획 → 작업</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결과</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그럴듯하지만 매번 달라짐</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명세에 묶여 예측 가능</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기록</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채팅 기록에만 남음</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명세·계획·작업 문서가 파일로 남음</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바꿀 때</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코드를 직접 고침</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명세를 고치고 다시 생성</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리뷰</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코드만 리뷰</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Noto Sans KR" pitchFamily="34" charset="0"/>
                          <a:ea typeface="Noto Sans KR" pitchFamily="34" charset="-122"/>
                          <a:cs typeface="Noto Sans KR" pitchFamily="34" charset="-120"/>
                        </a:rPr>
                        <a:t>명세 · 계획 · 코드 모두 리뷰</a:t>
                      </a:r>
                      <a:endParaRPr lang="en-US" sz="1400" dirty="0">
                        <a:latin typeface="Noto Sans KR" charset="0"/>
                        <a:ea typeface="Noto Sans KR" charset="0"/>
                        <a:cs typeface="Noto Sans KR" charset="0"/>
                      </a:endParaRPr>
                    </a:p>
                  </a:txBody>
                  <a:tcPr marL="109728" marR="109728" marT="0" marB="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Shape 2"/>
          <p:cNvSpPr/>
          <p:nvPr/>
        </p:nvSpPr>
        <p:spPr>
          <a:xfrm>
            <a:off x="813816" y="5074920"/>
            <a:ext cx="10570464" cy="749808"/>
          </a:xfrm>
          <a:prstGeom prst="roundRect">
            <a:avLst>
              <a:gd name="adj" fmla="val 9756"/>
            </a:avLst>
          </a:prstGeom>
          <a:solidFill>
            <a:srgbClr val="F4F5F7"/>
          </a:solidFill>
          <a:ln/>
        </p:spPr>
      </p:sp>
      <p:sp>
        <p:nvSpPr>
          <p:cNvPr id="6" name="Text 3"/>
          <p:cNvSpPr txBox="1"/>
          <p:nvPr/>
        </p:nvSpPr>
        <p:spPr>
          <a:xfrm>
            <a:off x="1088136" y="5074920"/>
            <a:ext cx="10021824" cy="749808"/>
          </a:xfrm>
          <a:prstGeom prst="rect">
            <a:avLst/>
          </a:prstGeom>
          <a:noFill/>
          <a:ln/>
        </p:spPr>
        <p:txBody>
          <a:bodyPr wrap="square" lIns="0" tIns="0" rIns="0" bIns="0" rtlCol="0" anchor="ctr"/>
          <a:lstStyle/>
          <a:p>
            <a:pPr indent="0" marL="0">
              <a:buNone/>
            </a:pPr>
            <a:r>
              <a:rPr lang="en-US" sz="1400" b="1" dirty="0">
                <a:solidFill>
                  <a:srgbClr val="1B2430"/>
                </a:solidFill>
                <a:latin typeface="Noto Sans KR" pitchFamily="34" charset="0"/>
                <a:ea typeface="Noto Sans KR" pitchFamily="34" charset="-122"/>
                <a:cs typeface="Noto Sans KR" pitchFamily="34" charset="-120"/>
              </a:rPr>
              <a:t>다섯 도구 모두 이 원칙을 따른다. </a:t>
            </a:r>
            <a:pPr indent="0" marL="0">
              <a:buNone/>
            </a:pPr>
            <a:r>
              <a:rPr lang="en-US" sz="1400" dirty="0">
                <a:solidFill>
                  <a:srgbClr val="4A5568"/>
                </a:solidFill>
                <a:latin typeface="Noto Sans KR" pitchFamily="34" charset="0"/>
                <a:ea typeface="Noto Sans KR" pitchFamily="34" charset="-122"/>
                <a:cs typeface="Noto Sans KR" pitchFamily="34" charset="-120"/>
              </a:rPr>
              <a:t>차이는 명세를 다루는 단위와 수명, 그리고 AI가 일하는 방식을 어디까지 관리하느냐에 있다.</a:t>
            </a:r>
            <a:endParaRPr lang="en-US" sz="1400" dirty="0"/>
          </a:p>
        </p:txBody>
      </p:sp>
      <p:sp>
        <p:nvSpPr>
          <p:cNvPr id="7" name="Text 4"/>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2 / 15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6B7280"/>
                </a:solidFill>
                <a:latin typeface="Noto Sans KR" pitchFamily="34" charset="0"/>
                <a:ea typeface="Noto Sans KR" pitchFamily="34" charset="-122"/>
                <a:cs typeface="Noto Sans KR" pitchFamily="34" charset="-120"/>
              </a:rPr>
              <a:t>실습 설계</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같은 조건에서 도구만 바꿨다</a:t>
            </a:r>
            <a:endParaRPr lang="en-US" sz="3200" dirty="0"/>
          </a:p>
        </p:txBody>
      </p:sp>
      <p:sp>
        <p:nvSpPr>
          <p:cNvPr id="4" name="Shape 2"/>
          <p:cNvSpPr/>
          <p:nvPr/>
        </p:nvSpPr>
        <p:spPr>
          <a:xfrm>
            <a:off x="813816" y="2002536"/>
            <a:ext cx="3383280" cy="3346704"/>
          </a:xfrm>
          <a:prstGeom prst="roundRect">
            <a:avLst>
              <a:gd name="adj" fmla="val 2186"/>
            </a:avLst>
          </a:prstGeom>
          <a:solidFill>
            <a:srgbClr val="F4F5F7"/>
          </a:solidFill>
          <a:ln/>
        </p:spPr>
      </p:sp>
      <p:pic>
        <p:nvPicPr>
          <p:cNvPr id="5" name="Image 0" descr="/tmp/claude-0/w/u/ppt/media/image-3-1.png">    </p:cNvPr>
          <p:cNvPicPr>
            <a:picLocks noChangeAspect="1"/>
          </p:cNvPicPr>
          <p:nvPr/>
        </p:nvPicPr>
        <p:blipFill>
          <a:blip r:embed="rId1"/>
          <a:stretch>
            <a:fillRect/>
          </a:stretch>
        </p:blipFill>
        <p:spPr>
          <a:xfrm>
            <a:off x="1069848" y="2258568"/>
            <a:ext cx="356616" cy="356616"/>
          </a:xfrm>
          <a:prstGeom prst="rect">
            <a:avLst/>
          </a:prstGeom>
        </p:spPr>
      </p:pic>
      <p:sp>
        <p:nvSpPr>
          <p:cNvPr id="6" name="Text 3"/>
          <p:cNvSpPr txBox="1"/>
          <p:nvPr/>
        </p:nvSpPr>
        <p:spPr>
          <a:xfrm>
            <a:off x="1069848" y="2743200"/>
            <a:ext cx="2926080" cy="329184"/>
          </a:xfrm>
          <a:prstGeom prst="rect">
            <a:avLst/>
          </a:prstGeom>
          <a:noFill/>
          <a:ln/>
        </p:spPr>
        <p:txBody>
          <a:bodyPr wrap="square" lIns="0" tIns="0" rIns="0" bIns="0" rtlCol="0" anchor="t"/>
          <a:lstStyle/>
          <a:p>
            <a:pPr indent="0" marL="0">
              <a:buNone/>
            </a:pPr>
            <a:r>
              <a:rPr lang="en-US" sz="1800" b="1" dirty="0">
                <a:solidFill>
                  <a:srgbClr val="1B2430"/>
                </a:solidFill>
                <a:latin typeface="IBM Plex Sans KR" pitchFamily="34" charset="0"/>
                <a:ea typeface="IBM Plex Sans KR" pitchFamily="34" charset="-122"/>
                <a:cs typeface="IBM Plex Sans KR" pitchFamily="34" charset="-120"/>
              </a:rPr>
              <a:t>같은 예제</a:t>
            </a:r>
            <a:endParaRPr lang="en-US" sz="1800" dirty="0"/>
          </a:p>
        </p:txBody>
      </p:sp>
      <p:sp>
        <p:nvSpPr>
          <p:cNvPr id="7" name="Text 4"/>
          <p:cNvSpPr txBox="1"/>
          <p:nvPr/>
        </p:nvSpPr>
        <p:spPr>
          <a:xfrm>
            <a:off x="1069848" y="3172968"/>
            <a:ext cx="2926080" cy="1920240"/>
          </a:xfrm>
          <a:prstGeom prst="rect">
            <a:avLst/>
          </a:prstGeom>
          <a:noFill/>
          <a:ln/>
        </p:spPr>
        <p:txBody>
          <a:bodyPr wrap="square" lIns="0" tIns="0" rIns="0" bIns="0" rtlCol="0" anchor="t"/>
          <a:lstStyle/>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할 일 관리 웹 앱</a:t>
            </a:r>
            <a:endParaRPr lang="en-US" sz="1400" dirty="0"/>
          </a:p>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추가 · 완료 · 삭제 · 필터</a:t>
            </a:r>
            <a:endParaRPr lang="en-US" sz="1400" dirty="0"/>
          </a:p>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남은 개수 · 새로 고침 후 유지</a:t>
            </a:r>
            <a:endParaRPr lang="en-US" sz="1400" dirty="0"/>
          </a:p>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도전: 마감일 기능 추가</a:t>
            </a:r>
            <a:endParaRPr lang="en-US" sz="1400" dirty="0"/>
          </a:p>
        </p:txBody>
      </p:sp>
      <p:sp>
        <p:nvSpPr>
          <p:cNvPr id="8" name="Shape 5"/>
          <p:cNvSpPr/>
          <p:nvPr/>
        </p:nvSpPr>
        <p:spPr>
          <a:xfrm>
            <a:off x="4407408" y="2002536"/>
            <a:ext cx="3383280" cy="3346704"/>
          </a:xfrm>
          <a:prstGeom prst="roundRect">
            <a:avLst>
              <a:gd name="adj" fmla="val 2186"/>
            </a:avLst>
          </a:prstGeom>
          <a:solidFill>
            <a:srgbClr val="F4F5F7"/>
          </a:solidFill>
          <a:ln/>
        </p:spPr>
      </p:sp>
      <p:pic>
        <p:nvPicPr>
          <p:cNvPr id="9" name="Image 1" descr="/tmp/claude-0/w/u/ppt/media/image-3-2.png">    </p:cNvPr>
          <p:cNvPicPr>
            <a:picLocks noChangeAspect="1"/>
          </p:cNvPicPr>
          <p:nvPr/>
        </p:nvPicPr>
        <p:blipFill>
          <a:blip r:embed="rId2"/>
          <a:stretch>
            <a:fillRect/>
          </a:stretch>
        </p:blipFill>
        <p:spPr>
          <a:xfrm>
            <a:off x="4663440" y="2258568"/>
            <a:ext cx="356616" cy="356616"/>
          </a:xfrm>
          <a:prstGeom prst="rect">
            <a:avLst/>
          </a:prstGeom>
        </p:spPr>
      </p:pic>
      <p:sp>
        <p:nvSpPr>
          <p:cNvPr id="10" name="Text 6"/>
          <p:cNvSpPr txBox="1"/>
          <p:nvPr/>
        </p:nvSpPr>
        <p:spPr>
          <a:xfrm>
            <a:off x="4663440" y="2743200"/>
            <a:ext cx="2926080" cy="329184"/>
          </a:xfrm>
          <a:prstGeom prst="rect">
            <a:avLst/>
          </a:prstGeom>
          <a:noFill/>
          <a:ln/>
        </p:spPr>
        <p:txBody>
          <a:bodyPr wrap="square" lIns="0" tIns="0" rIns="0" bIns="0" rtlCol="0" anchor="t"/>
          <a:lstStyle/>
          <a:p>
            <a:pPr indent="0" marL="0">
              <a:buNone/>
            </a:pPr>
            <a:r>
              <a:rPr lang="en-US" sz="1800" b="1" dirty="0">
                <a:solidFill>
                  <a:srgbClr val="1B2430"/>
                </a:solidFill>
                <a:latin typeface="IBM Plex Sans KR" pitchFamily="34" charset="0"/>
                <a:ea typeface="IBM Plex Sans KR" pitchFamily="34" charset="-122"/>
                <a:cs typeface="IBM Plex Sans KR" pitchFamily="34" charset="-120"/>
              </a:rPr>
              <a:t>같은 기술</a:t>
            </a:r>
            <a:endParaRPr lang="en-US" sz="1800" dirty="0"/>
          </a:p>
        </p:txBody>
      </p:sp>
      <p:sp>
        <p:nvSpPr>
          <p:cNvPr id="11" name="Text 7"/>
          <p:cNvSpPr txBox="1"/>
          <p:nvPr/>
        </p:nvSpPr>
        <p:spPr>
          <a:xfrm>
            <a:off x="4663440" y="3172968"/>
            <a:ext cx="2926080" cy="1920240"/>
          </a:xfrm>
          <a:prstGeom prst="rect">
            <a:avLst/>
          </a:prstGeom>
          <a:noFill/>
          <a:ln/>
        </p:spPr>
        <p:txBody>
          <a:bodyPr wrap="square" lIns="0" tIns="0" rIns="0" bIns="0" rtlCol="0" anchor="t"/>
          <a:lstStyle/>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Claude Code (M01 만 Kiro IDE)</a:t>
            </a:r>
            <a:endParaRPr lang="en-US" sz="1400" dirty="0"/>
          </a:p>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순수 HTML · CSS · JS</a:t>
            </a:r>
            <a:endParaRPr lang="en-US" sz="1400" dirty="0"/>
          </a:p>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node --test · localStorage</a:t>
            </a:r>
            <a:endParaRPr lang="en-US" sz="1400" dirty="0"/>
          </a:p>
        </p:txBody>
      </p:sp>
      <p:sp>
        <p:nvSpPr>
          <p:cNvPr id="12" name="Shape 8"/>
          <p:cNvSpPr/>
          <p:nvPr/>
        </p:nvSpPr>
        <p:spPr>
          <a:xfrm>
            <a:off x="8001000" y="2002536"/>
            <a:ext cx="3383280" cy="3346704"/>
          </a:xfrm>
          <a:prstGeom prst="roundRect">
            <a:avLst>
              <a:gd name="adj" fmla="val 2186"/>
            </a:avLst>
          </a:prstGeom>
          <a:solidFill>
            <a:srgbClr val="F4F5F7"/>
          </a:solidFill>
          <a:ln/>
        </p:spPr>
      </p:sp>
      <p:pic>
        <p:nvPicPr>
          <p:cNvPr id="13" name="Image 2" descr="/tmp/claude-0/w/u/ppt/media/image-3-3.png">    </p:cNvPr>
          <p:cNvPicPr>
            <a:picLocks noChangeAspect="1"/>
          </p:cNvPicPr>
          <p:nvPr/>
        </p:nvPicPr>
        <p:blipFill>
          <a:blip r:embed="rId3"/>
          <a:stretch>
            <a:fillRect/>
          </a:stretch>
        </p:blipFill>
        <p:spPr>
          <a:xfrm>
            <a:off x="8257032" y="2258568"/>
            <a:ext cx="356616" cy="356616"/>
          </a:xfrm>
          <a:prstGeom prst="rect">
            <a:avLst/>
          </a:prstGeom>
        </p:spPr>
      </p:pic>
      <p:sp>
        <p:nvSpPr>
          <p:cNvPr id="14" name="Text 9"/>
          <p:cNvSpPr txBox="1"/>
          <p:nvPr/>
        </p:nvSpPr>
        <p:spPr>
          <a:xfrm>
            <a:off x="8257032" y="2743200"/>
            <a:ext cx="2926080" cy="329184"/>
          </a:xfrm>
          <a:prstGeom prst="rect">
            <a:avLst/>
          </a:prstGeom>
          <a:noFill/>
          <a:ln/>
        </p:spPr>
        <p:txBody>
          <a:bodyPr wrap="square" lIns="0" tIns="0" rIns="0" bIns="0" rtlCol="0" anchor="t"/>
          <a:lstStyle/>
          <a:p>
            <a:pPr indent="0" marL="0">
              <a:buNone/>
            </a:pPr>
            <a:r>
              <a:rPr lang="en-US" sz="1800" b="1" dirty="0">
                <a:solidFill>
                  <a:srgbClr val="1B2430"/>
                </a:solidFill>
                <a:latin typeface="IBM Plex Sans KR" pitchFamily="34" charset="0"/>
                <a:ea typeface="IBM Plex Sans KR" pitchFamily="34" charset="-122"/>
                <a:cs typeface="IBM Plex Sans KR" pitchFamily="34" charset="-120"/>
              </a:rPr>
              <a:t>같은 문서 구조</a:t>
            </a:r>
            <a:endParaRPr lang="en-US" sz="1800" dirty="0"/>
          </a:p>
        </p:txBody>
      </p:sp>
      <p:sp>
        <p:nvSpPr>
          <p:cNvPr id="15" name="Text 10"/>
          <p:cNvSpPr txBox="1"/>
          <p:nvPr/>
        </p:nvSpPr>
        <p:spPr>
          <a:xfrm>
            <a:off x="8257032" y="3172968"/>
            <a:ext cx="2926080" cy="1920240"/>
          </a:xfrm>
          <a:prstGeom prst="rect">
            <a:avLst/>
          </a:prstGeom>
          <a:noFill/>
          <a:ln/>
        </p:spPr>
        <p:txBody>
          <a:bodyPr wrap="square" lIns="0" tIns="0" rIns="0" bIns="0" rtlCol="0" anchor="t"/>
          <a:lstStyle/>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README — 소개·준비물</a:t>
            </a:r>
            <a:endParaRPr lang="en-US" sz="1400" dirty="0"/>
          </a:p>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GUIDE — 단계별 만들기</a:t>
            </a:r>
            <a:endParaRPr lang="en-US" sz="1400" dirty="0"/>
          </a:p>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SAMPLE — 실행·확인</a:t>
            </a:r>
            <a:endParaRPr lang="en-US" sz="1400" dirty="0"/>
          </a:p>
        </p:txBody>
      </p:sp>
      <p:sp>
        <p:nvSpPr>
          <p:cNvPr id="16" name="Text 11"/>
          <p:cNvSpPr txBox="1"/>
          <p:nvPr/>
        </p:nvSpPr>
        <p:spPr>
          <a:xfrm>
            <a:off x="813816" y="5577840"/>
            <a:ext cx="10881360" cy="274320"/>
          </a:xfrm>
          <a:prstGeom prst="rect">
            <a:avLst/>
          </a:prstGeom>
          <a:noFill/>
          <a:ln/>
        </p:spPr>
        <p:txBody>
          <a:bodyPr wrap="square" lIns="0" tIns="0" rIns="0" bIns="0" rtlCol="0" anchor="t"/>
          <a:lstStyle/>
          <a:p>
            <a:pPr indent="0" marL="0">
              <a:buNone/>
            </a:pPr>
            <a:r>
              <a:rPr lang="en-US" sz="1200" b="1" dirty="0">
                <a:solidFill>
                  <a:srgbClr val="1B2430"/>
                </a:solidFill>
                <a:latin typeface="Noto Sans KR" pitchFamily="34" charset="0"/>
                <a:ea typeface="Noto Sans KR" pitchFamily="34" charset="-122"/>
                <a:cs typeface="Noto Sans KR" pitchFamily="34" charset="-120"/>
              </a:rPr>
              <a:t>검증 버전  </a:t>
            </a:r>
            <a:pPr indent="0" marL="0">
              <a:buNone/>
            </a:pPr>
            <a:r>
              <a:rPr lang="en-US" sz="1200" dirty="0">
                <a:solidFill>
                  <a:srgbClr val="2F6FDB"/>
                </a:solidFill>
                <a:latin typeface="JetBrains Mono" pitchFamily="34" charset="0"/>
                <a:ea typeface="JetBrains Mono" pitchFamily="34" charset="-122"/>
                <a:cs typeface="JetBrains Mono" pitchFamily="34" charset="-120"/>
              </a:rPr>
              <a:t>Kiro IDE 1.x · openspec 1.14.1 · specify-cli 1.1.3 · gsd-core 1.16.0 · bmad-method 6.12.2</a:t>
            </a:r>
            <a:pPr indent="0" marL="0">
              <a:buNone/>
            </a:pPr>
            <a:r>
              <a:rPr lang="en-US" sz="1200" dirty="0">
                <a:solidFill>
                  <a:srgbClr val="4A5568"/>
                </a:solidFill>
                <a:latin typeface="Noto Sans KR" pitchFamily="34" charset="0"/>
                <a:ea typeface="Noto Sans KR" pitchFamily="34" charset="-122"/>
                <a:cs typeface="Noto Sans KR" pitchFamily="34" charset="-120"/>
              </a:rPr>
              <a:t>  — 직접 설치·초기화해 실제 생성 결과로 문서화</a:t>
            </a:r>
            <a:endParaRPr lang="en-US" sz="1200" dirty="0"/>
          </a:p>
        </p:txBody>
      </p:sp>
      <p:sp>
        <p:nvSpPr>
          <p:cNvPr id="17" name="Text 12"/>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3 / 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6B7280"/>
                </a:solidFill>
                <a:latin typeface="Noto Sans KR" pitchFamily="34" charset="0"/>
                <a:ea typeface="Noto Sans KR" pitchFamily="34" charset="-122"/>
                <a:cs typeface="Noto Sans KR" pitchFamily="34" charset="-120"/>
              </a:rPr>
              <a:t>과정 지도</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다섯 도구, 다섯 가지 SDD</a:t>
            </a:r>
            <a:endParaRPr lang="en-US" sz="3200" dirty="0"/>
          </a:p>
        </p:txBody>
      </p:sp>
      <p:sp>
        <p:nvSpPr>
          <p:cNvPr id="4" name="Shape 2"/>
          <p:cNvSpPr/>
          <p:nvPr/>
        </p:nvSpPr>
        <p:spPr>
          <a:xfrm>
            <a:off x="813816" y="1965960"/>
            <a:ext cx="2011680" cy="365760"/>
          </a:xfrm>
          <a:prstGeom prst="roundRect">
            <a:avLst>
              <a:gd name="adj" fmla="val 20000"/>
            </a:avLst>
          </a:prstGeom>
          <a:solidFill>
            <a:srgbClr val="7A4CC2"/>
          </a:solidFill>
          <a:ln/>
        </p:spPr>
      </p:sp>
      <p:sp>
        <p:nvSpPr>
          <p:cNvPr id="5" name="Shape 3"/>
          <p:cNvSpPr/>
          <p:nvPr/>
        </p:nvSpPr>
        <p:spPr>
          <a:xfrm>
            <a:off x="813816" y="2020824"/>
            <a:ext cx="2011680" cy="2916936"/>
          </a:xfrm>
          <a:prstGeom prst="roundRect">
            <a:avLst>
              <a:gd name="adj" fmla="val 3636"/>
            </a:avLst>
          </a:prstGeom>
          <a:solidFill>
            <a:srgbClr val="F4F5F7"/>
          </a:solidFill>
          <a:ln/>
        </p:spPr>
      </p:sp>
      <p:sp>
        <p:nvSpPr>
          <p:cNvPr id="6" name="Text 4"/>
          <p:cNvSpPr txBox="1"/>
          <p:nvPr/>
        </p:nvSpPr>
        <p:spPr>
          <a:xfrm>
            <a:off x="996696" y="2176272"/>
            <a:ext cx="1645920" cy="219456"/>
          </a:xfrm>
          <a:prstGeom prst="rect">
            <a:avLst/>
          </a:prstGeom>
          <a:noFill/>
          <a:ln/>
        </p:spPr>
        <p:txBody>
          <a:bodyPr wrap="square" lIns="0" tIns="0" rIns="0" bIns="0" rtlCol="0" anchor="t"/>
          <a:lstStyle/>
          <a:p>
            <a:pPr indent="0" marL="0">
              <a:buNone/>
            </a:pPr>
            <a:r>
              <a:rPr lang="en-US" sz="1100" b="1" dirty="0">
                <a:solidFill>
                  <a:srgbClr val="7A4CC2"/>
                </a:solidFill>
                <a:latin typeface="JetBrains Mono" pitchFamily="34" charset="0"/>
                <a:ea typeface="JetBrains Mono" pitchFamily="34" charset="-122"/>
                <a:cs typeface="JetBrains Mono" pitchFamily="34" charset="-120"/>
              </a:rPr>
              <a:t>M01</a:t>
            </a:r>
            <a:endParaRPr lang="en-US" sz="1100" dirty="0"/>
          </a:p>
        </p:txBody>
      </p:sp>
      <p:sp>
        <p:nvSpPr>
          <p:cNvPr id="7" name="Text 5"/>
          <p:cNvSpPr txBox="1"/>
          <p:nvPr/>
        </p:nvSpPr>
        <p:spPr>
          <a:xfrm>
            <a:off x="996696" y="2414016"/>
            <a:ext cx="1645920" cy="384048"/>
          </a:xfrm>
          <a:prstGeom prst="rect">
            <a:avLst/>
          </a:prstGeom>
          <a:noFill/>
          <a:ln/>
        </p:spPr>
        <p:txBody>
          <a:bodyPr wrap="square" lIns="0" tIns="0" rIns="0" bIns="0" rtlCol="0" anchor="t"/>
          <a:lstStyle/>
          <a:p>
            <a:pPr indent="0" marL="0">
              <a:buNone/>
            </a:pPr>
            <a:r>
              <a:rPr lang="en-US" sz="2200" b="1" dirty="0">
                <a:solidFill>
                  <a:srgbClr val="1B2430"/>
                </a:solidFill>
                <a:latin typeface="IBM Plex Sans KR" pitchFamily="34" charset="0"/>
                <a:ea typeface="IBM Plex Sans KR" pitchFamily="34" charset="-122"/>
                <a:cs typeface="IBM Plex Sans KR" pitchFamily="34" charset="-120"/>
              </a:rPr>
              <a:t>Kiro</a:t>
            </a:r>
            <a:endParaRPr lang="en-US" sz="2200" dirty="0"/>
          </a:p>
        </p:txBody>
      </p:sp>
      <p:sp>
        <p:nvSpPr>
          <p:cNvPr id="8" name="Text 6"/>
          <p:cNvSpPr txBox="1"/>
          <p:nvPr/>
        </p:nvSpPr>
        <p:spPr>
          <a:xfrm>
            <a:off x="996696" y="2834640"/>
            <a:ext cx="1645920" cy="237744"/>
          </a:xfrm>
          <a:prstGeom prst="rect">
            <a:avLst/>
          </a:prstGeom>
          <a:noFill/>
          <a:ln/>
        </p:spPr>
        <p:txBody>
          <a:bodyPr wrap="square" lIns="0" tIns="0" rIns="0" bIns="0" rtlCol="0" anchor="t"/>
          <a:lstStyle/>
          <a:p>
            <a:pPr indent="0" marL="0">
              <a:buNone/>
            </a:pPr>
            <a:r>
              <a:rPr lang="en-US" sz="1100" dirty="0">
                <a:solidFill>
                  <a:srgbClr val="6B7280"/>
                </a:solidFill>
                <a:latin typeface="Noto Sans KR" pitchFamily="34" charset="0"/>
                <a:ea typeface="Noto Sans KR" pitchFamily="34" charset="-122"/>
                <a:cs typeface="Noto Sans KR" pitchFamily="34" charset="-120"/>
              </a:rPr>
              <a:t>IDE (데스크톱 앱)</a:t>
            </a:r>
            <a:endParaRPr lang="en-US" sz="1100" dirty="0"/>
          </a:p>
        </p:txBody>
      </p:sp>
      <p:sp>
        <p:nvSpPr>
          <p:cNvPr id="9" name="Text 7"/>
          <p:cNvSpPr txBox="1"/>
          <p:nvPr/>
        </p:nvSpPr>
        <p:spPr>
          <a:xfrm>
            <a:off x="996696" y="3182112"/>
            <a:ext cx="1645920" cy="1051560"/>
          </a:xfrm>
          <a:prstGeom prst="rect">
            <a:avLst/>
          </a:prstGeom>
          <a:noFill/>
          <a:ln/>
        </p:spPr>
        <p:txBody>
          <a:bodyPr wrap="square" lIns="0" tIns="0" rIns="0" bIns="0" rtlCol="0" anchor="t"/>
          <a:lstStyle/>
          <a:p>
            <a:pPr indent="0" marL="0">
              <a:buNone/>
            </a:pPr>
            <a:r>
              <a:rPr lang="en-US" sz="1300" dirty="0">
                <a:solidFill>
                  <a:srgbClr val="1B2430"/>
                </a:solidFill>
                <a:latin typeface="Noto Sans KR" pitchFamily="34" charset="0"/>
                <a:ea typeface="Noto Sans KR" pitchFamily="34" charset="-122"/>
                <a:cs typeface="Noto Sans KR" pitchFamily="34" charset="-120"/>
              </a:rPr>
              <a:t>IDE 안에서 버튼과 채팅으로 규칙 → 요구사항 → 설계 → 작업</a:t>
            </a:r>
            <a:endParaRPr lang="en-US" sz="1300" dirty="0"/>
          </a:p>
        </p:txBody>
      </p:sp>
      <p:sp>
        <p:nvSpPr>
          <p:cNvPr id="10" name="Text 8"/>
          <p:cNvSpPr txBox="1"/>
          <p:nvPr/>
        </p:nvSpPr>
        <p:spPr>
          <a:xfrm>
            <a:off x="996696" y="4315968"/>
            <a:ext cx="1645920" cy="457200"/>
          </a:xfrm>
          <a:prstGeom prst="rect">
            <a:avLst/>
          </a:prstGeom>
          <a:noFill/>
          <a:ln/>
        </p:spPr>
        <p:txBody>
          <a:bodyPr wrap="square" lIns="0" tIns="0" rIns="0" bIns="0" rtlCol="0" anchor="t"/>
          <a:lstStyle/>
          <a:p>
            <a:pPr indent="0" marL="0">
              <a:buNone/>
            </a:pPr>
            <a:r>
              <a:rPr lang="en-US" sz="1000" dirty="0">
                <a:solidFill>
                  <a:srgbClr val="7A4CC2"/>
                </a:solidFill>
                <a:latin typeface="JetBrains Mono" pitchFamily="34" charset="0"/>
                <a:ea typeface="JetBrains Mono" pitchFamily="34" charset="-122"/>
                <a:cs typeface="JetBrains Mono" pitchFamily="34" charset="-120"/>
              </a:rPr>
              <a:t>Steering · Spec · Hooks</a:t>
            </a:r>
            <a:endParaRPr lang="en-US" sz="1000" dirty="0"/>
          </a:p>
        </p:txBody>
      </p:sp>
      <p:sp>
        <p:nvSpPr>
          <p:cNvPr id="11" name="Shape 9"/>
          <p:cNvSpPr/>
          <p:nvPr/>
        </p:nvSpPr>
        <p:spPr>
          <a:xfrm>
            <a:off x="2953512" y="1965960"/>
            <a:ext cx="2011680" cy="365760"/>
          </a:xfrm>
          <a:prstGeom prst="roundRect">
            <a:avLst>
              <a:gd name="adj" fmla="val 20000"/>
            </a:avLst>
          </a:prstGeom>
          <a:solidFill>
            <a:srgbClr val="B4531A"/>
          </a:solidFill>
          <a:ln/>
        </p:spPr>
      </p:sp>
      <p:sp>
        <p:nvSpPr>
          <p:cNvPr id="12" name="Shape 10"/>
          <p:cNvSpPr/>
          <p:nvPr/>
        </p:nvSpPr>
        <p:spPr>
          <a:xfrm>
            <a:off x="2953512" y="2020824"/>
            <a:ext cx="2011680" cy="2916936"/>
          </a:xfrm>
          <a:prstGeom prst="roundRect">
            <a:avLst>
              <a:gd name="adj" fmla="val 3636"/>
            </a:avLst>
          </a:prstGeom>
          <a:solidFill>
            <a:srgbClr val="F4F5F7"/>
          </a:solidFill>
          <a:ln/>
        </p:spPr>
      </p:sp>
      <p:sp>
        <p:nvSpPr>
          <p:cNvPr id="13" name="Text 11"/>
          <p:cNvSpPr txBox="1"/>
          <p:nvPr/>
        </p:nvSpPr>
        <p:spPr>
          <a:xfrm>
            <a:off x="3136392" y="2176272"/>
            <a:ext cx="1645920" cy="219456"/>
          </a:xfrm>
          <a:prstGeom prst="rect">
            <a:avLst/>
          </a:prstGeom>
          <a:noFill/>
          <a:ln/>
        </p:spPr>
        <p:txBody>
          <a:bodyPr wrap="square" lIns="0" tIns="0" rIns="0" bIns="0" rtlCol="0" anchor="t"/>
          <a:lstStyle/>
          <a:p>
            <a:pPr indent="0" marL="0">
              <a:buNone/>
            </a:pPr>
            <a:r>
              <a:rPr lang="en-US" sz="1100" b="1" dirty="0">
                <a:solidFill>
                  <a:srgbClr val="B4531A"/>
                </a:solidFill>
                <a:latin typeface="JetBrains Mono" pitchFamily="34" charset="0"/>
                <a:ea typeface="JetBrains Mono" pitchFamily="34" charset="-122"/>
                <a:cs typeface="JetBrains Mono" pitchFamily="34" charset="-120"/>
              </a:rPr>
              <a:t>M02</a:t>
            </a:r>
            <a:endParaRPr lang="en-US" sz="1100" dirty="0"/>
          </a:p>
        </p:txBody>
      </p:sp>
      <p:sp>
        <p:nvSpPr>
          <p:cNvPr id="14" name="Text 12"/>
          <p:cNvSpPr txBox="1"/>
          <p:nvPr/>
        </p:nvSpPr>
        <p:spPr>
          <a:xfrm>
            <a:off x="3136392" y="2414016"/>
            <a:ext cx="1645920" cy="384048"/>
          </a:xfrm>
          <a:prstGeom prst="rect">
            <a:avLst/>
          </a:prstGeom>
          <a:noFill/>
          <a:ln/>
        </p:spPr>
        <p:txBody>
          <a:bodyPr wrap="square" lIns="0" tIns="0" rIns="0" bIns="0" rtlCol="0" anchor="t"/>
          <a:lstStyle/>
          <a:p>
            <a:pPr indent="0" marL="0">
              <a:buNone/>
            </a:pPr>
            <a:r>
              <a:rPr lang="en-US" sz="2200" b="1" dirty="0">
                <a:solidFill>
                  <a:srgbClr val="1B2430"/>
                </a:solidFill>
                <a:latin typeface="IBM Plex Sans KR" pitchFamily="34" charset="0"/>
                <a:ea typeface="IBM Plex Sans KR" pitchFamily="34" charset="-122"/>
                <a:cs typeface="IBM Plex Sans KR" pitchFamily="34" charset="-120"/>
              </a:rPr>
              <a:t>OpenSpec</a:t>
            </a:r>
            <a:endParaRPr lang="en-US" sz="2200" dirty="0"/>
          </a:p>
        </p:txBody>
      </p:sp>
      <p:sp>
        <p:nvSpPr>
          <p:cNvPr id="15" name="Text 13"/>
          <p:cNvSpPr txBox="1"/>
          <p:nvPr/>
        </p:nvSpPr>
        <p:spPr>
          <a:xfrm>
            <a:off x="3136392" y="2834640"/>
            <a:ext cx="1645920" cy="237744"/>
          </a:xfrm>
          <a:prstGeom prst="rect">
            <a:avLst/>
          </a:prstGeom>
          <a:noFill/>
          <a:ln/>
        </p:spPr>
        <p:txBody>
          <a:bodyPr wrap="square" lIns="0" tIns="0" rIns="0" bIns="0" rtlCol="0" anchor="t"/>
          <a:lstStyle/>
          <a:p>
            <a:pPr indent="0" marL="0">
              <a:buNone/>
            </a:pPr>
            <a:r>
              <a:rPr lang="en-US" sz="1100" dirty="0">
                <a:solidFill>
                  <a:srgbClr val="6B7280"/>
                </a:solidFill>
                <a:latin typeface="Noto Sans KR" pitchFamily="34" charset="0"/>
                <a:ea typeface="Noto Sans KR" pitchFamily="34" charset="-122"/>
                <a:cs typeface="Noto Sans KR" pitchFamily="34" charset="-120"/>
              </a:rPr>
              <a:t>CLI + Claude Code</a:t>
            </a:r>
            <a:endParaRPr lang="en-US" sz="1100" dirty="0"/>
          </a:p>
        </p:txBody>
      </p:sp>
      <p:sp>
        <p:nvSpPr>
          <p:cNvPr id="16" name="Text 14"/>
          <p:cNvSpPr txBox="1"/>
          <p:nvPr/>
        </p:nvSpPr>
        <p:spPr>
          <a:xfrm>
            <a:off x="3136392" y="3182112"/>
            <a:ext cx="1645920" cy="1051560"/>
          </a:xfrm>
          <a:prstGeom prst="rect">
            <a:avLst/>
          </a:prstGeom>
          <a:noFill/>
          <a:ln/>
        </p:spPr>
        <p:txBody>
          <a:bodyPr wrap="square" lIns="0" tIns="0" rIns="0" bIns="0" rtlCol="0" anchor="t"/>
          <a:lstStyle/>
          <a:p>
            <a:pPr indent="0" marL="0">
              <a:buNone/>
            </a:pPr>
            <a:r>
              <a:rPr lang="en-US" sz="1300" dirty="0">
                <a:solidFill>
                  <a:srgbClr val="1B2430"/>
                </a:solidFill>
                <a:latin typeface="Noto Sans KR" pitchFamily="34" charset="0"/>
                <a:ea typeface="Noto Sans KR" pitchFamily="34" charset="-122"/>
                <a:cs typeface="Noto Sans KR" pitchFamily="34" charset="-120"/>
              </a:rPr>
              <a:t>변경을 델타로 제안하고, 끝나면 명세 하나에 합친다</a:t>
            </a:r>
            <a:endParaRPr lang="en-US" sz="1300" dirty="0"/>
          </a:p>
        </p:txBody>
      </p:sp>
      <p:sp>
        <p:nvSpPr>
          <p:cNvPr id="17" name="Text 15"/>
          <p:cNvSpPr txBox="1"/>
          <p:nvPr/>
        </p:nvSpPr>
        <p:spPr>
          <a:xfrm>
            <a:off x="3136392" y="4315968"/>
            <a:ext cx="1645920" cy="457200"/>
          </a:xfrm>
          <a:prstGeom prst="rect">
            <a:avLst/>
          </a:prstGeom>
          <a:noFill/>
          <a:ln/>
        </p:spPr>
        <p:txBody>
          <a:bodyPr wrap="square" lIns="0" tIns="0" rIns="0" bIns="0" rtlCol="0" anchor="t"/>
          <a:lstStyle/>
          <a:p>
            <a:pPr indent="0" marL="0">
              <a:buNone/>
            </a:pPr>
            <a:r>
              <a:rPr lang="en-US" sz="1000" dirty="0">
                <a:solidFill>
                  <a:srgbClr val="B4531A"/>
                </a:solidFill>
                <a:latin typeface="JetBrains Mono" pitchFamily="34" charset="0"/>
                <a:ea typeface="JetBrains Mono" pitchFamily="34" charset="-122"/>
                <a:cs typeface="JetBrains Mono" pitchFamily="34" charset="-120"/>
              </a:rPr>
              <a:t>/opsx:propose</a:t>
            </a:r>
            <a:endParaRPr lang="en-US" sz="1000" dirty="0"/>
          </a:p>
          <a:p>
            <a:pPr indent="0" marL="0">
              <a:buNone/>
            </a:pPr>
            <a:r>
              <a:rPr lang="en-US" sz="1000" dirty="0">
                <a:solidFill>
                  <a:srgbClr val="B4531A"/>
                </a:solidFill>
                <a:latin typeface="JetBrains Mono" pitchFamily="34" charset="0"/>
                <a:ea typeface="JetBrains Mono" pitchFamily="34" charset="-122"/>
                <a:cs typeface="JetBrains Mono" pitchFamily="34" charset="-120"/>
              </a:rPr>
              <a:t>/opsx:archive</a:t>
            </a:r>
            <a:endParaRPr lang="en-US" sz="1000" dirty="0"/>
          </a:p>
        </p:txBody>
      </p:sp>
      <p:sp>
        <p:nvSpPr>
          <p:cNvPr id="18" name="Shape 16"/>
          <p:cNvSpPr/>
          <p:nvPr/>
        </p:nvSpPr>
        <p:spPr>
          <a:xfrm>
            <a:off x="5093208" y="1965960"/>
            <a:ext cx="2011680" cy="365760"/>
          </a:xfrm>
          <a:prstGeom prst="roundRect">
            <a:avLst>
              <a:gd name="adj" fmla="val 20000"/>
            </a:avLst>
          </a:prstGeom>
          <a:solidFill>
            <a:srgbClr val="2F6FDB"/>
          </a:solidFill>
          <a:ln/>
        </p:spPr>
      </p:sp>
      <p:sp>
        <p:nvSpPr>
          <p:cNvPr id="19" name="Shape 17"/>
          <p:cNvSpPr/>
          <p:nvPr/>
        </p:nvSpPr>
        <p:spPr>
          <a:xfrm>
            <a:off x="5093208" y="2020824"/>
            <a:ext cx="2011680" cy="2916936"/>
          </a:xfrm>
          <a:prstGeom prst="roundRect">
            <a:avLst>
              <a:gd name="adj" fmla="val 3636"/>
            </a:avLst>
          </a:prstGeom>
          <a:solidFill>
            <a:srgbClr val="F4F5F7"/>
          </a:solidFill>
          <a:ln/>
        </p:spPr>
      </p:sp>
      <p:sp>
        <p:nvSpPr>
          <p:cNvPr id="20" name="Text 18"/>
          <p:cNvSpPr txBox="1"/>
          <p:nvPr/>
        </p:nvSpPr>
        <p:spPr>
          <a:xfrm>
            <a:off x="5276088" y="2176272"/>
            <a:ext cx="1645920" cy="219456"/>
          </a:xfrm>
          <a:prstGeom prst="rect">
            <a:avLst/>
          </a:prstGeom>
          <a:noFill/>
          <a:ln/>
        </p:spPr>
        <p:txBody>
          <a:bodyPr wrap="square" lIns="0" tIns="0" rIns="0" bIns="0" rtlCol="0" anchor="t"/>
          <a:lstStyle/>
          <a:p>
            <a:pPr indent="0" marL="0">
              <a:buNone/>
            </a:pPr>
            <a:r>
              <a:rPr lang="en-US" sz="1100" b="1" dirty="0">
                <a:solidFill>
                  <a:srgbClr val="2F6FDB"/>
                </a:solidFill>
                <a:latin typeface="JetBrains Mono" pitchFamily="34" charset="0"/>
                <a:ea typeface="JetBrains Mono" pitchFamily="34" charset="-122"/>
                <a:cs typeface="JetBrains Mono" pitchFamily="34" charset="-120"/>
              </a:rPr>
              <a:t>M03</a:t>
            </a:r>
            <a:endParaRPr lang="en-US" sz="1100" dirty="0"/>
          </a:p>
        </p:txBody>
      </p:sp>
      <p:sp>
        <p:nvSpPr>
          <p:cNvPr id="21" name="Text 19"/>
          <p:cNvSpPr txBox="1"/>
          <p:nvPr/>
        </p:nvSpPr>
        <p:spPr>
          <a:xfrm>
            <a:off x="5276088" y="2414016"/>
            <a:ext cx="1645920" cy="384048"/>
          </a:xfrm>
          <a:prstGeom prst="rect">
            <a:avLst/>
          </a:prstGeom>
          <a:noFill/>
          <a:ln/>
        </p:spPr>
        <p:txBody>
          <a:bodyPr wrap="square" lIns="0" tIns="0" rIns="0" bIns="0" rtlCol="0" anchor="t"/>
          <a:lstStyle/>
          <a:p>
            <a:pPr indent="0" marL="0">
              <a:buNone/>
            </a:pPr>
            <a:r>
              <a:rPr lang="en-US" sz="2200" b="1" dirty="0">
                <a:solidFill>
                  <a:srgbClr val="1B2430"/>
                </a:solidFill>
                <a:latin typeface="IBM Plex Sans KR" pitchFamily="34" charset="0"/>
                <a:ea typeface="IBM Plex Sans KR" pitchFamily="34" charset="-122"/>
                <a:cs typeface="IBM Plex Sans KR" pitchFamily="34" charset="-120"/>
              </a:rPr>
              <a:t>Spec Kit</a:t>
            </a:r>
            <a:endParaRPr lang="en-US" sz="2200" dirty="0"/>
          </a:p>
        </p:txBody>
      </p:sp>
      <p:sp>
        <p:nvSpPr>
          <p:cNvPr id="22" name="Text 20"/>
          <p:cNvSpPr txBox="1"/>
          <p:nvPr/>
        </p:nvSpPr>
        <p:spPr>
          <a:xfrm>
            <a:off x="5276088" y="2834640"/>
            <a:ext cx="1645920" cy="237744"/>
          </a:xfrm>
          <a:prstGeom prst="rect">
            <a:avLst/>
          </a:prstGeom>
          <a:noFill/>
          <a:ln/>
        </p:spPr>
        <p:txBody>
          <a:bodyPr wrap="square" lIns="0" tIns="0" rIns="0" bIns="0" rtlCol="0" anchor="t"/>
          <a:lstStyle/>
          <a:p>
            <a:pPr indent="0" marL="0">
              <a:buNone/>
            </a:pPr>
            <a:r>
              <a:rPr lang="en-US" sz="1100" dirty="0">
                <a:solidFill>
                  <a:srgbClr val="6B7280"/>
                </a:solidFill>
                <a:latin typeface="Noto Sans KR" pitchFamily="34" charset="0"/>
                <a:ea typeface="Noto Sans KR" pitchFamily="34" charset="-122"/>
                <a:cs typeface="Noto Sans KR" pitchFamily="34" charset="-120"/>
              </a:rPr>
              <a:t>CLI + Claude Code</a:t>
            </a:r>
            <a:endParaRPr lang="en-US" sz="1100" dirty="0"/>
          </a:p>
        </p:txBody>
      </p:sp>
      <p:sp>
        <p:nvSpPr>
          <p:cNvPr id="23" name="Text 21"/>
          <p:cNvSpPr txBox="1"/>
          <p:nvPr/>
        </p:nvSpPr>
        <p:spPr>
          <a:xfrm>
            <a:off x="5276088" y="3182112"/>
            <a:ext cx="1645920" cy="1051560"/>
          </a:xfrm>
          <a:prstGeom prst="rect">
            <a:avLst/>
          </a:prstGeom>
          <a:noFill/>
          <a:ln/>
        </p:spPr>
        <p:txBody>
          <a:bodyPr wrap="square" lIns="0" tIns="0" rIns="0" bIns="0" rtlCol="0" anchor="t"/>
          <a:lstStyle/>
          <a:p>
            <a:pPr indent="0" marL="0">
              <a:buNone/>
            </a:pPr>
            <a:r>
              <a:rPr lang="en-US" sz="1300" dirty="0">
                <a:solidFill>
                  <a:srgbClr val="1B2430"/>
                </a:solidFill>
                <a:latin typeface="Noto Sans KR" pitchFamily="34" charset="0"/>
                <a:ea typeface="Noto Sans KR" pitchFamily="34" charset="-122"/>
                <a:cs typeface="Noto Sans KR" pitchFamily="34" charset="-120"/>
              </a:rPr>
              <a:t>9단계 명령과 품질 관문으로 기능을 꼼꼼하게 설계·검증</a:t>
            </a:r>
            <a:endParaRPr lang="en-US" sz="1300" dirty="0"/>
          </a:p>
        </p:txBody>
      </p:sp>
      <p:sp>
        <p:nvSpPr>
          <p:cNvPr id="24" name="Text 22"/>
          <p:cNvSpPr txBox="1"/>
          <p:nvPr/>
        </p:nvSpPr>
        <p:spPr>
          <a:xfrm>
            <a:off x="5276088" y="4315968"/>
            <a:ext cx="1645920" cy="457200"/>
          </a:xfrm>
          <a:prstGeom prst="rect">
            <a:avLst/>
          </a:prstGeom>
          <a:noFill/>
          <a:ln/>
        </p:spPr>
        <p:txBody>
          <a:bodyPr wrap="square" lIns="0" tIns="0" rIns="0" bIns="0" rtlCol="0" anchor="t"/>
          <a:lstStyle/>
          <a:p>
            <a:pPr indent="0" marL="0">
              <a:buNone/>
            </a:pPr>
            <a:r>
              <a:rPr lang="en-US" sz="1000" dirty="0">
                <a:solidFill>
                  <a:srgbClr val="2F6FDB"/>
                </a:solidFill>
                <a:latin typeface="JetBrains Mono" pitchFamily="34" charset="0"/>
                <a:ea typeface="JetBrains Mono" pitchFamily="34" charset="-122"/>
                <a:cs typeface="JetBrains Mono" pitchFamily="34" charset="-120"/>
              </a:rPr>
              <a:t>/speckit-specify</a:t>
            </a:r>
            <a:endParaRPr lang="en-US" sz="1000" dirty="0"/>
          </a:p>
          <a:p>
            <a:pPr indent="0" marL="0">
              <a:buNone/>
            </a:pPr>
            <a:r>
              <a:rPr lang="en-US" sz="1000" dirty="0">
                <a:solidFill>
                  <a:srgbClr val="2F6FDB"/>
                </a:solidFill>
                <a:latin typeface="JetBrains Mono" pitchFamily="34" charset="0"/>
                <a:ea typeface="JetBrains Mono" pitchFamily="34" charset="-122"/>
                <a:cs typeface="JetBrains Mono" pitchFamily="34" charset="-120"/>
              </a:rPr>
              <a:t>/speckit-converge</a:t>
            </a:r>
            <a:endParaRPr lang="en-US" sz="1000" dirty="0"/>
          </a:p>
        </p:txBody>
      </p:sp>
      <p:sp>
        <p:nvSpPr>
          <p:cNvPr id="25" name="Shape 23"/>
          <p:cNvSpPr/>
          <p:nvPr/>
        </p:nvSpPr>
        <p:spPr>
          <a:xfrm>
            <a:off x="7232904" y="1965960"/>
            <a:ext cx="2011680" cy="365760"/>
          </a:xfrm>
          <a:prstGeom prst="roundRect">
            <a:avLst>
              <a:gd name="adj" fmla="val 20000"/>
            </a:avLst>
          </a:prstGeom>
          <a:solidFill>
            <a:srgbClr val="2E7D4F"/>
          </a:solidFill>
          <a:ln/>
        </p:spPr>
      </p:sp>
      <p:sp>
        <p:nvSpPr>
          <p:cNvPr id="26" name="Shape 24"/>
          <p:cNvSpPr/>
          <p:nvPr/>
        </p:nvSpPr>
        <p:spPr>
          <a:xfrm>
            <a:off x="7232904" y="2020824"/>
            <a:ext cx="2011680" cy="2916936"/>
          </a:xfrm>
          <a:prstGeom prst="roundRect">
            <a:avLst>
              <a:gd name="adj" fmla="val 3636"/>
            </a:avLst>
          </a:prstGeom>
          <a:solidFill>
            <a:srgbClr val="F4F5F7"/>
          </a:solidFill>
          <a:ln/>
        </p:spPr>
      </p:sp>
      <p:sp>
        <p:nvSpPr>
          <p:cNvPr id="27" name="Text 25"/>
          <p:cNvSpPr txBox="1"/>
          <p:nvPr/>
        </p:nvSpPr>
        <p:spPr>
          <a:xfrm>
            <a:off x="7415784" y="2176272"/>
            <a:ext cx="1645920" cy="219456"/>
          </a:xfrm>
          <a:prstGeom prst="rect">
            <a:avLst/>
          </a:prstGeom>
          <a:noFill/>
          <a:ln/>
        </p:spPr>
        <p:txBody>
          <a:bodyPr wrap="square" lIns="0" tIns="0" rIns="0" bIns="0" rtlCol="0" anchor="t"/>
          <a:lstStyle/>
          <a:p>
            <a:pPr indent="0" marL="0">
              <a:buNone/>
            </a:pPr>
            <a:r>
              <a:rPr lang="en-US" sz="1100" b="1" dirty="0">
                <a:solidFill>
                  <a:srgbClr val="2E7D4F"/>
                </a:solidFill>
                <a:latin typeface="JetBrains Mono" pitchFamily="34" charset="0"/>
                <a:ea typeface="JetBrains Mono" pitchFamily="34" charset="-122"/>
                <a:cs typeface="JetBrains Mono" pitchFamily="34" charset="-120"/>
              </a:rPr>
              <a:t>M04</a:t>
            </a:r>
            <a:endParaRPr lang="en-US" sz="1100" dirty="0"/>
          </a:p>
        </p:txBody>
      </p:sp>
      <p:sp>
        <p:nvSpPr>
          <p:cNvPr id="28" name="Text 26"/>
          <p:cNvSpPr txBox="1"/>
          <p:nvPr/>
        </p:nvSpPr>
        <p:spPr>
          <a:xfrm>
            <a:off x="7415784" y="2414016"/>
            <a:ext cx="1645920" cy="384048"/>
          </a:xfrm>
          <a:prstGeom prst="rect">
            <a:avLst/>
          </a:prstGeom>
          <a:noFill/>
          <a:ln/>
        </p:spPr>
        <p:txBody>
          <a:bodyPr wrap="square" lIns="0" tIns="0" rIns="0" bIns="0" rtlCol="0" anchor="t"/>
          <a:lstStyle/>
          <a:p>
            <a:pPr indent="0" marL="0">
              <a:buNone/>
            </a:pPr>
            <a:r>
              <a:rPr lang="en-US" sz="2200" b="1" dirty="0">
                <a:solidFill>
                  <a:srgbClr val="1B2430"/>
                </a:solidFill>
                <a:latin typeface="IBM Plex Sans KR" pitchFamily="34" charset="0"/>
                <a:ea typeface="IBM Plex Sans KR" pitchFamily="34" charset="-122"/>
                <a:cs typeface="IBM Plex Sans KR" pitchFamily="34" charset="-120"/>
              </a:rPr>
              <a:t>GSD</a:t>
            </a:r>
            <a:endParaRPr lang="en-US" sz="2200" dirty="0"/>
          </a:p>
        </p:txBody>
      </p:sp>
      <p:sp>
        <p:nvSpPr>
          <p:cNvPr id="29" name="Text 27"/>
          <p:cNvSpPr txBox="1"/>
          <p:nvPr/>
        </p:nvSpPr>
        <p:spPr>
          <a:xfrm>
            <a:off x="7415784" y="2834640"/>
            <a:ext cx="1645920" cy="237744"/>
          </a:xfrm>
          <a:prstGeom prst="rect">
            <a:avLst/>
          </a:prstGeom>
          <a:noFill/>
          <a:ln/>
        </p:spPr>
        <p:txBody>
          <a:bodyPr wrap="square" lIns="0" tIns="0" rIns="0" bIns="0" rtlCol="0" anchor="t"/>
          <a:lstStyle/>
          <a:p>
            <a:pPr indent="0" marL="0">
              <a:buNone/>
            </a:pPr>
            <a:r>
              <a:rPr lang="en-US" sz="1100" dirty="0">
                <a:solidFill>
                  <a:srgbClr val="6B7280"/>
                </a:solidFill>
                <a:latin typeface="Noto Sans KR" pitchFamily="34" charset="0"/>
                <a:ea typeface="Noto Sans KR" pitchFamily="34" charset="-122"/>
                <a:cs typeface="Noto Sans KR" pitchFamily="34" charset="-120"/>
              </a:rPr>
              <a:t>명령 + 서브에이전트</a:t>
            </a:r>
            <a:endParaRPr lang="en-US" sz="1100" dirty="0"/>
          </a:p>
        </p:txBody>
      </p:sp>
      <p:sp>
        <p:nvSpPr>
          <p:cNvPr id="30" name="Text 28"/>
          <p:cNvSpPr txBox="1"/>
          <p:nvPr/>
        </p:nvSpPr>
        <p:spPr>
          <a:xfrm>
            <a:off x="7415784" y="3182112"/>
            <a:ext cx="1645920" cy="1051560"/>
          </a:xfrm>
          <a:prstGeom prst="rect">
            <a:avLst/>
          </a:prstGeom>
          <a:noFill/>
          <a:ln/>
        </p:spPr>
        <p:txBody>
          <a:bodyPr wrap="square" lIns="0" tIns="0" rIns="0" bIns="0" rtlCol="0" anchor="t"/>
          <a:lstStyle/>
          <a:p>
            <a:pPr indent="0" marL="0">
              <a:buNone/>
            </a:pPr>
            <a:r>
              <a:rPr lang="en-US" sz="1300" dirty="0">
                <a:solidFill>
                  <a:srgbClr val="1B2430"/>
                </a:solidFill>
                <a:latin typeface="Noto Sans KR" pitchFamily="34" charset="0"/>
                <a:ea typeface="Noto Sans KR" pitchFamily="34" charset="-122"/>
                <a:cs typeface="Noto Sans KR" pitchFamily="34" charset="-120"/>
              </a:rPr>
              <a:t>새 컨텍스트의 서브에이전트로 단계 루프를 돌며 품질 유지</a:t>
            </a:r>
            <a:endParaRPr lang="en-US" sz="1300" dirty="0"/>
          </a:p>
        </p:txBody>
      </p:sp>
      <p:sp>
        <p:nvSpPr>
          <p:cNvPr id="31" name="Text 29"/>
          <p:cNvSpPr txBox="1"/>
          <p:nvPr/>
        </p:nvSpPr>
        <p:spPr>
          <a:xfrm>
            <a:off x="7415784" y="4315968"/>
            <a:ext cx="1645920" cy="457200"/>
          </a:xfrm>
          <a:prstGeom prst="rect">
            <a:avLst/>
          </a:prstGeom>
          <a:noFill/>
          <a:ln/>
        </p:spPr>
        <p:txBody>
          <a:bodyPr wrap="square" lIns="0" tIns="0" rIns="0" bIns="0" rtlCol="0" anchor="t"/>
          <a:lstStyle/>
          <a:p>
            <a:pPr indent="0" marL="0">
              <a:buNone/>
            </a:pPr>
            <a:r>
              <a:rPr lang="en-US" sz="1000" dirty="0">
                <a:solidFill>
                  <a:srgbClr val="2E7D4F"/>
                </a:solidFill>
                <a:latin typeface="JetBrains Mono" pitchFamily="34" charset="0"/>
                <a:ea typeface="JetBrains Mono" pitchFamily="34" charset="-122"/>
                <a:cs typeface="JetBrains Mono" pitchFamily="34" charset="-120"/>
              </a:rPr>
              <a:t>/gsd-plan-phase</a:t>
            </a:r>
            <a:endParaRPr lang="en-US" sz="1000" dirty="0"/>
          </a:p>
          <a:p>
            <a:pPr indent="0" marL="0">
              <a:buNone/>
            </a:pPr>
            <a:r>
              <a:rPr lang="en-US" sz="1000" dirty="0">
                <a:solidFill>
                  <a:srgbClr val="2E7D4F"/>
                </a:solidFill>
                <a:latin typeface="JetBrains Mono" pitchFamily="34" charset="0"/>
                <a:ea typeface="JetBrains Mono" pitchFamily="34" charset="-122"/>
                <a:cs typeface="JetBrains Mono" pitchFamily="34" charset="-120"/>
              </a:rPr>
              <a:t>/gsd-verify-work</a:t>
            </a:r>
            <a:endParaRPr lang="en-US" sz="1000" dirty="0"/>
          </a:p>
        </p:txBody>
      </p:sp>
      <p:sp>
        <p:nvSpPr>
          <p:cNvPr id="32" name="Shape 30"/>
          <p:cNvSpPr/>
          <p:nvPr/>
        </p:nvSpPr>
        <p:spPr>
          <a:xfrm>
            <a:off x="9372600" y="1965960"/>
            <a:ext cx="2011680" cy="365760"/>
          </a:xfrm>
          <a:prstGeom prst="roundRect">
            <a:avLst>
              <a:gd name="adj" fmla="val 20000"/>
            </a:avLst>
          </a:prstGeom>
          <a:solidFill>
            <a:srgbClr val="B8336A"/>
          </a:solidFill>
          <a:ln/>
        </p:spPr>
      </p:sp>
      <p:sp>
        <p:nvSpPr>
          <p:cNvPr id="33" name="Shape 31"/>
          <p:cNvSpPr/>
          <p:nvPr/>
        </p:nvSpPr>
        <p:spPr>
          <a:xfrm>
            <a:off x="9372600" y="2020824"/>
            <a:ext cx="2011680" cy="2916936"/>
          </a:xfrm>
          <a:prstGeom prst="roundRect">
            <a:avLst>
              <a:gd name="adj" fmla="val 3636"/>
            </a:avLst>
          </a:prstGeom>
          <a:solidFill>
            <a:srgbClr val="F4F5F7"/>
          </a:solidFill>
          <a:ln/>
        </p:spPr>
      </p:sp>
      <p:sp>
        <p:nvSpPr>
          <p:cNvPr id="34" name="Text 32"/>
          <p:cNvSpPr txBox="1"/>
          <p:nvPr/>
        </p:nvSpPr>
        <p:spPr>
          <a:xfrm>
            <a:off x="9555480" y="2176272"/>
            <a:ext cx="1645920" cy="219456"/>
          </a:xfrm>
          <a:prstGeom prst="rect">
            <a:avLst/>
          </a:prstGeom>
          <a:noFill/>
          <a:ln/>
        </p:spPr>
        <p:txBody>
          <a:bodyPr wrap="square" lIns="0" tIns="0" rIns="0" bIns="0" rtlCol="0" anchor="t"/>
          <a:lstStyle/>
          <a:p>
            <a:pPr indent="0" marL="0">
              <a:buNone/>
            </a:pPr>
            <a:r>
              <a:rPr lang="en-US" sz="1100" b="1" dirty="0">
                <a:solidFill>
                  <a:srgbClr val="B8336A"/>
                </a:solidFill>
                <a:latin typeface="JetBrains Mono" pitchFamily="34" charset="0"/>
                <a:ea typeface="JetBrains Mono" pitchFamily="34" charset="-122"/>
                <a:cs typeface="JetBrains Mono" pitchFamily="34" charset="-120"/>
              </a:rPr>
              <a:t>M05</a:t>
            </a:r>
            <a:endParaRPr lang="en-US" sz="1100" dirty="0"/>
          </a:p>
        </p:txBody>
      </p:sp>
      <p:sp>
        <p:nvSpPr>
          <p:cNvPr id="35" name="Text 33"/>
          <p:cNvSpPr txBox="1"/>
          <p:nvPr/>
        </p:nvSpPr>
        <p:spPr>
          <a:xfrm>
            <a:off x="9555480" y="2414016"/>
            <a:ext cx="1645920" cy="384048"/>
          </a:xfrm>
          <a:prstGeom prst="rect">
            <a:avLst/>
          </a:prstGeom>
          <a:noFill/>
          <a:ln/>
        </p:spPr>
        <p:txBody>
          <a:bodyPr wrap="square" lIns="0" tIns="0" rIns="0" bIns="0" rtlCol="0" anchor="t"/>
          <a:lstStyle/>
          <a:p>
            <a:pPr indent="0" marL="0">
              <a:buNone/>
            </a:pPr>
            <a:r>
              <a:rPr lang="en-US" sz="2200" b="1" dirty="0">
                <a:solidFill>
                  <a:srgbClr val="1B2430"/>
                </a:solidFill>
                <a:latin typeface="IBM Plex Sans KR" pitchFamily="34" charset="0"/>
                <a:ea typeface="IBM Plex Sans KR" pitchFamily="34" charset="-122"/>
                <a:cs typeface="IBM Plex Sans KR" pitchFamily="34" charset="-120"/>
              </a:rPr>
              <a:t>BMAD</a:t>
            </a:r>
            <a:endParaRPr lang="en-US" sz="2200" dirty="0"/>
          </a:p>
        </p:txBody>
      </p:sp>
      <p:sp>
        <p:nvSpPr>
          <p:cNvPr id="36" name="Text 34"/>
          <p:cNvSpPr txBox="1"/>
          <p:nvPr/>
        </p:nvSpPr>
        <p:spPr>
          <a:xfrm>
            <a:off x="9555480" y="2834640"/>
            <a:ext cx="1645920" cy="237744"/>
          </a:xfrm>
          <a:prstGeom prst="rect">
            <a:avLst/>
          </a:prstGeom>
          <a:noFill/>
          <a:ln/>
        </p:spPr>
        <p:txBody>
          <a:bodyPr wrap="square" lIns="0" tIns="0" rIns="0" bIns="0" rtlCol="0" anchor="t"/>
          <a:lstStyle/>
          <a:p>
            <a:pPr indent="0" marL="0">
              <a:buNone/>
            </a:pPr>
            <a:r>
              <a:rPr lang="en-US" sz="1100" dirty="0">
                <a:solidFill>
                  <a:srgbClr val="6B7280"/>
                </a:solidFill>
                <a:latin typeface="Noto Sans KR" pitchFamily="34" charset="0"/>
                <a:ea typeface="Noto Sans KR" pitchFamily="34" charset="-122"/>
                <a:cs typeface="Noto Sans KR" pitchFamily="34" charset="-120"/>
              </a:rPr>
              <a:t>스킬 + 역할 에이전트</a:t>
            </a:r>
            <a:endParaRPr lang="en-US" sz="1100" dirty="0"/>
          </a:p>
        </p:txBody>
      </p:sp>
      <p:sp>
        <p:nvSpPr>
          <p:cNvPr id="37" name="Text 35"/>
          <p:cNvSpPr txBox="1"/>
          <p:nvPr/>
        </p:nvSpPr>
        <p:spPr>
          <a:xfrm>
            <a:off x="9555480" y="3182112"/>
            <a:ext cx="1645920" cy="1051560"/>
          </a:xfrm>
          <a:prstGeom prst="rect">
            <a:avLst/>
          </a:prstGeom>
          <a:noFill/>
          <a:ln/>
        </p:spPr>
        <p:txBody>
          <a:bodyPr wrap="square" lIns="0" tIns="0" rIns="0" bIns="0" rtlCol="0" anchor="t"/>
          <a:lstStyle/>
          <a:p>
            <a:pPr indent="0" marL="0">
              <a:buNone/>
            </a:pPr>
            <a:r>
              <a:rPr lang="en-US" sz="1300" dirty="0">
                <a:solidFill>
                  <a:srgbClr val="1B2430"/>
                </a:solidFill>
                <a:latin typeface="Noto Sans KR" pitchFamily="34" charset="0"/>
                <a:ea typeface="Noto Sans KR" pitchFamily="34" charset="-122"/>
                <a:cs typeface="Noto Sans KR" pitchFamily="34" charset="-120"/>
              </a:rPr>
              <a:t>일의 크기에 맞게 계획하고, 리뷰를 구현 안에 넣는다</a:t>
            </a:r>
            <a:endParaRPr lang="en-US" sz="1300" dirty="0"/>
          </a:p>
        </p:txBody>
      </p:sp>
      <p:sp>
        <p:nvSpPr>
          <p:cNvPr id="38" name="Text 36"/>
          <p:cNvSpPr txBox="1"/>
          <p:nvPr/>
        </p:nvSpPr>
        <p:spPr>
          <a:xfrm>
            <a:off x="9555480" y="4315968"/>
            <a:ext cx="1645920" cy="457200"/>
          </a:xfrm>
          <a:prstGeom prst="rect">
            <a:avLst/>
          </a:prstGeom>
          <a:noFill/>
          <a:ln/>
        </p:spPr>
        <p:txBody>
          <a:bodyPr wrap="square" lIns="0" tIns="0" rIns="0" bIns="0" rtlCol="0" anchor="t"/>
          <a:lstStyle/>
          <a:p>
            <a:pPr indent="0" marL="0">
              <a:buNone/>
            </a:pPr>
            <a:r>
              <a:rPr lang="en-US" sz="1000" dirty="0">
                <a:solidFill>
                  <a:srgbClr val="B8336A"/>
                </a:solidFill>
                <a:latin typeface="JetBrains Mono" pitchFamily="34" charset="0"/>
                <a:ea typeface="JetBrains Mono" pitchFamily="34" charset="-122"/>
                <a:cs typeface="JetBrains Mono" pitchFamily="34" charset="-120"/>
              </a:rPr>
              <a:t>/bmad-spec</a:t>
            </a:r>
            <a:endParaRPr lang="en-US" sz="1000" dirty="0"/>
          </a:p>
          <a:p>
            <a:pPr indent="0" marL="0">
              <a:buNone/>
            </a:pPr>
            <a:r>
              <a:rPr lang="en-US" sz="1000" dirty="0">
                <a:solidFill>
                  <a:srgbClr val="B8336A"/>
                </a:solidFill>
                <a:latin typeface="JetBrains Mono" pitchFamily="34" charset="0"/>
                <a:ea typeface="JetBrains Mono" pitchFamily="34" charset="-122"/>
                <a:cs typeface="JetBrains Mono" pitchFamily="34" charset="-120"/>
              </a:rPr>
              <a:t>/bmad-build</a:t>
            </a:r>
            <a:endParaRPr lang="en-US" sz="1000" dirty="0"/>
          </a:p>
        </p:txBody>
      </p:sp>
      <p:sp>
        <p:nvSpPr>
          <p:cNvPr id="39" name="Shape 37"/>
          <p:cNvSpPr/>
          <p:nvPr/>
        </p:nvSpPr>
        <p:spPr>
          <a:xfrm>
            <a:off x="813816" y="5120640"/>
            <a:ext cx="6291072" cy="777240"/>
          </a:xfrm>
          <a:prstGeom prst="roundRect">
            <a:avLst>
              <a:gd name="adj" fmla="val 9412"/>
            </a:avLst>
          </a:prstGeom>
          <a:solidFill>
            <a:srgbClr val="F1F3F6"/>
          </a:solidFill>
          <a:ln/>
        </p:spPr>
      </p:sp>
      <p:sp>
        <p:nvSpPr>
          <p:cNvPr id="40" name="Text 38"/>
          <p:cNvSpPr txBox="1"/>
          <p:nvPr/>
        </p:nvSpPr>
        <p:spPr>
          <a:xfrm>
            <a:off x="1042416" y="5120640"/>
            <a:ext cx="5833872" cy="777240"/>
          </a:xfrm>
          <a:prstGeom prst="rect">
            <a:avLst/>
          </a:prstGeom>
          <a:noFill/>
          <a:ln/>
        </p:spPr>
        <p:txBody>
          <a:bodyPr wrap="square" lIns="0" tIns="0" rIns="0" bIns="0" rtlCol="0" anchor="ctr"/>
          <a:lstStyle/>
          <a:p>
            <a:pPr indent="0" marL="0">
              <a:buNone/>
            </a:pPr>
            <a:r>
              <a:rPr lang="en-US" sz="1300" b="1" dirty="0">
                <a:solidFill>
                  <a:srgbClr val="1B2430"/>
                </a:solidFill>
                <a:latin typeface="Noto Sans KR" pitchFamily="34" charset="0"/>
                <a:ea typeface="Noto Sans KR" pitchFamily="34" charset="-122"/>
                <a:cs typeface="Noto Sans KR" pitchFamily="34" charset="-120"/>
              </a:rPr>
              <a:t>명세 문서를 잘 쓰는 데 집중
</a:t>
            </a:r>
            <a:pPr indent="0" marL="0">
              <a:buNone/>
            </a:pPr>
            <a:r>
              <a:rPr lang="en-US" sz="1300" dirty="0">
                <a:solidFill>
                  <a:srgbClr val="4A5568"/>
                </a:solidFill>
                <a:latin typeface="Noto Sans KR" pitchFamily="34" charset="0"/>
                <a:ea typeface="Noto Sans KR" pitchFamily="34" charset="-122"/>
                <a:cs typeface="Noto Sans KR" pitchFamily="34" charset="-120"/>
              </a:rPr>
              <a:t>규칙 · 요구사항 · 설계 · 작업 문서의 형식과 수명</a:t>
            </a:r>
            <a:endParaRPr lang="en-US" sz="1300" dirty="0"/>
          </a:p>
        </p:txBody>
      </p:sp>
      <p:sp>
        <p:nvSpPr>
          <p:cNvPr id="41" name="Shape 39"/>
          <p:cNvSpPr/>
          <p:nvPr/>
        </p:nvSpPr>
        <p:spPr>
          <a:xfrm>
            <a:off x="7232904" y="5120640"/>
            <a:ext cx="4151376" cy="777240"/>
          </a:xfrm>
          <a:prstGeom prst="roundRect">
            <a:avLst>
              <a:gd name="adj" fmla="val 9412"/>
            </a:avLst>
          </a:prstGeom>
          <a:solidFill>
            <a:srgbClr val="1B2430"/>
          </a:solidFill>
          <a:ln/>
        </p:spPr>
      </p:sp>
      <p:sp>
        <p:nvSpPr>
          <p:cNvPr id="42" name="Text 40"/>
          <p:cNvSpPr txBox="1"/>
          <p:nvPr/>
        </p:nvSpPr>
        <p:spPr>
          <a:xfrm>
            <a:off x="7461504" y="5120640"/>
            <a:ext cx="3694176" cy="777240"/>
          </a:xfrm>
          <a:prstGeom prst="rect">
            <a:avLst/>
          </a:prstGeom>
          <a:noFill/>
          <a:ln/>
        </p:spPr>
        <p:txBody>
          <a:bodyPr wrap="square" lIns="0" tIns="0" rIns="0" bIns="0" rtlCol="0" anchor="ctr"/>
          <a:lstStyle/>
          <a:p>
            <a:pPr indent="0" marL="0">
              <a:buNone/>
            </a:pPr>
            <a:r>
              <a:rPr lang="en-US" sz="1300" b="1" dirty="0">
                <a:solidFill>
                  <a:srgbClr val="FFFFFF"/>
                </a:solidFill>
                <a:latin typeface="Noto Sans KR" pitchFamily="34" charset="0"/>
                <a:ea typeface="Noto Sans KR" pitchFamily="34" charset="-122"/>
                <a:cs typeface="Noto Sans KR" pitchFamily="34" charset="-120"/>
              </a:rPr>
              <a:t>AI가 일하는 방식까지 관리
</a:t>
            </a:r>
            <a:pPr indent="0" marL="0">
              <a:buNone/>
            </a:pPr>
            <a:r>
              <a:rPr lang="en-US" sz="1300" dirty="0">
                <a:solidFill>
                  <a:srgbClr val="C9D2DE"/>
                </a:solidFill>
                <a:latin typeface="Noto Sans KR" pitchFamily="34" charset="0"/>
                <a:ea typeface="Noto Sans KR" pitchFamily="34" charset="-122"/>
                <a:cs typeface="Noto Sans KR" pitchFamily="34" charset="-120"/>
              </a:rPr>
              <a:t>컨텍스트 · 역할 분담 · 리뷰 · 커밋</a:t>
            </a:r>
            <a:endParaRPr lang="en-US" sz="1300" dirty="0"/>
          </a:p>
        </p:txBody>
      </p:sp>
      <p:sp>
        <p:nvSpPr>
          <p:cNvPr id="43" name="Text 41"/>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4 / 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7A4CC2"/>
                </a:solidFill>
                <a:latin typeface="Noto Sans KR" pitchFamily="34" charset="0"/>
                <a:ea typeface="Noto Sans KR" pitchFamily="34" charset="-122"/>
                <a:cs typeface="Noto Sans KR" pitchFamily="34" charset="-120"/>
              </a:rPr>
              <a:t>M01 · KIRO (AWS)</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IDE 안에서 규칙부터 작업까지</a:t>
            </a:r>
            <a:endParaRPr lang="en-US" sz="3200" dirty="0"/>
          </a:p>
        </p:txBody>
      </p:sp>
      <p:sp>
        <p:nvSpPr>
          <p:cNvPr id="4" name="Shape 2"/>
          <p:cNvSpPr/>
          <p:nvPr/>
        </p:nvSpPr>
        <p:spPr>
          <a:xfrm>
            <a:off x="813816" y="1965960"/>
            <a:ext cx="5212080" cy="850392"/>
          </a:xfrm>
          <a:prstGeom prst="roundRect">
            <a:avLst>
              <a:gd name="adj" fmla="val 8602"/>
            </a:avLst>
          </a:prstGeom>
          <a:solidFill>
            <a:srgbClr val="F4F5F7"/>
          </a:solidFill>
          <a:ln/>
        </p:spPr>
      </p:sp>
      <p:sp>
        <p:nvSpPr>
          <p:cNvPr id="5" name="Shape 3"/>
          <p:cNvSpPr/>
          <p:nvPr/>
        </p:nvSpPr>
        <p:spPr>
          <a:xfrm>
            <a:off x="1014984" y="2167128"/>
            <a:ext cx="438912" cy="438912"/>
          </a:xfrm>
          <a:prstGeom prst="ellipse">
            <a:avLst/>
          </a:prstGeom>
          <a:solidFill>
            <a:srgbClr val="7A4CC2"/>
          </a:solidFill>
          <a:ln/>
        </p:spPr>
      </p:sp>
      <p:sp>
        <p:nvSpPr>
          <p:cNvPr id="6" name="Text 4"/>
          <p:cNvSpPr txBox="1"/>
          <p:nvPr/>
        </p:nvSpPr>
        <p:spPr>
          <a:xfrm>
            <a:off x="1014984" y="216712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①</a:t>
            </a:r>
            <a:endParaRPr lang="en-US" sz="1600" dirty="0"/>
          </a:p>
        </p:txBody>
      </p:sp>
      <p:sp>
        <p:nvSpPr>
          <p:cNvPr id="7" name="Text 5"/>
          <p:cNvSpPr txBox="1"/>
          <p:nvPr/>
        </p:nvSpPr>
        <p:spPr>
          <a:xfrm>
            <a:off x="1682496" y="2112264"/>
            <a:ext cx="4206240" cy="292608"/>
          </a:xfrm>
          <a:prstGeom prst="rect">
            <a:avLst/>
          </a:prstGeom>
          <a:noFill/>
          <a:ln/>
        </p:spPr>
        <p:txBody>
          <a:bodyPr wrap="square" lIns="0" tIns="0" rIns="0" bIns="0" rtlCol="0" anchor="t"/>
          <a:lstStyle/>
          <a:p>
            <a:pPr indent="0" marL="0">
              <a:buNone/>
            </a:pPr>
            <a:r>
              <a:rPr lang="en-US" sz="1500" b="1" dirty="0">
                <a:solidFill>
                  <a:srgbClr val="1B2430"/>
                </a:solidFill>
                <a:latin typeface="JetBrains Mono" pitchFamily="34" charset="0"/>
                <a:ea typeface="JetBrains Mono" pitchFamily="34" charset="-122"/>
                <a:cs typeface="JetBrains Mono" pitchFamily="34" charset="-120"/>
              </a:rPr>
              <a:t>Steering</a:t>
            </a:r>
            <a:pPr indent="0" marL="0">
              <a:buNone/>
            </a:pPr>
            <a:r>
              <a:rPr lang="en-US" sz="1200" dirty="0">
                <a:solidFill>
                  <a:srgbClr val="7A4CC2"/>
                </a:solidFill>
                <a:latin typeface="Noto Sans KR" pitchFamily="34" charset="0"/>
                <a:ea typeface="Noto Sans KR" pitchFamily="34" charset="-122"/>
                <a:cs typeface="Noto Sans KR" pitchFamily="34" charset="-120"/>
              </a:rPr>
              <a:t>   product · tech · structure.md</a:t>
            </a:r>
            <a:endParaRPr lang="en-US" sz="1400" dirty="0"/>
          </a:p>
        </p:txBody>
      </p:sp>
      <p:sp>
        <p:nvSpPr>
          <p:cNvPr id="8" name="Text 6"/>
          <p:cNvSpPr txBox="1"/>
          <p:nvPr/>
        </p:nvSpPr>
        <p:spPr>
          <a:xfrm>
            <a:off x="1682496" y="2441448"/>
            <a:ext cx="4206240" cy="256032"/>
          </a:xfrm>
          <a:prstGeom prst="rect">
            <a:avLst/>
          </a:prstGeom>
          <a:noFill/>
          <a:ln/>
        </p:spPr>
        <p:txBody>
          <a:bodyPr wrap="square" lIns="0" tIns="0" rIns="0" bIns="0" rtlCol="0" anchor="t"/>
          <a:lstStyle/>
          <a:p>
            <a:pPr indent="0" marL="0">
              <a:buNone/>
            </a:pPr>
            <a:r>
              <a:rPr lang="en-US" sz="1300" dirty="0">
                <a:solidFill>
                  <a:srgbClr val="4A5568"/>
                </a:solidFill>
                <a:latin typeface="Noto Sans KR" pitchFamily="34" charset="0"/>
                <a:ea typeface="Noto Sans KR" pitchFamily="34" charset="-122"/>
                <a:cs typeface="Noto Sans KR" pitchFamily="34" charset="-120"/>
              </a:rPr>
              <a:t>AI에게 항상 알려 주는 프로젝트 규칙</a:t>
            </a:r>
            <a:endParaRPr lang="en-US" sz="1300" dirty="0"/>
          </a:p>
        </p:txBody>
      </p:sp>
      <p:sp>
        <p:nvSpPr>
          <p:cNvPr id="9" name="Shape 7"/>
          <p:cNvSpPr/>
          <p:nvPr/>
        </p:nvSpPr>
        <p:spPr>
          <a:xfrm>
            <a:off x="813816" y="2944368"/>
            <a:ext cx="5212080" cy="850392"/>
          </a:xfrm>
          <a:prstGeom prst="roundRect">
            <a:avLst>
              <a:gd name="adj" fmla="val 8602"/>
            </a:avLst>
          </a:prstGeom>
          <a:solidFill>
            <a:srgbClr val="F4F5F7"/>
          </a:solidFill>
          <a:ln/>
        </p:spPr>
      </p:sp>
      <p:sp>
        <p:nvSpPr>
          <p:cNvPr id="10" name="Shape 8"/>
          <p:cNvSpPr/>
          <p:nvPr/>
        </p:nvSpPr>
        <p:spPr>
          <a:xfrm>
            <a:off x="1014984" y="3145536"/>
            <a:ext cx="438912" cy="438912"/>
          </a:xfrm>
          <a:prstGeom prst="ellipse">
            <a:avLst/>
          </a:prstGeom>
          <a:solidFill>
            <a:srgbClr val="7A4CC2"/>
          </a:solidFill>
          <a:ln/>
        </p:spPr>
      </p:sp>
      <p:sp>
        <p:nvSpPr>
          <p:cNvPr id="11" name="Text 9"/>
          <p:cNvSpPr txBox="1"/>
          <p:nvPr/>
        </p:nvSpPr>
        <p:spPr>
          <a:xfrm>
            <a:off x="1014984" y="314553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②</a:t>
            </a:r>
            <a:endParaRPr lang="en-US" sz="1600" dirty="0"/>
          </a:p>
        </p:txBody>
      </p:sp>
      <p:sp>
        <p:nvSpPr>
          <p:cNvPr id="12" name="Text 10"/>
          <p:cNvSpPr txBox="1"/>
          <p:nvPr/>
        </p:nvSpPr>
        <p:spPr>
          <a:xfrm>
            <a:off x="1682496" y="3090672"/>
            <a:ext cx="4206240" cy="292608"/>
          </a:xfrm>
          <a:prstGeom prst="rect">
            <a:avLst/>
          </a:prstGeom>
          <a:noFill/>
          <a:ln/>
        </p:spPr>
        <p:txBody>
          <a:bodyPr wrap="square" lIns="0" tIns="0" rIns="0" bIns="0" rtlCol="0" anchor="t"/>
          <a:lstStyle/>
          <a:p>
            <a:pPr indent="0" marL="0">
              <a:buNone/>
            </a:pPr>
            <a:r>
              <a:rPr lang="en-US" sz="1500" b="1" dirty="0">
                <a:solidFill>
                  <a:srgbClr val="1B2430"/>
                </a:solidFill>
                <a:latin typeface="JetBrains Mono" pitchFamily="34" charset="0"/>
                <a:ea typeface="JetBrains Mono" pitchFamily="34" charset="-122"/>
                <a:cs typeface="JetBrains Mono" pitchFamily="34" charset="-120"/>
              </a:rPr>
              <a:t>requirements.md</a:t>
            </a:r>
            <a:pPr indent="0" marL="0">
              <a:buNone/>
            </a:pPr>
            <a:r>
              <a:rPr lang="en-US" sz="1200" dirty="0">
                <a:solidFill>
                  <a:srgbClr val="7A4CC2"/>
                </a:solidFill>
                <a:latin typeface="Noto Sans KR" pitchFamily="34" charset="0"/>
                <a:ea typeface="Noto Sans KR" pitchFamily="34" charset="-122"/>
                <a:cs typeface="Noto Sans KR" pitchFamily="34" charset="-120"/>
              </a:rPr>
              <a:t>   EARS 형식 인수 조건</a:t>
            </a:r>
            <a:endParaRPr lang="en-US" sz="1400" dirty="0"/>
          </a:p>
        </p:txBody>
      </p:sp>
      <p:sp>
        <p:nvSpPr>
          <p:cNvPr id="13" name="Text 11"/>
          <p:cNvSpPr txBox="1"/>
          <p:nvPr/>
        </p:nvSpPr>
        <p:spPr>
          <a:xfrm>
            <a:off x="1682496" y="3419856"/>
            <a:ext cx="4206240" cy="256032"/>
          </a:xfrm>
          <a:prstGeom prst="rect">
            <a:avLst/>
          </a:prstGeom>
          <a:noFill/>
          <a:ln/>
        </p:spPr>
        <p:txBody>
          <a:bodyPr wrap="square" lIns="0" tIns="0" rIns="0" bIns="0" rtlCol="0" anchor="t"/>
          <a:lstStyle/>
          <a:p>
            <a:pPr indent="0" marL="0">
              <a:buNone/>
            </a:pPr>
            <a:r>
              <a:rPr lang="en-US" sz="1300" dirty="0">
                <a:solidFill>
                  <a:srgbClr val="4A5568"/>
                </a:solidFill>
                <a:latin typeface="Noto Sans KR" pitchFamily="34" charset="0"/>
                <a:ea typeface="Noto Sans KR" pitchFamily="34" charset="-122"/>
                <a:cs typeface="Noto Sans KR" pitchFamily="34" charset="-120"/>
              </a:rPr>
              <a:t>사람이 검토하고 승인</a:t>
            </a:r>
            <a:endParaRPr lang="en-US" sz="1300" dirty="0"/>
          </a:p>
        </p:txBody>
      </p:sp>
      <p:sp>
        <p:nvSpPr>
          <p:cNvPr id="14" name="Shape 12"/>
          <p:cNvSpPr/>
          <p:nvPr/>
        </p:nvSpPr>
        <p:spPr>
          <a:xfrm>
            <a:off x="813816" y="3922776"/>
            <a:ext cx="5212080" cy="850392"/>
          </a:xfrm>
          <a:prstGeom prst="roundRect">
            <a:avLst>
              <a:gd name="adj" fmla="val 8602"/>
            </a:avLst>
          </a:prstGeom>
          <a:solidFill>
            <a:srgbClr val="F4F5F7"/>
          </a:solidFill>
          <a:ln/>
        </p:spPr>
      </p:sp>
      <p:sp>
        <p:nvSpPr>
          <p:cNvPr id="15" name="Shape 13"/>
          <p:cNvSpPr/>
          <p:nvPr/>
        </p:nvSpPr>
        <p:spPr>
          <a:xfrm>
            <a:off x="1014984" y="4123944"/>
            <a:ext cx="438912" cy="438912"/>
          </a:xfrm>
          <a:prstGeom prst="ellipse">
            <a:avLst/>
          </a:prstGeom>
          <a:solidFill>
            <a:srgbClr val="7A4CC2"/>
          </a:solidFill>
          <a:ln/>
        </p:spPr>
      </p:sp>
      <p:sp>
        <p:nvSpPr>
          <p:cNvPr id="16" name="Text 14"/>
          <p:cNvSpPr txBox="1"/>
          <p:nvPr/>
        </p:nvSpPr>
        <p:spPr>
          <a:xfrm>
            <a:off x="1014984" y="412394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③</a:t>
            </a:r>
            <a:endParaRPr lang="en-US" sz="1600" dirty="0"/>
          </a:p>
        </p:txBody>
      </p:sp>
      <p:sp>
        <p:nvSpPr>
          <p:cNvPr id="17" name="Text 15"/>
          <p:cNvSpPr txBox="1"/>
          <p:nvPr/>
        </p:nvSpPr>
        <p:spPr>
          <a:xfrm>
            <a:off x="1682496" y="4069080"/>
            <a:ext cx="4206240" cy="292608"/>
          </a:xfrm>
          <a:prstGeom prst="rect">
            <a:avLst/>
          </a:prstGeom>
          <a:noFill/>
          <a:ln/>
        </p:spPr>
        <p:txBody>
          <a:bodyPr wrap="square" lIns="0" tIns="0" rIns="0" bIns="0" rtlCol="0" anchor="t"/>
          <a:lstStyle/>
          <a:p>
            <a:pPr indent="0" marL="0">
              <a:buNone/>
            </a:pPr>
            <a:r>
              <a:rPr lang="en-US" sz="1500" b="1" dirty="0">
                <a:solidFill>
                  <a:srgbClr val="1B2430"/>
                </a:solidFill>
                <a:latin typeface="JetBrains Mono" pitchFamily="34" charset="0"/>
                <a:ea typeface="JetBrains Mono" pitchFamily="34" charset="-122"/>
                <a:cs typeface="JetBrains Mono" pitchFamily="34" charset="-120"/>
              </a:rPr>
              <a:t>design.md</a:t>
            </a:r>
            <a:pPr indent="0" marL="0">
              <a:buNone/>
            </a:pPr>
            <a:r>
              <a:rPr lang="en-US" sz="1200" dirty="0">
                <a:solidFill>
                  <a:srgbClr val="7A4CC2"/>
                </a:solidFill>
                <a:latin typeface="Noto Sans KR" pitchFamily="34" charset="0"/>
                <a:ea typeface="Noto Sans KR" pitchFamily="34" charset="-122"/>
                <a:cs typeface="Noto Sans KR" pitchFamily="34" charset="-120"/>
              </a:rPr>
              <a:t>   구조 · 데이터 · 테스트 전략</a:t>
            </a:r>
            <a:endParaRPr lang="en-US" sz="1400" dirty="0"/>
          </a:p>
        </p:txBody>
      </p:sp>
      <p:sp>
        <p:nvSpPr>
          <p:cNvPr id="18" name="Text 16"/>
          <p:cNvSpPr txBox="1"/>
          <p:nvPr/>
        </p:nvSpPr>
        <p:spPr>
          <a:xfrm>
            <a:off x="1682496" y="4398264"/>
            <a:ext cx="4206240" cy="256032"/>
          </a:xfrm>
          <a:prstGeom prst="rect">
            <a:avLst/>
          </a:prstGeom>
          <a:noFill/>
          <a:ln/>
        </p:spPr>
        <p:txBody>
          <a:bodyPr wrap="square" lIns="0" tIns="0" rIns="0" bIns="0" rtlCol="0" anchor="t"/>
          <a:lstStyle/>
          <a:p>
            <a:pPr indent="0" marL="0">
              <a:buNone/>
            </a:pPr>
            <a:r>
              <a:rPr lang="en-US" sz="1300" dirty="0">
                <a:solidFill>
                  <a:srgbClr val="4A5568"/>
                </a:solidFill>
                <a:latin typeface="Noto Sans KR" pitchFamily="34" charset="0"/>
                <a:ea typeface="Noto Sans KR" pitchFamily="34" charset="-122"/>
                <a:cs typeface="Noto Sans KR" pitchFamily="34" charset="-120"/>
              </a:rPr>
              <a:t>사람이 검토하고 승인</a:t>
            </a:r>
            <a:endParaRPr lang="en-US" sz="1300" dirty="0"/>
          </a:p>
        </p:txBody>
      </p:sp>
      <p:sp>
        <p:nvSpPr>
          <p:cNvPr id="19" name="Shape 17"/>
          <p:cNvSpPr/>
          <p:nvPr/>
        </p:nvSpPr>
        <p:spPr>
          <a:xfrm>
            <a:off x="813816" y="4901184"/>
            <a:ext cx="5212080" cy="850392"/>
          </a:xfrm>
          <a:prstGeom prst="roundRect">
            <a:avLst>
              <a:gd name="adj" fmla="val 8602"/>
            </a:avLst>
          </a:prstGeom>
          <a:solidFill>
            <a:srgbClr val="F4F5F7"/>
          </a:solidFill>
          <a:ln/>
        </p:spPr>
      </p:sp>
      <p:sp>
        <p:nvSpPr>
          <p:cNvPr id="20" name="Shape 18"/>
          <p:cNvSpPr/>
          <p:nvPr/>
        </p:nvSpPr>
        <p:spPr>
          <a:xfrm>
            <a:off x="1014984" y="5102352"/>
            <a:ext cx="438912" cy="438912"/>
          </a:xfrm>
          <a:prstGeom prst="ellipse">
            <a:avLst/>
          </a:prstGeom>
          <a:solidFill>
            <a:srgbClr val="7A4CC2"/>
          </a:solidFill>
          <a:ln/>
        </p:spPr>
      </p:sp>
      <p:sp>
        <p:nvSpPr>
          <p:cNvPr id="21" name="Text 19"/>
          <p:cNvSpPr txBox="1"/>
          <p:nvPr/>
        </p:nvSpPr>
        <p:spPr>
          <a:xfrm>
            <a:off x="1014984" y="510235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④</a:t>
            </a:r>
            <a:endParaRPr lang="en-US" sz="1600" dirty="0"/>
          </a:p>
        </p:txBody>
      </p:sp>
      <p:sp>
        <p:nvSpPr>
          <p:cNvPr id="22" name="Text 20"/>
          <p:cNvSpPr txBox="1"/>
          <p:nvPr/>
        </p:nvSpPr>
        <p:spPr>
          <a:xfrm>
            <a:off x="1682496" y="5047488"/>
            <a:ext cx="4206240" cy="292608"/>
          </a:xfrm>
          <a:prstGeom prst="rect">
            <a:avLst/>
          </a:prstGeom>
          <a:noFill/>
          <a:ln/>
        </p:spPr>
        <p:txBody>
          <a:bodyPr wrap="square" lIns="0" tIns="0" rIns="0" bIns="0" rtlCol="0" anchor="t"/>
          <a:lstStyle/>
          <a:p>
            <a:pPr indent="0" marL="0">
              <a:buNone/>
            </a:pPr>
            <a:r>
              <a:rPr lang="en-US" sz="1500" b="1" dirty="0">
                <a:solidFill>
                  <a:srgbClr val="1B2430"/>
                </a:solidFill>
                <a:latin typeface="JetBrains Mono" pitchFamily="34" charset="0"/>
                <a:ea typeface="JetBrains Mono" pitchFamily="34" charset="-122"/>
                <a:cs typeface="JetBrains Mono" pitchFamily="34" charset="-120"/>
              </a:rPr>
              <a:t>tasks.md</a:t>
            </a:r>
            <a:pPr indent="0" marL="0">
              <a:buNone/>
            </a:pPr>
            <a:r>
              <a:rPr lang="en-US" sz="1200" dirty="0">
                <a:solidFill>
                  <a:srgbClr val="7A4CC2"/>
                </a:solidFill>
                <a:latin typeface="Noto Sans KR" pitchFamily="34" charset="0"/>
                <a:ea typeface="Noto Sans KR" pitchFamily="34" charset="-122"/>
                <a:cs typeface="Noto Sans KR" pitchFamily="34" charset="-120"/>
              </a:rPr>
              <a:t>   Run all Tasks</a:t>
            </a:r>
            <a:endParaRPr lang="en-US" sz="1400" dirty="0"/>
          </a:p>
        </p:txBody>
      </p:sp>
      <p:sp>
        <p:nvSpPr>
          <p:cNvPr id="23" name="Text 21"/>
          <p:cNvSpPr txBox="1"/>
          <p:nvPr/>
        </p:nvSpPr>
        <p:spPr>
          <a:xfrm>
            <a:off x="1682496" y="5376672"/>
            <a:ext cx="4206240" cy="256032"/>
          </a:xfrm>
          <a:prstGeom prst="rect">
            <a:avLst/>
          </a:prstGeom>
          <a:noFill/>
          <a:ln/>
        </p:spPr>
        <p:txBody>
          <a:bodyPr wrap="square" lIns="0" tIns="0" rIns="0" bIns="0" rtlCol="0" anchor="t"/>
          <a:lstStyle/>
          <a:p>
            <a:pPr indent="0" marL="0">
              <a:buNone/>
            </a:pPr>
            <a:r>
              <a:rPr lang="en-US" sz="1300" dirty="0">
                <a:solidFill>
                  <a:srgbClr val="4A5568"/>
                </a:solidFill>
                <a:latin typeface="Noto Sans KR" pitchFamily="34" charset="0"/>
                <a:ea typeface="Noto Sans KR" pitchFamily="34" charset="-122"/>
                <a:cs typeface="Noto Sans KR" pitchFamily="34" charset="-120"/>
              </a:rPr>
              <a:t>작업별 실행 · 완료 표시</a:t>
            </a:r>
            <a:endParaRPr lang="en-US" sz="1300" dirty="0"/>
          </a:p>
        </p:txBody>
      </p:sp>
      <p:sp>
        <p:nvSpPr>
          <p:cNvPr id="24" name="Shape 22"/>
          <p:cNvSpPr/>
          <p:nvPr/>
        </p:nvSpPr>
        <p:spPr>
          <a:xfrm>
            <a:off x="6263640" y="1965960"/>
            <a:ext cx="5120640" cy="2331720"/>
          </a:xfrm>
          <a:prstGeom prst="roundRect">
            <a:avLst>
              <a:gd name="adj" fmla="val 3137"/>
            </a:avLst>
          </a:prstGeom>
          <a:solidFill>
            <a:srgbClr val="19202A"/>
          </a:solidFill>
          <a:ln/>
        </p:spPr>
      </p:sp>
      <p:sp>
        <p:nvSpPr>
          <p:cNvPr id="25" name="Text 23"/>
          <p:cNvSpPr txBox="1"/>
          <p:nvPr/>
        </p:nvSpPr>
        <p:spPr>
          <a:xfrm>
            <a:off x="6537960" y="2148840"/>
            <a:ext cx="4572000" cy="237744"/>
          </a:xfrm>
          <a:prstGeom prst="rect">
            <a:avLst/>
          </a:prstGeom>
          <a:noFill/>
          <a:ln/>
        </p:spPr>
        <p:txBody>
          <a:bodyPr wrap="square" lIns="0" tIns="0" rIns="0" bIns="0" rtlCol="0" anchor="t"/>
          <a:lstStyle/>
          <a:p>
            <a:pPr indent="0" marL="0">
              <a:buNone/>
            </a:pPr>
            <a:r>
              <a:rPr lang="en-US" sz="1000" dirty="0">
                <a:solidFill>
                  <a:srgbClr val="9AA6B5"/>
                </a:solidFill>
                <a:latin typeface="JetBrains Mono" pitchFamily="34" charset="0"/>
                <a:ea typeface="JetBrains Mono" pitchFamily="34" charset="-122"/>
                <a:cs typeface="JetBrains Mono" pitchFamily="34" charset="-120"/>
              </a:rPr>
              <a:t>.kiro/specs/todo-list/requirements.md</a:t>
            </a:r>
            <a:endParaRPr lang="en-US" sz="1000" dirty="0"/>
          </a:p>
        </p:txBody>
      </p:sp>
      <p:sp>
        <p:nvSpPr>
          <p:cNvPr id="26" name="Text 24"/>
          <p:cNvSpPr txBox="1"/>
          <p:nvPr/>
        </p:nvSpPr>
        <p:spPr>
          <a:xfrm>
            <a:off x="6537960" y="2514600"/>
            <a:ext cx="4572000" cy="1645920"/>
          </a:xfrm>
          <a:prstGeom prst="rect">
            <a:avLst/>
          </a:prstGeom>
          <a:noFill/>
          <a:ln/>
        </p:spPr>
        <p:txBody>
          <a:bodyPr wrap="square" lIns="0" tIns="0" rIns="0" bIns="0" rtlCol="0" anchor="t"/>
          <a:lstStyle/>
          <a:p>
            <a:pPr indent="0" marL="0">
              <a:lnSpc>
                <a:spcPct val="115000"/>
              </a:lnSpc>
              <a:buNone/>
            </a:pPr>
            <a:r>
              <a:rPr lang="en-US" sz="1200" b="1" dirty="0">
                <a:solidFill>
                  <a:srgbClr val="B79CF0"/>
                </a:solidFill>
                <a:latin typeface="JetBrains Mono" pitchFamily="34" charset="0"/>
                <a:ea typeface="JetBrains Mono" pitchFamily="34" charset="-122"/>
                <a:cs typeface="JetBrains Mono" pitchFamily="34" charset="-120"/>
              </a:rPr>
              <a:t>WHEN </a:t>
            </a:r>
            <a:pPr indent="0" marL="0">
              <a:lnSpc>
                <a:spcPct val="115000"/>
              </a:lnSpc>
              <a:buNone/>
            </a:pPr>
            <a:r>
              <a:rPr lang="en-US" sz="1200" dirty="0">
                <a:solidFill>
                  <a:srgbClr val="C9D2DE"/>
                </a:solidFill>
                <a:latin typeface="JetBrains Mono" pitchFamily="34" charset="0"/>
                <a:ea typeface="JetBrains Mono" pitchFamily="34" charset="-122"/>
                <a:cs typeface="JetBrains Mono" pitchFamily="34" charset="-120"/>
              </a:rPr>
              <a:t>사용자가 공백만 입력하고 추가하면
</a:t>
            </a:r>
            <a:pPr indent="0" marL="0">
              <a:lnSpc>
                <a:spcPct val="115000"/>
              </a:lnSpc>
              <a:buNone/>
            </a:pPr>
            <a:r>
              <a:rPr lang="en-US" sz="1200" b="1" dirty="0">
                <a:solidFill>
                  <a:srgbClr val="B79CF0"/>
                </a:solidFill>
                <a:latin typeface="JetBrains Mono" pitchFamily="34" charset="0"/>
                <a:ea typeface="JetBrains Mono" pitchFamily="34" charset="-122"/>
                <a:cs typeface="JetBrains Mono" pitchFamily="34" charset="-120"/>
              </a:rPr>
              <a:t>THE SYSTEM SHALL </a:t>
            </a:r>
            <a:pPr indent="0" marL="0">
              <a:lnSpc>
                <a:spcPct val="115000"/>
              </a:lnSpc>
              <a:buNone/>
            </a:pPr>
            <a:r>
              <a:rPr lang="en-US" sz="1200" dirty="0">
                <a:solidFill>
                  <a:srgbClr val="C9D2DE"/>
                </a:solidFill>
                <a:latin typeface="JetBrains Mono" pitchFamily="34" charset="0"/>
                <a:ea typeface="JetBrains Mono" pitchFamily="34" charset="-122"/>
                <a:cs typeface="JetBrains Mono" pitchFamily="34" charset="-120"/>
              </a:rPr>
              <a:t>추가하지 않고 안내 문구를 표시한다</a:t>
            </a:r>
            <a:endParaRPr lang="en-US" sz="1200" dirty="0"/>
          </a:p>
          <a:p>
            <a:pPr indent="0" marL="0">
              <a:lnSpc>
                <a:spcPct val="115000"/>
              </a:lnSpc>
              <a:buNone/>
            </a:pPr>
            <a:r>
              <a:rPr lang="en-US" sz="1200" dirty="0">
                <a:solidFill>
                  <a:srgbClr val="C9D2DE"/>
                </a:solidFill>
                <a:latin typeface="JetBrains Mono" pitchFamily="34" charset="0"/>
                <a:ea typeface="JetBrains Mono" pitchFamily="34" charset="-122"/>
                <a:cs typeface="JetBrains Mono" pitchFamily="34" charset="-120"/>
              </a:rPr>
              <a:t> </a:t>
            </a:r>
            <a:endParaRPr lang="en-US" sz="1200" dirty="0"/>
          </a:p>
          <a:p>
            <a:pPr indent="0" marL="0">
              <a:lnSpc>
                <a:spcPct val="115000"/>
              </a:lnSpc>
              <a:buNone/>
            </a:pPr>
            <a:r>
              <a:rPr lang="en-US" sz="1200" b="1" dirty="0">
                <a:solidFill>
                  <a:srgbClr val="B79CF0"/>
                </a:solidFill>
                <a:latin typeface="JetBrains Mono" pitchFamily="34" charset="0"/>
                <a:ea typeface="JetBrains Mono" pitchFamily="34" charset="-122"/>
                <a:cs typeface="JetBrains Mono" pitchFamily="34" charset="-120"/>
              </a:rPr>
              <a:t>WHEN </a:t>
            </a:r>
            <a:pPr indent="0" marL="0">
              <a:lnSpc>
                <a:spcPct val="115000"/>
              </a:lnSpc>
              <a:buNone/>
            </a:pPr>
            <a:r>
              <a:rPr lang="en-US" sz="1200" dirty="0">
                <a:solidFill>
                  <a:srgbClr val="C9D2DE"/>
                </a:solidFill>
                <a:latin typeface="JetBrains Mono" pitchFamily="34" charset="0"/>
                <a:ea typeface="JetBrains Mono" pitchFamily="34" charset="-122"/>
                <a:cs typeface="JetBrains Mono" pitchFamily="34" charset="-120"/>
              </a:rPr>
              <a:t>사용자가 페이지를 새로 고치면
</a:t>
            </a:r>
            <a:pPr indent="0" marL="0">
              <a:lnSpc>
                <a:spcPct val="115000"/>
              </a:lnSpc>
              <a:buNone/>
            </a:pPr>
            <a:r>
              <a:rPr lang="en-US" sz="1200" b="1" dirty="0">
                <a:solidFill>
                  <a:srgbClr val="B79CF0"/>
                </a:solidFill>
                <a:latin typeface="JetBrains Mono" pitchFamily="34" charset="0"/>
                <a:ea typeface="JetBrains Mono" pitchFamily="34" charset="-122"/>
                <a:cs typeface="JetBrains Mono" pitchFamily="34" charset="-120"/>
              </a:rPr>
              <a:t>THE SYSTEM SHALL </a:t>
            </a:r>
            <a:pPr indent="0" marL="0">
              <a:lnSpc>
                <a:spcPct val="115000"/>
              </a:lnSpc>
              <a:buNone/>
            </a:pPr>
            <a:r>
              <a:rPr lang="en-US" sz="1200" dirty="0">
                <a:solidFill>
                  <a:srgbClr val="C9D2DE"/>
                </a:solidFill>
                <a:latin typeface="JetBrains Mono" pitchFamily="34" charset="0"/>
                <a:ea typeface="JetBrains Mono" pitchFamily="34" charset="-122"/>
                <a:cs typeface="JetBrains Mono" pitchFamily="34" charset="-120"/>
              </a:rPr>
              <a:t>이전 목록과 완료 상태를 그대로 표시한다</a:t>
            </a:r>
            <a:endParaRPr lang="en-US" sz="1200" dirty="0"/>
          </a:p>
        </p:txBody>
      </p:sp>
      <p:sp>
        <p:nvSpPr>
          <p:cNvPr id="27" name="Shape 25"/>
          <p:cNvSpPr/>
          <p:nvPr/>
        </p:nvSpPr>
        <p:spPr>
          <a:xfrm>
            <a:off x="6263640" y="4453128"/>
            <a:ext cx="5120640" cy="1536192"/>
          </a:xfrm>
          <a:prstGeom prst="roundRect">
            <a:avLst>
              <a:gd name="adj" fmla="val 4762"/>
            </a:avLst>
          </a:prstGeom>
          <a:solidFill>
            <a:srgbClr val="F4F5F7"/>
          </a:solidFill>
          <a:ln/>
        </p:spPr>
      </p:sp>
      <p:sp>
        <p:nvSpPr>
          <p:cNvPr id="28" name="Text 26"/>
          <p:cNvSpPr txBox="1"/>
          <p:nvPr/>
        </p:nvSpPr>
        <p:spPr>
          <a:xfrm>
            <a:off x="6537960" y="4599432"/>
            <a:ext cx="4572000" cy="274320"/>
          </a:xfrm>
          <a:prstGeom prst="rect">
            <a:avLst/>
          </a:prstGeom>
          <a:noFill/>
          <a:ln/>
        </p:spPr>
        <p:txBody>
          <a:bodyPr wrap="square" lIns="0" tIns="0" rIns="0" bIns="0" rtlCol="0" anchor="t"/>
          <a:lstStyle/>
          <a:p>
            <a:pPr indent="0" marL="0">
              <a:buNone/>
            </a:pPr>
            <a:r>
              <a:rPr lang="en-US" sz="1500" b="1" dirty="0">
                <a:solidFill>
                  <a:srgbClr val="1B2430"/>
                </a:solidFill>
                <a:latin typeface="IBM Plex Sans KR" pitchFamily="34" charset="0"/>
                <a:ea typeface="IBM Plex Sans KR" pitchFamily="34" charset="-122"/>
                <a:cs typeface="IBM Plex Sans KR" pitchFamily="34" charset="-120"/>
              </a:rPr>
              <a:t>IDE가 함께 챙기는 것</a:t>
            </a:r>
            <a:endParaRPr lang="en-US" sz="1500" dirty="0"/>
          </a:p>
        </p:txBody>
      </p:sp>
      <p:sp>
        <p:nvSpPr>
          <p:cNvPr id="29" name="Text 27"/>
          <p:cNvSpPr txBox="1"/>
          <p:nvPr/>
        </p:nvSpPr>
        <p:spPr>
          <a:xfrm>
            <a:off x="6537960" y="4965192"/>
            <a:ext cx="4572000" cy="914400"/>
          </a:xfrm>
          <a:prstGeom prst="rect">
            <a:avLst/>
          </a:prstGeom>
          <a:noFill/>
          <a:ln/>
        </p:spPr>
        <p:txBody>
          <a:bodyPr wrap="square" lIns="0" tIns="0" rIns="0" bIns="0" rtlCol="0" anchor="t"/>
          <a:lstStyle/>
          <a:p>
            <a:pPr indent="0" marL="0">
              <a:spcAft>
                <a:spcPts val="400"/>
              </a:spcAft>
              <a:buNone/>
            </a:pPr>
            <a:r>
              <a:rPr lang="en-US" sz="1300" b="1" dirty="0">
                <a:solidFill>
                  <a:srgbClr val="7A4CC2"/>
                </a:solidFill>
                <a:latin typeface="Noto Sans KR" pitchFamily="34" charset="0"/>
                <a:ea typeface="Noto Sans KR" pitchFamily="34" charset="-122"/>
                <a:cs typeface="Noto Sans KR" pitchFamily="34" charset="-120"/>
              </a:rPr>
              <a:t>Agent Hook</a:t>
            </a:r>
            <a:pPr indent="0" marL="0">
              <a:spcAft>
                <a:spcPts val="400"/>
              </a:spcAft>
              <a:buNone/>
            </a:pPr>
            <a:r>
              <a:rPr lang="en-US" sz="1300" dirty="0">
                <a:solidFill>
                  <a:srgbClr val="4A5568"/>
                </a:solidFill>
                <a:latin typeface="Noto Sans KR" pitchFamily="34" charset="0"/>
                <a:ea typeface="Noto Sans KR" pitchFamily="34" charset="-122"/>
                <a:cs typeface="Noto Sans KR" pitchFamily="34" charset="-120"/>
              </a:rPr>
              <a:t>  파일 저장 → node --test 자동 실행</a:t>
            </a:r>
            <a:endParaRPr lang="en-US" sz="1300" dirty="0"/>
          </a:p>
          <a:p>
            <a:pPr indent="0" marL="0">
              <a:spcAft>
                <a:spcPts val="400"/>
              </a:spcAft>
              <a:buNone/>
            </a:pPr>
            <a:r>
              <a:rPr lang="en-US" sz="1300" b="1" dirty="0">
                <a:solidFill>
                  <a:srgbClr val="7A4CC2"/>
                </a:solidFill>
                <a:latin typeface="Noto Sans KR" pitchFamily="34" charset="0"/>
                <a:ea typeface="Noto Sans KR" pitchFamily="34" charset="-122"/>
                <a:cs typeface="Noto Sans KR" pitchFamily="34" charset="-120"/>
              </a:rPr>
              <a:t>Sync Files</a:t>
            </a:r>
            <a:pPr indent="0" marL="0">
              <a:spcAft>
                <a:spcPts val="400"/>
              </a:spcAft>
              <a:buNone/>
            </a:pPr>
            <a:r>
              <a:rPr lang="en-US" sz="1300" dirty="0">
                <a:solidFill>
                  <a:srgbClr val="4A5568"/>
                </a:solidFill>
                <a:latin typeface="Noto Sans KR" pitchFamily="34" charset="0"/>
                <a:ea typeface="Noto Sans KR" pitchFamily="34" charset="-122"/>
                <a:cs typeface="Noto Sans KR" pitchFamily="34" charset="-120"/>
              </a:rPr>
              <a:t>  요구사항을 고치면 작업 목록 갱신</a:t>
            </a:r>
            <a:endParaRPr lang="en-US" sz="1300" dirty="0"/>
          </a:p>
          <a:p>
            <a:pPr indent="0" marL="0">
              <a:spcAft>
                <a:spcPts val="400"/>
              </a:spcAft>
              <a:buNone/>
            </a:pPr>
            <a:r>
              <a:rPr lang="en-US" sz="1300" b="1" dirty="0">
                <a:solidFill>
                  <a:srgbClr val="7A4CC2"/>
                </a:solidFill>
                <a:latin typeface="Noto Sans KR" pitchFamily="34" charset="0"/>
                <a:ea typeface="Noto Sans KR" pitchFamily="34" charset="-122"/>
                <a:cs typeface="Noto Sans KR" pitchFamily="34" charset="-120"/>
              </a:rPr>
              <a:t>결과물</a:t>
            </a:r>
            <a:pPr indent="0" marL="0">
              <a:spcAft>
                <a:spcPts val="400"/>
              </a:spcAft>
              <a:buNone/>
            </a:pPr>
            <a:r>
              <a:rPr lang="en-US" sz="1300" dirty="0">
                <a:solidFill>
                  <a:srgbClr val="4A5568"/>
                </a:solidFill>
                <a:latin typeface="Noto Sans KR" pitchFamily="34" charset="0"/>
                <a:ea typeface="Noto Sans KR" pitchFamily="34" charset="-122"/>
                <a:cs typeface="Noto Sans KR" pitchFamily="34" charset="-120"/>
              </a:rPr>
              <a:t>  모두 .kiro/ 아래 Markdown · JSON</a:t>
            </a:r>
            <a:endParaRPr lang="en-US" sz="1300" dirty="0"/>
          </a:p>
        </p:txBody>
      </p:sp>
      <p:sp>
        <p:nvSpPr>
          <p:cNvPr id="30" name="Text 28"/>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5 / 15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B4531A"/>
                </a:solidFill>
                <a:latin typeface="Noto Sans KR" pitchFamily="34" charset="0"/>
                <a:ea typeface="Noto Sans KR" pitchFamily="34" charset="-122"/>
                <a:cs typeface="Noto Sans KR" pitchFamily="34" charset="-120"/>
              </a:rPr>
              <a:t>M02 · OPENSPEC (Fission AI)</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변경을 제안하고, 명세에 합친다</a:t>
            </a:r>
            <a:endParaRPr lang="en-US" sz="3200" dirty="0"/>
          </a:p>
        </p:txBody>
      </p:sp>
      <p:sp>
        <p:nvSpPr>
          <p:cNvPr id="4" name="Shape 2"/>
          <p:cNvSpPr/>
          <p:nvPr/>
        </p:nvSpPr>
        <p:spPr>
          <a:xfrm>
            <a:off x="822960" y="2011680"/>
            <a:ext cx="2176272" cy="832104"/>
          </a:xfrm>
          <a:prstGeom prst="roundRect">
            <a:avLst>
              <a:gd name="adj" fmla="val 8791"/>
            </a:avLst>
          </a:prstGeom>
          <a:solidFill>
            <a:srgbClr val="F4F5F7"/>
          </a:solidFill>
          <a:ln w="12700">
            <a:solidFill>
              <a:srgbClr val="E2E5EA"/>
            </a:solidFill>
            <a:prstDash val="solid"/>
          </a:ln>
        </p:spPr>
      </p:sp>
      <p:sp>
        <p:nvSpPr>
          <p:cNvPr id="5" name="Text 3"/>
          <p:cNvSpPr txBox="1"/>
          <p:nvPr/>
        </p:nvSpPr>
        <p:spPr>
          <a:xfrm>
            <a:off x="1005840" y="2157984"/>
            <a:ext cx="1856232" cy="274320"/>
          </a:xfrm>
          <a:prstGeom prst="rect">
            <a:avLst/>
          </a:prstGeom>
          <a:noFill/>
          <a:ln/>
        </p:spPr>
        <p:txBody>
          <a:bodyPr wrap="square" lIns="0" tIns="0" rIns="0" bIns="0" rtlCol="0" anchor="t"/>
          <a:lstStyle/>
          <a:p>
            <a:pPr indent="0" marL="0">
              <a:buNone/>
            </a:pPr>
            <a:r>
              <a:rPr lang="en-US" sz="1400" b="1" dirty="0">
                <a:solidFill>
                  <a:srgbClr val="1B2430"/>
                </a:solidFill>
                <a:latin typeface="JetBrains Mono" pitchFamily="34" charset="0"/>
                <a:ea typeface="JetBrains Mono" pitchFamily="34" charset="-122"/>
                <a:cs typeface="JetBrains Mono" pitchFamily="34" charset="-120"/>
              </a:rPr>
              <a:t>/opsx:explore</a:t>
            </a:r>
            <a:endParaRPr lang="en-US" sz="1400" dirty="0"/>
          </a:p>
        </p:txBody>
      </p:sp>
      <p:sp>
        <p:nvSpPr>
          <p:cNvPr id="6" name="Text 4"/>
          <p:cNvSpPr txBox="1"/>
          <p:nvPr/>
        </p:nvSpPr>
        <p:spPr>
          <a:xfrm>
            <a:off x="1005840" y="2468880"/>
            <a:ext cx="1856232" cy="237744"/>
          </a:xfrm>
          <a:prstGeom prst="rect">
            <a:avLst/>
          </a:prstGeom>
          <a:noFill/>
          <a:ln/>
        </p:spPr>
        <p:txBody>
          <a:bodyPr wrap="square" lIns="0" tIns="0" rIns="0" bIns="0" rtlCol="0" anchor="t"/>
          <a:lstStyle/>
          <a:p>
            <a:pPr indent="0" marL="0">
              <a:buNone/>
            </a:pPr>
            <a:r>
              <a:rPr lang="en-US" sz="1200" dirty="0">
                <a:solidFill>
                  <a:srgbClr val="4A5568"/>
                </a:solidFill>
                <a:latin typeface="Noto Sans KR" pitchFamily="34" charset="0"/>
                <a:ea typeface="Noto Sans KR" pitchFamily="34" charset="-122"/>
                <a:cs typeface="Noto Sans KR" pitchFamily="34" charset="-120"/>
              </a:rPr>
              <a:t>(선택) 생각 정리</a:t>
            </a:r>
            <a:endParaRPr lang="en-US" sz="1200" dirty="0"/>
          </a:p>
        </p:txBody>
      </p:sp>
      <p:pic>
        <p:nvPicPr>
          <p:cNvPr id="7" name="Image 0" descr="/tmp/claude-0/w/u/ppt/media/image-6-1.png">    </p:cNvPr>
          <p:cNvPicPr>
            <a:picLocks noChangeAspect="1"/>
          </p:cNvPicPr>
          <p:nvPr/>
        </p:nvPicPr>
        <p:blipFill>
          <a:blip r:embed="rId1"/>
          <a:stretch>
            <a:fillRect/>
          </a:stretch>
        </p:blipFill>
        <p:spPr>
          <a:xfrm>
            <a:off x="3127248" y="2331720"/>
            <a:ext cx="356616" cy="173736"/>
          </a:xfrm>
          <a:prstGeom prst="rect">
            <a:avLst/>
          </a:prstGeom>
        </p:spPr>
      </p:pic>
      <p:sp>
        <p:nvSpPr>
          <p:cNvPr id="8" name="Shape 5"/>
          <p:cNvSpPr/>
          <p:nvPr/>
        </p:nvSpPr>
        <p:spPr>
          <a:xfrm>
            <a:off x="3616452" y="2011680"/>
            <a:ext cx="2176272" cy="832104"/>
          </a:xfrm>
          <a:prstGeom prst="roundRect">
            <a:avLst>
              <a:gd name="adj" fmla="val 8791"/>
            </a:avLst>
          </a:prstGeom>
          <a:solidFill>
            <a:srgbClr val="F4F5F7"/>
          </a:solidFill>
          <a:ln w="12700">
            <a:solidFill>
              <a:srgbClr val="E2E5EA"/>
            </a:solidFill>
            <a:prstDash val="solid"/>
          </a:ln>
        </p:spPr>
      </p:sp>
      <p:sp>
        <p:nvSpPr>
          <p:cNvPr id="9" name="Text 6"/>
          <p:cNvSpPr txBox="1"/>
          <p:nvPr/>
        </p:nvSpPr>
        <p:spPr>
          <a:xfrm>
            <a:off x="3799332" y="2157984"/>
            <a:ext cx="1856232" cy="274320"/>
          </a:xfrm>
          <a:prstGeom prst="rect">
            <a:avLst/>
          </a:prstGeom>
          <a:noFill/>
          <a:ln/>
        </p:spPr>
        <p:txBody>
          <a:bodyPr wrap="square" lIns="0" tIns="0" rIns="0" bIns="0" rtlCol="0" anchor="t"/>
          <a:lstStyle/>
          <a:p>
            <a:pPr indent="0" marL="0">
              <a:buNone/>
            </a:pPr>
            <a:r>
              <a:rPr lang="en-US" sz="1400" b="1" dirty="0">
                <a:solidFill>
                  <a:srgbClr val="1B2430"/>
                </a:solidFill>
                <a:latin typeface="JetBrains Mono" pitchFamily="34" charset="0"/>
                <a:ea typeface="JetBrains Mono" pitchFamily="34" charset="-122"/>
                <a:cs typeface="JetBrains Mono" pitchFamily="34" charset="-120"/>
              </a:rPr>
              <a:t>/opsx:propose</a:t>
            </a:r>
            <a:endParaRPr lang="en-US" sz="1400" dirty="0"/>
          </a:p>
        </p:txBody>
      </p:sp>
      <p:sp>
        <p:nvSpPr>
          <p:cNvPr id="10" name="Text 7"/>
          <p:cNvSpPr txBox="1"/>
          <p:nvPr/>
        </p:nvSpPr>
        <p:spPr>
          <a:xfrm>
            <a:off x="3799332" y="2468880"/>
            <a:ext cx="1856232" cy="237744"/>
          </a:xfrm>
          <a:prstGeom prst="rect">
            <a:avLst/>
          </a:prstGeom>
          <a:noFill/>
          <a:ln/>
        </p:spPr>
        <p:txBody>
          <a:bodyPr wrap="square" lIns="0" tIns="0" rIns="0" bIns="0" rtlCol="0" anchor="t"/>
          <a:lstStyle/>
          <a:p>
            <a:pPr indent="0" marL="0">
              <a:buNone/>
            </a:pPr>
            <a:r>
              <a:rPr lang="en-US" sz="1200" dirty="0">
                <a:solidFill>
                  <a:srgbClr val="4A5568"/>
                </a:solidFill>
                <a:latin typeface="Noto Sans KR" pitchFamily="34" charset="0"/>
                <a:ea typeface="Noto Sans KR" pitchFamily="34" charset="-122"/>
                <a:cs typeface="Noto Sans KR" pitchFamily="34" charset="-120"/>
              </a:rPr>
              <a:t>계획 문서 4종</a:t>
            </a:r>
            <a:endParaRPr lang="en-US" sz="1200" dirty="0"/>
          </a:p>
        </p:txBody>
      </p:sp>
      <p:pic>
        <p:nvPicPr>
          <p:cNvPr id="11" name="Image 1" descr="/tmp/claude-0/w/u/ppt/media/image-6-2.png">    </p:cNvPr>
          <p:cNvPicPr>
            <a:picLocks noChangeAspect="1"/>
          </p:cNvPicPr>
          <p:nvPr/>
        </p:nvPicPr>
        <p:blipFill>
          <a:blip r:embed="rId2"/>
          <a:stretch>
            <a:fillRect/>
          </a:stretch>
        </p:blipFill>
        <p:spPr>
          <a:xfrm>
            <a:off x="5920740" y="2331720"/>
            <a:ext cx="356616" cy="173736"/>
          </a:xfrm>
          <a:prstGeom prst="rect">
            <a:avLst/>
          </a:prstGeom>
        </p:spPr>
      </p:pic>
      <p:sp>
        <p:nvSpPr>
          <p:cNvPr id="12" name="Shape 8"/>
          <p:cNvSpPr/>
          <p:nvPr/>
        </p:nvSpPr>
        <p:spPr>
          <a:xfrm>
            <a:off x="6409944" y="2011680"/>
            <a:ext cx="2176272" cy="832104"/>
          </a:xfrm>
          <a:prstGeom prst="roundRect">
            <a:avLst>
              <a:gd name="adj" fmla="val 8791"/>
            </a:avLst>
          </a:prstGeom>
          <a:solidFill>
            <a:srgbClr val="F4F5F7"/>
          </a:solidFill>
          <a:ln w="12700">
            <a:solidFill>
              <a:srgbClr val="E2E5EA"/>
            </a:solidFill>
            <a:prstDash val="solid"/>
          </a:ln>
        </p:spPr>
      </p:sp>
      <p:sp>
        <p:nvSpPr>
          <p:cNvPr id="13" name="Text 9"/>
          <p:cNvSpPr txBox="1"/>
          <p:nvPr/>
        </p:nvSpPr>
        <p:spPr>
          <a:xfrm>
            <a:off x="6592824" y="2157984"/>
            <a:ext cx="1856232" cy="274320"/>
          </a:xfrm>
          <a:prstGeom prst="rect">
            <a:avLst/>
          </a:prstGeom>
          <a:noFill/>
          <a:ln/>
        </p:spPr>
        <p:txBody>
          <a:bodyPr wrap="square" lIns="0" tIns="0" rIns="0" bIns="0" rtlCol="0" anchor="t"/>
          <a:lstStyle/>
          <a:p>
            <a:pPr indent="0" marL="0">
              <a:buNone/>
            </a:pPr>
            <a:r>
              <a:rPr lang="en-US" sz="1400" b="1" dirty="0">
                <a:solidFill>
                  <a:srgbClr val="1B2430"/>
                </a:solidFill>
                <a:latin typeface="JetBrains Mono" pitchFamily="34" charset="0"/>
                <a:ea typeface="JetBrains Mono" pitchFamily="34" charset="-122"/>
                <a:cs typeface="JetBrains Mono" pitchFamily="34" charset="-120"/>
              </a:rPr>
              <a:t>/opsx:apply</a:t>
            </a:r>
            <a:endParaRPr lang="en-US" sz="1400" dirty="0"/>
          </a:p>
        </p:txBody>
      </p:sp>
      <p:sp>
        <p:nvSpPr>
          <p:cNvPr id="14" name="Text 10"/>
          <p:cNvSpPr txBox="1"/>
          <p:nvPr/>
        </p:nvSpPr>
        <p:spPr>
          <a:xfrm>
            <a:off x="6592824" y="2468880"/>
            <a:ext cx="1856232" cy="237744"/>
          </a:xfrm>
          <a:prstGeom prst="rect">
            <a:avLst/>
          </a:prstGeom>
          <a:noFill/>
          <a:ln/>
        </p:spPr>
        <p:txBody>
          <a:bodyPr wrap="square" lIns="0" tIns="0" rIns="0" bIns="0" rtlCol="0" anchor="t"/>
          <a:lstStyle/>
          <a:p>
            <a:pPr indent="0" marL="0">
              <a:buNone/>
            </a:pPr>
            <a:r>
              <a:rPr lang="en-US" sz="1200" dirty="0">
                <a:solidFill>
                  <a:srgbClr val="4A5568"/>
                </a:solidFill>
                <a:latin typeface="Noto Sans KR" pitchFamily="34" charset="0"/>
                <a:ea typeface="Noto Sans KR" pitchFamily="34" charset="-122"/>
                <a:cs typeface="Noto Sans KR" pitchFamily="34" charset="-120"/>
              </a:rPr>
              <a:t>구현</a:t>
            </a:r>
            <a:endParaRPr lang="en-US" sz="1200" dirty="0"/>
          </a:p>
        </p:txBody>
      </p:sp>
      <p:pic>
        <p:nvPicPr>
          <p:cNvPr id="15" name="Image 2" descr="/tmp/claude-0/w/u/ppt/media/image-6-3.png">    </p:cNvPr>
          <p:cNvPicPr>
            <a:picLocks noChangeAspect="1"/>
          </p:cNvPicPr>
          <p:nvPr/>
        </p:nvPicPr>
        <p:blipFill>
          <a:blip r:embed="rId3"/>
          <a:stretch>
            <a:fillRect/>
          </a:stretch>
        </p:blipFill>
        <p:spPr>
          <a:xfrm>
            <a:off x="8714232" y="2331720"/>
            <a:ext cx="356616" cy="173736"/>
          </a:xfrm>
          <a:prstGeom prst="rect">
            <a:avLst/>
          </a:prstGeom>
        </p:spPr>
      </p:pic>
      <p:sp>
        <p:nvSpPr>
          <p:cNvPr id="16" name="Shape 11"/>
          <p:cNvSpPr/>
          <p:nvPr/>
        </p:nvSpPr>
        <p:spPr>
          <a:xfrm>
            <a:off x="9203436" y="2011680"/>
            <a:ext cx="2176272" cy="832104"/>
          </a:xfrm>
          <a:prstGeom prst="roundRect">
            <a:avLst>
              <a:gd name="adj" fmla="val 8791"/>
            </a:avLst>
          </a:prstGeom>
          <a:solidFill>
            <a:srgbClr val="F4F5F7"/>
          </a:solidFill>
          <a:ln w="12700">
            <a:solidFill>
              <a:srgbClr val="E2E5EA"/>
            </a:solidFill>
            <a:prstDash val="solid"/>
          </a:ln>
        </p:spPr>
      </p:sp>
      <p:sp>
        <p:nvSpPr>
          <p:cNvPr id="17" name="Text 12"/>
          <p:cNvSpPr txBox="1"/>
          <p:nvPr/>
        </p:nvSpPr>
        <p:spPr>
          <a:xfrm>
            <a:off x="9386316" y="2157984"/>
            <a:ext cx="1856232" cy="274320"/>
          </a:xfrm>
          <a:prstGeom prst="rect">
            <a:avLst/>
          </a:prstGeom>
          <a:noFill/>
          <a:ln/>
        </p:spPr>
        <p:txBody>
          <a:bodyPr wrap="square" lIns="0" tIns="0" rIns="0" bIns="0" rtlCol="0" anchor="t"/>
          <a:lstStyle/>
          <a:p>
            <a:pPr indent="0" marL="0">
              <a:buNone/>
            </a:pPr>
            <a:r>
              <a:rPr lang="en-US" sz="1400" b="1" dirty="0">
                <a:solidFill>
                  <a:srgbClr val="1B2430"/>
                </a:solidFill>
                <a:latin typeface="JetBrains Mono" pitchFamily="34" charset="0"/>
                <a:ea typeface="JetBrains Mono" pitchFamily="34" charset="-122"/>
                <a:cs typeface="JetBrains Mono" pitchFamily="34" charset="-120"/>
              </a:rPr>
              <a:t>/opsx:archive</a:t>
            </a:r>
            <a:endParaRPr lang="en-US" sz="1400" dirty="0"/>
          </a:p>
        </p:txBody>
      </p:sp>
      <p:sp>
        <p:nvSpPr>
          <p:cNvPr id="18" name="Text 13"/>
          <p:cNvSpPr txBox="1"/>
          <p:nvPr/>
        </p:nvSpPr>
        <p:spPr>
          <a:xfrm>
            <a:off x="9386316" y="2468880"/>
            <a:ext cx="1856232" cy="237744"/>
          </a:xfrm>
          <a:prstGeom prst="rect">
            <a:avLst/>
          </a:prstGeom>
          <a:noFill/>
          <a:ln/>
        </p:spPr>
        <p:txBody>
          <a:bodyPr wrap="square" lIns="0" tIns="0" rIns="0" bIns="0" rtlCol="0" anchor="t"/>
          <a:lstStyle/>
          <a:p>
            <a:pPr indent="0" marL="0">
              <a:buNone/>
            </a:pPr>
            <a:r>
              <a:rPr lang="en-US" sz="1200" dirty="0">
                <a:solidFill>
                  <a:srgbClr val="4A5568"/>
                </a:solidFill>
                <a:latin typeface="Noto Sans KR" pitchFamily="34" charset="0"/>
                <a:ea typeface="Noto Sans KR" pitchFamily="34" charset="-122"/>
                <a:cs typeface="Noto Sans KR" pitchFamily="34" charset="-120"/>
              </a:rPr>
              <a:t>병합 · 보관</a:t>
            </a:r>
            <a:endParaRPr lang="en-US" sz="1200" dirty="0"/>
          </a:p>
        </p:txBody>
      </p:sp>
      <p:sp>
        <p:nvSpPr>
          <p:cNvPr id="19" name="Shape 14"/>
          <p:cNvSpPr/>
          <p:nvPr/>
        </p:nvSpPr>
        <p:spPr>
          <a:xfrm>
            <a:off x="813816" y="3099816"/>
            <a:ext cx="5184648" cy="2743200"/>
          </a:xfrm>
          <a:prstGeom prst="roundRect">
            <a:avLst>
              <a:gd name="adj" fmla="val 2667"/>
            </a:avLst>
          </a:prstGeom>
          <a:solidFill>
            <a:srgbClr val="F4F5F7"/>
          </a:solidFill>
          <a:ln/>
        </p:spPr>
      </p:sp>
      <p:sp>
        <p:nvSpPr>
          <p:cNvPr id="20" name="Text 15"/>
          <p:cNvSpPr txBox="1"/>
          <p:nvPr/>
        </p:nvSpPr>
        <p:spPr>
          <a:xfrm>
            <a:off x="1069848" y="3328416"/>
            <a:ext cx="4809744" cy="256032"/>
          </a:xfrm>
          <a:prstGeom prst="rect">
            <a:avLst/>
          </a:prstGeom>
          <a:noFill/>
          <a:ln/>
        </p:spPr>
        <p:txBody>
          <a:bodyPr wrap="square" lIns="0" tIns="0" rIns="0" bIns="0" rtlCol="0" anchor="t"/>
          <a:lstStyle/>
          <a:p>
            <a:pPr indent="0" marL="0">
              <a:buNone/>
            </a:pPr>
            <a:r>
              <a:rPr lang="en-US" sz="1300" b="1" dirty="0">
                <a:solidFill>
                  <a:srgbClr val="B4531A"/>
                </a:solidFill>
                <a:latin typeface="JetBrains Mono" pitchFamily="34" charset="0"/>
                <a:ea typeface="JetBrains Mono" pitchFamily="34" charset="-122"/>
                <a:cs typeface="JetBrains Mono" pitchFamily="34" charset="-120"/>
              </a:rPr>
              <a:t>openspec/changes/&lt;변경&gt;/</a:t>
            </a:r>
            <a:endParaRPr lang="en-US" sz="1300" dirty="0"/>
          </a:p>
        </p:txBody>
      </p:sp>
      <p:sp>
        <p:nvSpPr>
          <p:cNvPr id="21" name="Text 16"/>
          <p:cNvSpPr txBox="1"/>
          <p:nvPr/>
        </p:nvSpPr>
        <p:spPr>
          <a:xfrm>
            <a:off x="1069848" y="3657600"/>
            <a:ext cx="4809744" cy="329184"/>
          </a:xfrm>
          <a:prstGeom prst="rect">
            <a:avLst/>
          </a:prstGeom>
          <a:noFill/>
          <a:ln/>
        </p:spPr>
        <p:txBody>
          <a:bodyPr wrap="square" lIns="0" tIns="0" rIns="0" bIns="0" rtlCol="0" anchor="t"/>
          <a:lstStyle/>
          <a:p>
            <a:pPr indent="0" marL="0">
              <a:buNone/>
            </a:pPr>
            <a:r>
              <a:rPr lang="en-US" sz="1800" b="1" dirty="0">
                <a:solidFill>
                  <a:srgbClr val="1B2430"/>
                </a:solidFill>
                <a:latin typeface="IBM Plex Sans KR" pitchFamily="34" charset="0"/>
                <a:ea typeface="IBM Plex Sans KR" pitchFamily="34" charset="-122"/>
                <a:cs typeface="IBM Plex Sans KR" pitchFamily="34" charset="-120"/>
              </a:rPr>
              <a:t>개정안 = 진행 중인 변경</a:t>
            </a:r>
            <a:endParaRPr lang="en-US" sz="1800" dirty="0"/>
          </a:p>
        </p:txBody>
      </p:sp>
      <p:sp>
        <p:nvSpPr>
          <p:cNvPr id="22" name="Text 17"/>
          <p:cNvSpPr txBox="1"/>
          <p:nvPr/>
        </p:nvSpPr>
        <p:spPr>
          <a:xfrm>
            <a:off x="1069848" y="4114800"/>
            <a:ext cx="4809744" cy="731520"/>
          </a:xfrm>
          <a:prstGeom prst="rect">
            <a:avLst/>
          </a:prstGeom>
          <a:noFill/>
          <a:ln/>
        </p:spPr>
        <p:txBody>
          <a:bodyPr wrap="square" lIns="0" tIns="0" rIns="0" bIns="0" rtlCol="0" anchor="t"/>
          <a:lstStyle/>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proposal · 델타 specs · design · tasks</a:t>
            </a:r>
            <a:endParaRPr lang="en-US" sz="1400" dirty="0"/>
          </a:p>
          <a:p>
            <a:pPr indent="0" marL="0">
              <a:spcAft>
                <a:spcPts val="400"/>
              </a:spcAft>
              <a:buNone/>
            </a:pPr>
            <a:r>
              <a:rPr lang="en-US" sz="1400" dirty="0">
                <a:solidFill>
                  <a:srgbClr val="4A5568"/>
                </a:solidFill>
                <a:latin typeface="Noto Sans KR" pitchFamily="34" charset="0"/>
                <a:ea typeface="Noto Sans KR" pitchFamily="34" charset="-122"/>
                <a:cs typeface="Noto Sans KR" pitchFamily="34" charset="-120"/>
              </a:rPr>
              <a:t>변경 1건 = 폴더 1개</a:t>
            </a:r>
            <a:endParaRPr lang="en-US" sz="1400" dirty="0"/>
          </a:p>
        </p:txBody>
      </p:sp>
      <p:sp>
        <p:nvSpPr>
          <p:cNvPr id="23" name="Shape 18"/>
          <p:cNvSpPr/>
          <p:nvPr/>
        </p:nvSpPr>
        <p:spPr>
          <a:xfrm>
            <a:off x="6199632" y="3099816"/>
            <a:ext cx="5184648" cy="2743200"/>
          </a:xfrm>
          <a:prstGeom prst="roundRect">
            <a:avLst>
              <a:gd name="adj" fmla="val 2667"/>
            </a:avLst>
          </a:prstGeom>
          <a:solidFill>
            <a:srgbClr val="19202A"/>
          </a:solidFill>
          <a:ln/>
        </p:spPr>
      </p:sp>
      <p:sp>
        <p:nvSpPr>
          <p:cNvPr id="24" name="Text 19"/>
          <p:cNvSpPr txBox="1"/>
          <p:nvPr/>
        </p:nvSpPr>
        <p:spPr>
          <a:xfrm>
            <a:off x="6455664" y="3328416"/>
            <a:ext cx="4809744" cy="256032"/>
          </a:xfrm>
          <a:prstGeom prst="rect">
            <a:avLst/>
          </a:prstGeom>
          <a:noFill/>
          <a:ln/>
        </p:spPr>
        <p:txBody>
          <a:bodyPr wrap="square" lIns="0" tIns="0" rIns="0" bIns="0" rtlCol="0" anchor="t"/>
          <a:lstStyle/>
          <a:p>
            <a:pPr indent="0" marL="0">
              <a:buNone/>
            </a:pPr>
            <a:r>
              <a:rPr lang="en-US" sz="1300" b="1" dirty="0">
                <a:solidFill>
                  <a:srgbClr val="F0A060"/>
                </a:solidFill>
                <a:latin typeface="JetBrains Mono" pitchFamily="34" charset="0"/>
                <a:ea typeface="JetBrains Mono" pitchFamily="34" charset="-122"/>
                <a:cs typeface="JetBrains Mono" pitchFamily="34" charset="-120"/>
              </a:rPr>
              <a:t>openspec/specs/&lt;기능&gt;/spec.md</a:t>
            </a:r>
            <a:endParaRPr lang="en-US" sz="1300" dirty="0"/>
          </a:p>
        </p:txBody>
      </p:sp>
      <p:sp>
        <p:nvSpPr>
          <p:cNvPr id="25" name="Text 20"/>
          <p:cNvSpPr txBox="1"/>
          <p:nvPr/>
        </p:nvSpPr>
        <p:spPr>
          <a:xfrm>
            <a:off x="6455664" y="3657600"/>
            <a:ext cx="4809744" cy="329184"/>
          </a:xfrm>
          <a:prstGeom prst="rect">
            <a:avLst/>
          </a:prstGeom>
          <a:noFill/>
          <a:ln/>
        </p:spPr>
        <p:txBody>
          <a:bodyPr wrap="square" lIns="0" tIns="0" rIns="0" bIns="0" rtlCol="0" anchor="t"/>
          <a:lstStyle/>
          <a:p>
            <a:pPr indent="0" marL="0">
              <a:buNone/>
            </a:pPr>
            <a:r>
              <a:rPr lang="en-US" sz="1800" b="1" dirty="0">
                <a:solidFill>
                  <a:srgbClr val="FFFFFF"/>
                </a:solidFill>
                <a:latin typeface="IBM Plex Sans KR" pitchFamily="34" charset="0"/>
                <a:ea typeface="IBM Plex Sans KR" pitchFamily="34" charset="-122"/>
                <a:cs typeface="IBM Plex Sans KR" pitchFamily="34" charset="-120"/>
              </a:rPr>
              <a:t>현재 법전 = 진실의 원천</a:t>
            </a:r>
            <a:endParaRPr lang="en-US" sz="1800" dirty="0"/>
          </a:p>
        </p:txBody>
      </p:sp>
      <p:sp>
        <p:nvSpPr>
          <p:cNvPr id="26" name="Text 21"/>
          <p:cNvSpPr txBox="1"/>
          <p:nvPr/>
        </p:nvSpPr>
        <p:spPr>
          <a:xfrm>
            <a:off x="6455664" y="4114800"/>
            <a:ext cx="4809744" cy="731520"/>
          </a:xfrm>
          <a:prstGeom prst="rect">
            <a:avLst/>
          </a:prstGeom>
          <a:noFill/>
          <a:ln/>
        </p:spPr>
        <p:txBody>
          <a:bodyPr wrap="square" lIns="0" tIns="0" rIns="0" bIns="0" rtlCol="0" anchor="t"/>
          <a:lstStyle/>
          <a:p>
            <a:pPr indent="0" marL="0">
              <a:spcAft>
                <a:spcPts val="400"/>
              </a:spcAft>
              <a:buNone/>
            </a:pPr>
            <a:r>
              <a:rPr lang="en-US" sz="1400" dirty="0">
                <a:solidFill>
                  <a:srgbClr val="C9D2DE"/>
                </a:solidFill>
                <a:latin typeface="Noto Sans KR" pitchFamily="34" charset="0"/>
                <a:ea typeface="Noto Sans KR" pitchFamily="34" charset="-122"/>
                <a:cs typeface="Noto Sans KR" pitchFamily="34" charset="-120"/>
              </a:rPr>
              <a:t>지금 시스템이 어떻게 동작하는지</a:t>
            </a:r>
            <a:endParaRPr lang="en-US" sz="1400" dirty="0"/>
          </a:p>
          <a:p>
            <a:pPr indent="0" marL="0">
              <a:spcAft>
                <a:spcPts val="400"/>
              </a:spcAft>
              <a:buNone/>
            </a:pPr>
            <a:r>
              <a:rPr lang="en-US" sz="1400" dirty="0">
                <a:solidFill>
                  <a:srgbClr val="C9D2DE"/>
                </a:solidFill>
                <a:latin typeface="Noto Sans KR" pitchFamily="34" charset="0"/>
                <a:ea typeface="Noto Sans KR" pitchFamily="34" charset="-122"/>
                <a:cs typeface="Noto Sans KR" pitchFamily="34" charset="-120"/>
              </a:rPr>
              <a:t>archive 할 때마다 최신으로 갱신</a:t>
            </a:r>
            <a:endParaRPr lang="en-US" sz="1400" dirty="0"/>
          </a:p>
        </p:txBody>
      </p:sp>
      <p:sp>
        <p:nvSpPr>
          <p:cNvPr id="27" name="Text 22"/>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6 / 15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B4531A"/>
                </a:solidFill>
                <a:latin typeface="Noto Sans KR" pitchFamily="34" charset="0"/>
                <a:ea typeface="Noto Sans KR" pitchFamily="34" charset="-122"/>
                <a:cs typeface="Noto Sans KR" pitchFamily="34" charset="-120"/>
              </a:rPr>
              <a:t>M02 · 핵심 개념</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델타 명세: 바뀌는 부분만 적는다</a:t>
            </a:r>
            <a:endParaRPr lang="en-US" sz="3200" dirty="0"/>
          </a:p>
        </p:txBody>
      </p:sp>
      <p:sp>
        <p:nvSpPr>
          <p:cNvPr id="4" name="Shape 2"/>
          <p:cNvSpPr/>
          <p:nvPr/>
        </p:nvSpPr>
        <p:spPr>
          <a:xfrm>
            <a:off x="813816" y="2002536"/>
            <a:ext cx="5413248" cy="3840480"/>
          </a:xfrm>
          <a:prstGeom prst="roundRect">
            <a:avLst>
              <a:gd name="adj" fmla="val 1905"/>
            </a:avLst>
          </a:prstGeom>
          <a:solidFill>
            <a:srgbClr val="19202A"/>
          </a:solidFill>
          <a:ln/>
        </p:spPr>
      </p:sp>
      <p:sp>
        <p:nvSpPr>
          <p:cNvPr id="5" name="Text 3"/>
          <p:cNvSpPr txBox="1"/>
          <p:nvPr/>
        </p:nvSpPr>
        <p:spPr>
          <a:xfrm>
            <a:off x="1088136" y="2240280"/>
            <a:ext cx="4992624" cy="237744"/>
          </a:xfrm>
          <a:prstGeom prst="rect">
            <a:avLst/>
          </a:prstGeom>
          <a:noFill/>
          <a:ln/>
        </p:spPr>
        <p:txBody>
          <a:bodyPr wrap="square" lIns="0" tIns="0" rIns="0" bIns="0" rtlCol="0" anchor="t"/>
          <a:lstStyle/>
          <a:p>
            <a:pPr indent="0" marL="0">
              <a:buNone/>
            </a:pPr>
            <a:r>
              <a:rPr lang="en-US" sz="1000" dirty="0">
                <a:solidFill>
                  <a:srgbClr val="9AA6B5"/>
                </a:solidFill>
                <a:latin typeface="JetBrains Mono" pitchFamily="34" charset="0"/>
                <a:ea typeface="JetBrains Mono" pitchFamily="34" charset="-122"/>
                <a:cs typeface="JetBrains Mono" pitchFamily="34" charset="-120"/>
              </a:rPr>
              <a:t>changes/add-due-date/specs/todo-list/spec.md</a:t>
            </a:r>
            <a:endParaRPr lang="en-US" sz="1000" dirty="0"/>
          </a:p>
        </p:txBody>
      </p:sp>
      <p:sp>
        <p:nvSpPr>
          <p:cNvPr id="6" name="Text 4"/>
          <p:cNvSpPr txBox="1"/>
          <p:nvPr/>
        </p:nvSpPr>
        <p:spPr>
          <a:xfrm>
            <a:off x="1088136" y="2560320"/>
            <a:ext cx="4992624" cy="3017520"/>
          </a:xfrm>
          <a:prstGeom prst="rect">
            <a:avLst/>
          </a:prstGeom>
          <a:noFill/>
          <a:ln/>
        </p:spPr>
        <p:txBody>
          <a:bodyPr wrap="square" lIns="0" tIns="0" rIns="0" bIns="0" rtlCol="0" anchor="t"/>
          <a:lstStyle/>
          <a:p>
            <a:pPr indent="0" marL="0">
              <a:lnSpc>
                <a:spcPct val="120000"/>
              </a:lnSpc>
              <a:buNone/>
            </a:pPr>
            <a:r>
              <a:rPr lang="en-US" sz="1200" dirty="0">
                <a:solidFill>
                  <a:srgbClr val="F0A060"/>
                </a:solidFill>
                <a:latin typeface="JetBrains Mono" pitchFamily="34" charset="0"/>
                <a:ea typeface="JetBrains Mono" pitchFamily="34" charset="-122"/>
                <a:cs typeface="JetBrains Mono" pitchFamily="34" charset="-120"/>
              </a:rPr>
              <a:t>## ADDED Requirements</a:t>
            </a:r>
            <a:endParaRPr lang="en-US" sz="1200" dirty="0"/>
          </a:p>
          <a:p>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 </a:t>
            </a:r>
            <a:endParaRPr lang="en-US" sz="1200" dirty="0"/>
          </a:p>
          <a:p>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 Requirement: 마감일 지정</a:t>
            </a:r>
            <a:endParaRPr lang="en-US" sz="1200" dirty="0"/>
          </a:p>
          <a:p>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The system </a:t>
            </a:r>
            <a:pPr indent="0" marL="0">
              <a:lnSpc>
                <a:spcPct val="120000"/>
              </a:lnSpc>
              <a:buNone/>
            </a:pPr>
            <a:r>
              <a:rPr lang="en-US" sz="1200" dirty="0">
                <a:solidFill>
                  <a:srgbClr val="F0A060"/>
                </a:solidFill>
                <a:latin typeface="JetBrains Mono" pitchFamily="34" charset="0"/>
                <a:ea typeface="JetBrains Mono" pitchFamily="34" charset="-122"/>
                <a:cs typeface="JetBrains Mono" pitchFamily="34" charset="-120"/>
              </a:rPr>
              <a:t>SHALL</a:t>
            </a:r>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 … 사용자는</a:t>
            </a:r>
            <a:endParaRPr lang="en-US" sz="1200" dirty="0"/>
          </a:p>
          <a:p>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할 일에 마감일을 지정할 수 있다.</a:t>
            </a:r>
            <a:endParaRPr lang="en-US" sz="1200" dirty="0"/>
          </a:p>
          <a:p>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 </a:t>
            </a:r>
            <a:endParaRPr lang="en-US" sz="1200" dirty="0"/>
          </a:p>
          <a:p>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 Scenario: 마감일과 함께 추가</a:t>
            </a:r>
            <a:endParaRPr lang="en-US" sz="1200" dirty="0"/>
          </a:p>
          <a:p>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 </a:t>
            </a:r>
            <a:pPr indent="0" marL="0">
              <a:lnSpc>
                <a:spcPct val="120000"/>
              </a:lnSpc>
              <a:buNone/>
            </a:pPr>
            <a:r>
              <a:rPr lang="en-US" sz="1200" b="1" dirty="0">
                <a:solidFill>
                  <a:srgbClr val="FFFFFF"/>
                </a:solidFill>
                <a:latin typeface="JetBrains Mono" pitchFamily="34" charset="0"/>
                <a:ea typeface="JetBrains Mono" pitchFamily="34" charset="-122"/>
                <a:cs typeface="JetBrains Mono" pitchFamily="34" charset="-120"/>
              </a:rPr>
              <a:t>WHEN</a:t>
            </a:r>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 마감일을 고르고 추가한다</a:t>
            </a:r>
            <a:endParaRPr lang="en-US" sz="1200" dirty="0"/>
          </a:p>
          <a:p>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 </a:t>
            </a:r>
            <a:pPr indent="0" marL="0">
              <a:lnSpc>
                <a:spcPct val="120000"/>
              </a:lnSpc>
              <a:buNone/>
            </a:pPr>
            <a:r>
              <a:rPr lang="en-US" sz="1200" b="1" dirty="0">
                <a:solidFill>
                  <a:srgbClr val="FFFFFF"/>
                </a:solidFill>
                <a:latin typeface="JetBrains Mono" pitchFamily="34" charset="0"/>
                <a:ea typeface="JetBrains Mono" pitchFamily="34" charset="-122"/>
                <a:cs typeface="JetBrains Mono" pitchFamily="34" charset="-120"/>
              </a:rPr>
              <a:t>THEN</a:t>
            </a:r>
            <a:pPr indent="0" marL="0">
              <a:lnSpc>
                <a:spcPct val="120000"/>
              </a:lnSpc>
              <a:buNone/>
            </a:pPr>
            <a:r>
              <a:rPr lang="en-US" sz="1200" dirty="0">
                <a:solidFill>
                  <a:srgbClr val="C9D2DE"/>
                </a:solidFill>
                <a:latin typeface="JetBrains Mono" pitchFamily="34" charset="0"/>
                <a:ea typeface="JetBrains Mono" pitchFamily="34" charset="-122"/>
                <a:cs typeface="JetBrains Mono" pitchFamily="34" charset="-120"/>
              </a:rPr>
              <a:t> 옆에 마감일이 표시된다</a:t>
            </a:r>
            <a:endParaRPr lang="en-US" sz="1200" dirty="0"/>
          </a:p>
        </p:txBody>
      </p:sp>
      <p:sp>
        <p:nvSpPr>
          <p:cNvPr id="7" name="Text 5"/>
          <p:cNvSpPr txBox="1"/>
          <p:nvPr/>
        </p:nvSpPr>
        <p:spPr>
          <a:xfrm>
            <a:off x="6528816" y="2002536"/>
            <a:ext cx="4992624" cy="301752"/>
          </a:xfrm>
          <a:prstGeom prst="rect">
            <a:avLst/>
          </a:prstGeom>
          <a:noFill/>
          <a:ln/>
        </p:spPr>
        <p:txBody>
          <a:bodyPr wrap="square" lIns="0" tIns="0" rIns="0" bIns="0" rtlCol="0" anchor="t"/>
          <a:lstStyle/>
          <a:p>
            <a:pPr indent="0" marL="0">
              <a:buNone/>
            </a:pPr>
            <a:r>
              <a:rPr lang="en-US" sz="1600" b="1" dirty="0">
                <a:solidFill>
                  <a:srgbClr val="1B2430"/>
                </a:solidFill>
                <a:latin typeface="IBM Plex Sans KR" pitchFamily="34" charset="0"/>
                <a:ea typeface="IBM Plex Sans KR" pitchFamily="34" charset="-122"/>
                <a:cs typeface="IBM Plex Sans KR" pitchFamily="34" charset="-120"/>
              </a:rPr>
              <a:t>/opsx:archive 때 기준 명세에 병합</a:t>
            </a:r>
            <a:endParaRPr lang="en-US" sz="1600" dirty="0"/>
          </a:p>
        </p:txBody>
      </p:sp>
      <p:sp>
        <p:nvSpPr>
          <p:cNvPr id="8" name="Shape 6"/>
          <p:cNvSpPr/>
          <p:nvPr/>
        </p:nvSpPr>
        <p:spPr>
          <a:xfrm>
            <a:off x="6528816" y="2450592"/>
            <a:ext cx="1399032" cy="356616"/>
          </a:xfrm>
          <a:prstGeom prst="roundRect">
            <a:avLst>
              <a:gd name="adj" fmla="val 12821"/>
            </a:avLst>
          </a:prstGeom>
          <a:solidFill>
            <a:srgbClr val="2E7D4F"/>
          </a:solidFill>
          <a:ln/>
        </p:spPr>
      </p:sp>
      <p:sp>
        <p:nvSpPr>
          <p:cNvPr id="9" name="Text 7"/>
          <p:cNvSpPr txBox="1"/>
          <p:nvPr/>
        </p:nvSpPr>
        <p:spPr>
          <a:xfrm>
            <a:off x="6528816" y="2450592"/>
            <a:ext cx="1399032" cy="356616"/>
          </a:xfrm>
          <a:prstGeom prst="rect">
            <a:avLst/>
          </a:prstGeom>
          <a:noFill/>
          <a:ln/>
        </p:spPr>
        <p:txBody>
          <a:bodyPr wrap="square" lIns="0" tIns="0" rIns="0" bIns="0" rtlCol="0" anchor="ctr"/>
          <a:lstStyle/>
          <a:p>
            <a:pPr algn="ctr" indent="0" marL="0">
              <a:buNone/>
            </a:pPr>
            <a:r>
              <a:rPr lang="en-US" sz="1100" b="1" dirty="0">
                <a:solidFill>
                  <a:srgbClr val="FFFFFF"/>
                </a:solidFill>
                <a:latin typeface="JetBrains Mono" pitchFamily="34" charset="0"/>
                <a:ea typeface="JetBrains Mono" pitchFamily="34" charset="-122"/>
                <a:cs typeface="JetBrains Mono" pitchFamily="34" charset="-120"/>
              </a:rPr>
              <a:t>ADDED</a:t>
            </a:r>
            <a:endParaRPr lang="en-US" sz="1100" dirty="0"/>
          </a:p>
        </p:txBody>
      </p:sp>
      <p:sp>
        <p:nvSpPr>
          <p:cNvPr id="10" name="Text 8"/>
          <p:cNvSpPr txBox="1"/>
          <p:nvPr/>
        </p:nvSpPr>
        <p:spPr>
          <a:xfrm>
            <a:off x="8074152" y="2478024"/>
            <a:ext cx="3291840" cy="292608"/>
          </a:xfrm>
          <a:prstGeom prst="rect">
            <a:avLst/>
          </a:prstGeom>
          <a:noFill/>
          <a:ln/>
        </p:spPr>
        <p:txBody>
          <a:bodyPr wrap="square" lIns="0" tIns="0" rIns="0" bIns="0" rtlCol="0" anchor="ctr"/>
          <a:lstStyle/>
          <a:p>
            <a:pPr indent="0" marL="0">
              <a:buNone/>
            </a:pPr>
            <a:r>
              <a:rPr lang="en-US" sz="1400" dirty="0">
                <a:solidFill>
                  <a:srgbClr val="4A5568"/>
                </a:solidFill>
                <a:latin typeface="Noto Sans KR" pitchFamily="34" charset="0"/>
                <a:ea typeface="Noto Sans KR" pitchFamily="34" charset="-122"/>
                <a:cs typeface="Noto Sans KR" pitchFamily="34" charset="-120"/>
              </a:rPr>
              <a:t>기준 명세에 </a:t>
            </a:r>
            <a:pPr indent="0" marL="0">
              <a:buNone/>
            </a:pPr>
            <a:r>
              <a:rPr lang="en-US" sz="1400" b="1" dirty="0">
                <a:solidFill>
                  <a:srgbClr val="1B2430"/>
                </a:solidFill>
                <a:latin typeface="Noto Sans KR" pitchFamily="34" charset="0"/>
                <a:ea typeface="Noto Sans KR" pitchFamily="34" charset="-122"/>
                <a:cs typeface="Noto Sans KR" pitchFamily="34" charset="-120"/>
              </a:rPr>
              <a:t>추가</a:t>
            </a:r>
            <a:endParaRPr lang="en-US" sz="1400" dirty="0"/>
          </a:p>
        </p:txBody>
      </p:sp>
      <p:sp>
        <p:nvSpPr>
          <p:cNvPr id="11" name="Shape 9"/>
          <p:cNvSpPr/>
          <p:nvPr/>
        </p:nvSpPr>
        <p:spPr>
          <a:xfrm>
            <a:off x="6528816" y="2990088"/>
            <a:ext cx="1399032" cy="356616"/>
          </a:xfrm>
          <a:prstGeom prst="roundRect">
            <a:avLst>
              <a:gd name="adj" fmla="val 12821"/>
            </a:avLst>
          </a:prstGeom>
          <a:solidFill>
            <a:srgbClr val="B4531A"/>
          </a:solidFill>
          <a:ln/>
        </p:spPr>
      </p:sp>
      <p:sp>
        <p:nvSpPr>
          <p:cNvPr id="12" name="Text 10"/>
          <p:cNvSpPr txBox="1"/>
          <p:nvPr/>
        </p:nvSpPr>
        <p:spPr>
          <a:xfrm>
            <a:off x="6528816" y="2990088"/>
            <a:ext cx="1399032" cy="356616"/>
          </a:xfrm>
          <a:prstGeom prst="rect">
            <a:avLst/>
          </a:prstGeom>
          <a:noFill/>
          <a:ln/>
        </p:spPr>
        <p:txBody>
          <a:bodyPr wrap="square" lIns="0" tIns="0" rIns="0" bIns="0" rtlCol="0" anchor="ctr"/>
          <a:lstStyle/>
          <a:p>
            <a:pPr algn="ctr" indent="0" marL="0">
              <a:buNone/>
            </a:pPr>
            <a:r>
              <a:rPr lang="en-US" sz="1100" b="1" dirty="0">
                <a:solidFill>
                  <a:srgbClr val="FFFFFF"/>
                </a:solidFill>
                <a:latin typeface="JetBrains Mono" pitchFamily="34" charset="0"/>
                <a:ea typeface="JetBrains Mono" pitchFamily="34" charset="-122"/>
                <a:cs typeface="JetBrains Mono" pitchFamily="34" charset="-120"/>
              </a:rPr>
              <a:t>MODIFIED</a:t>
            </a:r>
            <a:endParaRPr lang="en-US" sz="1100" dirty="0"/>
          </a:p>
        </p:txBody>
      </p:sp>
      <p:sp>
        <p:nvSpPr>
          <p:cNvPr id="13" name="Text 11"/>
          <p:cNvSpPr txBox="1"/>
          <p:nvPr/>
        </p:nvSpPr>
        <p:spPr>
          <a:xfrm>
            <a:off x="8074152" y="3017520"/>
            <a:ext cx="3291840" cy="292608"/>
          </a:xfrm>
          <a:prstGeom prst="rect">
            <a:avLst/>
          </a:prstGeom>
          <a:noFill/>
          <a:ln/>
        </p:spPr>
        <p:txBody>
          <a:bodyPr wrap="square" lIns="0" tIns="0" rIns="0" bIns="0" rtlCol="0" anchor="ctr"/>
          <a:lstStyle/>
          <a:p>
            <a:pPr indent="0" marL="0">
              <a:buNone/>
            </a:pPr>
            <a:r>
              <a:rPr lang="en-US" sz="1400" dirty="0">
                <a:solidFill>
                  <a:srgbClr val="4A5568"/>
                </a:solidFill>
                <a:latin typeface="Noto Sans KR" pitchFamily="34" charset="0"/>
                <a:ea typeface="Noto Sans KR" pitchFamily="34" charset="-122"/>
                <a:cs typeface="Noto Sans KR" pitchFamily="34" charset="-120"/>
              </a:rPr>
              <a:t>같은 요구사항을 </a:t>
            </a:r>
            <a:pPr indent="0" marL="0">
              <a:buNone/>
            </a:pPr>
            <a:r>
              <a:rPr lang="en-US" sz="1400" b="1" dirty="0">
                <a:solidFill>
                  <a:srgbClr val="1B2430"/>
                </a:solidFill>
                <a:latin typeface="Noto Sans KR" pitchFamily="34" charset="0"/>
                <a:ea typeface="Noto Sans KR" pitchFamily="34" charset="-122"/>
                <a:cs typeface="Noto Sans KR" pitchFamily="34" charset="-120"/>
              </a:rPr>
              <a:t>통째로 교체</a:t>
            </a:r>
            <a:endParaRPr lang="en-US" sz="1400" dirty="0"/>
          </a:p>
        </p:txBody>
      </p:sp>
      <p:sp>
        <p:nvSpPr>
          <p:cNvPr id="14" name="Shape 12"/>
          <p:cNvSpPr/>
          <p:nvPr/>
        </p:nvSpPr>
        <p:spPr>
          <a:xfrm>
            <a:off x="6528816" y="3529584"/>
            <a:ext cx="1399032" cy="356616"/>
          </a:xfrm>
          <a:prstGeom prst="roundRect">
            <a:avLst>
              <a:gd name="adj" fmla="val 12821"/>
            </a:avLst>
          </a:prstGeom>
          <a:solidFill>
            <a:srgbClr val="4A5568"/>
          </a:solidFill>
          <a:ln/>
        </p:spPr>
      </p:sp>
      <p:sp>
        <p:nvSpPr>
          <p:cNvPr id="15" name="Text 13"/>
          <p:cNvSpPr txBox="1"/>
          <p:nvPr/>
        </p:nvSpPr>
        <p:spPr>
          <a:xfrm>
            <a:off x="6528816" y="3529584"/>
            <a:ext cx="1399032" cy="356616"/>
          </a:xfrm>
          <a:prstGeom prst="rect">
            <a:avLst/>
          </a:prstGeom>
          <a:noFill/>
          <a:ln/>
        </p:spPr>
        <p:txBody>
          <a:bodyPr wrap="square" lIns="0" tIns="0" rIns="0" bIns="0" rtlCol="0" anchor="ctr"/>
          <a:lstStyle/>
          <a:p>
            <a:pPr algn="ctr" indent="0" marL="0">
              <a:buNone/>
            </a:pPr>
            <a:r>
              <a:rPr lang="en-US" sz="1100" b="1" dirty="0">
                <a:solidFill>
                  <a:srgbClr val="FFFFFF"/>
                </a:solidFill>
                <a:latin typeface="JetBrains Mono" pitchFamily="34" charset="0"/>
                <a:ea typeface="JetBrains Mono" pitchFamily="34" charset="-122"/>
                <a:cs typeface="JetBrains Mono" pitchFamily="34" charset="-120"/>
              </a:rPr>
              <a:t>REMOVED</a:t>
            </a:r>
            <a:endParaRPr lang="en-US" sz="1100" dirty="0"/>
          </a:p>
        </p:txBody>
      </p:sp>
      <p:sp>
        <p:nvSpPr>
          <p:cNvPr id="16" name="Text 14"/>
          <p:cNvSpPr txBox="1"/>
          <p:nvPr/>
        </p:nvSpPr>
        <p:spPr>
          <a:xfrm>
            <a:off x="8074152" y="3557016"/>
            <a:ext cx="3291840" cy="292608"/>
          </a:xfrm>
          <a:prstGeom prst="rect">
            <a:avLst/>
          </a:prstGeom>
          <a:noFill/>
          <a:ln/>
        </p:spPr>
        <p:txBody>
          <a:bodyPr wrap="square" lIns="0" tIns="0" rIns="0" bIns="0" rtlCol="0" anchor="ctr"/>
          <a:lstStyle/>
          <a:p>
            <a:pPr indent="0" marL="0">
              <a:buNone/>
            </a:pPr>
            <a:pPr indent="0" marL="0">
              <a:buNone/>
            </a:pPr>
            <a:r>
              <a:rPr lang="en-US" sz="1400" b="1" dirty="0">
                <a:solidFill>
                  <a:srgbClr val="1B2430"/>
                </a:solidFill>
                <a:latin typeface="Noto Sans KR" pitchFamily="34" charset="0"/>
                <a:ea typeface="Noto Sans KR" pitchFamily="34" charset="-122"/>
                <a:cs typeface="Noto Sans KR" pitchFamily="34" charset="-120"/>
              </a:rPr>
              <a:t>삭제 (이유 · 이전 방법 필수)</a:t>
            </a:r>
            <a:endParaRPr lang="en-US" sz="1400" dirty="0"/>
          </a:p>
        </p:txBody>
      </p:sp>
      <p:sp>
        <p:nvSpPr>
          <p:cNvPr id="17" name="Shape 15"/>
          <p:cNvSpPr/>
          <p:nvPr/>
        </p:nvSpPr>
        <p:spPr>
          <a:xfrm>
            <a:off x="6528816" y="4114800"/>
            <a:ext cx="4855464" cy="804672"/>
          </a:xfrm>
          <a:prstGeom prst="roundRect">
            <a:avLst>
              <a:gd name="adj" fmla="val 9091"/>
            </a:avLst>
          </a:prstGeom>
          <a:solidFill>
            <a:srgbClr val="F4F5F7"/>
          </a:solidFill>
          <a:ln/>
        </p:spPr>
      </p:sp>
      <p:sp>
        <p:nvSpPr>
          <p:cNvPr id="18" name="Text 16"/>
          <p:cNvSpPr txBox="1"/>
          <p:nvPr/>
        </p:nvSpPr>
        <p:spPr>
          <a:xfrm>
            <a:off x="6711696" y="4114800"/>
            <a:ext cx="4526280" cy="804672"/>
          </a:xfrm>
          <a:prstGeom prst="rect">
            <a:avLst/>
          </a:prstGeom>
          <a:noFill/>
          <a:ln/>
        </p:spPr>
        <p:txBody>
          <a:bodyPr wrap="square" lIns="0" tIns="0" rIns="0" bIns="0" rtlCol="0" anchor="ctr"/>
          <a:lstStyle/>
          <a:p>
            <a:pPr indent="0" marL="0">
              <a:buNone/>
            </a:pPr>
            <a:r>
              <a:rPr lang="en-US" sz="1200" dirty="0">
                <a:solidFill>
                  <a:srgbClr val="4A5568"/>
                </a:solidFill>
                <a:latin typeface="Noto Sans KR" pitchFamily="34" charset="0"/>
                <a:ea typeface="Noto Sans KR" pitchFamily="34" charset="-122"/>
                <a:cs typeface="Noto Sans KR" pitchFamily="34" charset="-120"/>
              </a:rPr>
              <a:t>한국어로 써도 </a:t>
            </a:r>
            <a:pPr indent="0" marL="0">
              <a:buNone/>
            </a:pPr>
            <a:r>
              <a:rPr lang="en-US" sz="1200" b="1" dirty="0">
                <a:solidFill>
                  <a:srgbClr val="1B2430"/>
                </a:solidFill>
                <a:latin typeface="Noto Sans KR" pitchFamily="34" charset="0"/>
                <a:ea typeface="Noto Sans KR" pitchFamily="34" charset="-122"/>
                <a:cs typeface="Noto Sans KR" pitchFamily="34" charset="-120"/>
              </a:rPr>
              <a:t>구조 제목과 SHALL/MUST는 영어로.</a:t>
            </a:r>
            <a:pPr indent="0" marL="0">
              <a:buNone/>
            </a:pPr>
            <a:endParaRPr lang="en-US" sz="1200" dirty="0"/>
          </a:p>
          <a:p>
            <a:pPr indent="0" marL="0">
              <a:buNone/>
            </a:pPr>
            <a:r>
              <a:rPr lang="en-US" sz="1200" dirty="0">
                <a:solidFill>
                  <a:srgbClr val="4A5568"/>
                </a:solidFill>
                <a:latin typeface="Noto Sans KR" pitchFamily="34" charset="0"/>
                <a:ea typeface="Noto Sans KR" pitchFamily="34" charset="-122"/>
                <a:cs typeface="Noto Sans KR" pitchFamily="34" charset="-120"/>
              </a:rPr>
              <a:t>openspec validate --strict 가 형식을 검사한다.</a:t>
            </a:r>
            <a:endParaRPr lang="en-US" sz="1200" dirty="0"/>
          </a:p>
        </p:txBody>
      </p:sp>
      <p:sp>
        <p:nvSpPr>
          <p:cNvPr id="19" name="Text 17"/>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7 / 15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2F6FDB"/>
                </a:solidFill>
                <a:latin typeface="Noto Sans KR" pitchFamily="34" charset="0"/>
                <a:ea typeface="Noto Sans KR" pitchFamily="34" charset="-122"/>
                <a:cs typeface="Noto Sans KR" pitchFamily="34" charset="-120"/>
              </a:rPr>
              <a:t>M03 · SPEC KIT (GitHub)</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기능 하나를 단계별로 꼼꼼하게</a:t>
            </a:r>
            <a:endParaRPr lang="en-US" sz="3200" dirty="0"/>
          </a:p>
        </p:txBody>
      </p:sp>
      <p:sp>
        <p:nvSpPr>
          <p:cNvPr id="4" name="Shape 2"/>
          <p:cNvSpPr/>
          <p:nvPr/>
        </p:nvSpPr>
        <p:spPr>
          <a:xfrm>
            <a:off x="813816" y="2002536"/>
            <a:ext cx="3419856" cy="365760"/>
          </a:xfrm>
          <a:prstGeom prst="roundRect">
            <a:avLst>
              <a:gd name="adj" fmla="val 20000"/>
            </a:avLst>
          </a:prstGeom>
          <a:solidFill>
            <a:srgbClr val="2F6FDB"/>
          </a:solidFill>
          <a:ln/>
        </p:spPr>
      </p:sp>
      <p:sp>
        <p:nvSpPr>
          <p:cNvPr id="5" name="Shape 3"/>
          <p:cNvSpPr/>
          <p:nvPr/>
        </p:nvSpPr>
        <p:spPr>
          <a:xfrm>
            <a:off x="813816" y="2057400"/>
            <a:ext cx="3419856" cy="2267712"/>
          </a:xfrm>
          <a:prstGeom prst="roundRect">
            <a:avLst>
              <a:gd name="adj" fmla="val 3226"/>
            </a:avLst>
          </a:prstGeom>
          <a:solidFill>
            <a:srgbClr val="F4F5F7"/>
          </a:solidFill>
          <a:ln/>
        </p:spPr>
      </p:sp>
      <p:sp>
        <p:nvSpPr>
          <p:cNvPr id="6" name="Text 4"/>
          <p:cNvSpPr txBox="1"/>
          <p:nvPr/>
        </p:nvSpPr>
        <p:spPr>
          <a:xfrm>
            <a:off x="1042416" y="2276856"/>
            <a:ext cx="3054096" cy="301752"/>
          </a:xfrm>
          <a:prstGeom prst="rect">
            <a:avLst/>
          </a:prstGeom>
          <a:noFill/>
          <a:ln/>
        </p:spPr>
        <p:txBody>
          <a:bodyPr wrap="square" lIns="0" tIns="0" rIns="0" bIns="0" rtlCol="0" anchor="t"/>
          <a:lstStyle/>
          <a:p>
            <a:pPr indent="0" marL="0">
              <a:buNone/>
            </a:pPr>
            <a:r>
              <a:rPr lang="en-US" sz="1800" b="1" dirty="0">
                <a:solidFill>
                  <a:srgbClr val="1B2430"/>
                </a:solidFill>
                <a:latin typeface="IBM Plex Sans KR" pitchFamily="34" charset="0"/>
                <a:ea typeface="IBM Plex Sans KR" pitchFamily="34" charset="-122"/>
                <a:cs typeface="IBM Plex Sans KR" pitchFamily="34" charset="-120"/>
              </a:rPr>
              <a:t>① 원칙 · 명세</a:t>
            </a:r>
            <a:endParaRPr lang="en-US" sz="1800" dirty="0"/>
          </a:p>
        </p:txBody>
      </p:sp>
      <p:sp>
        <p:nvSpPr>
          <p:cNvPr id="7" name="Text 5"/>
          <p:cNvSpPr txBox="1"/>
          <p:nvPr/>
        </p:nvSpPr>
        <p:spPr>
          <a:xfrm>
            <a:off x="1042416" y="2651760"/>
            <a:ext cx="3054096" cy="237744"/>
          </a:xfrm>
          <a:prstGeom prst="rect">
            <a:avLst/>
          </a:prstGeom>
          <a:noFill/>
          <a:ln/>
        </p:spPr>
        <p:txBody>
          <a:bodyPr wrap="square" lIns="0" tIns="0" rIns="0" bIns="0" rtlCol="0" anchor="t"/>
          <a:lstStyle/>
          <a:p>
            <a:pPr indent="0" marL="0">
              <a:buNone/>
            </a:pPr>
            <a:r>
              <a:rPr lang="en-US" sz="1200" dirty="0">
                <a:solidFill>
                  <a:srgbClr val="6B7280"/>
                </a:solidFill>
                <a:latin typeface="Noto Sans KR" pitchFamily="34" charset="0"/>
                <a:ea typeface="Noto Sans KR" pitchFamily="34" charset="-122"/>
                <a:cs typeface="Noto Sans KR" pitchFamily="34" charset="-120"/>
              </a:rPr>
              <a:t>사람이 무엇을 · 왜</a:t>
            </a:r>
            <a:endParaRPr lang="en-US" sz="1200" dirty="0"/>
          </a:p>
        </p:txBody>
      </p:sp>
      <p:sp>
        <p:nvSpPr>
          <p:cNvPr id="8" name="Text 6"/>
          <p:cNvSpPr txBox="1"/>
          <p:nvPr/>
        </p:nvSpPr>
        <p:spPr>
          <a:xfrm>
            <a:off x="1042416" y="2990088"/>
            <a:ext cx="3054096" cy="1188720"/>
          </a:xfrm>
          <a:prstGeom prst="rect">
            <a:avLst/>
          </a:prstGeom>
          <a:noFill/>
          <a:ln/>
        </p:spPr>
        <p:txBody>
          <a:bodyPr wrap="square" lIns="0" tIns="0" rIns="0" bIns="0" rtlCol="0" anchor="t"/>
          <a:lstStyle/>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/speckit-constitution</a:t>
            </a:r>
            <a:endParaRPr lang="en-US" sz="1300" dirty="0"/>
          </a:p>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/speckit-specify</a:t>
            </a:r>
            <a:endParaRPr lang="en-US" sz="1300" dirty="0"/>
          </a:p>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/speckit-clarify</a:t>
            </a:r>
            <a:endParaRPr lang="en-US" sz="1300" dirty="0"/>
          </a:p>
        </p:txBody>
      </p:sp>
      <p:sp>
        <p:nvSpPr>
          <p:cNvPr id="9" name="Shape 7"/>
          <p:cNvSpPr/>
          <p:nvPr/>
        </p:nvSpPr>
        <p:spPr>
          <a:xfrm>
            <a:off x="4389120" y="2002536"/>
            <a:ext cx="3419856" cy="365760"/>
          </a:xfrm>
          <a:prstGeom prst="roundRect">
            <a:avLst>
              <a:gd name="adj" fmla="val 20000"/>
            </a:avLst>
          </a:prstGeom>
          <a:solidFill>
            <a:srgbClr val="2F6FDB"/>
          </a:solidFill>
          <a:ln/>
        </p:spPr>
      </p:sp>
      <p:sp>
        <p:nvSpPr>
          <p:cNvPr id="10" name="Shape 8"/>
          <p:cNvSpPr/>
          <p:nvPr/>
        </p:nvSpPr>
        <p:spPr>
          <a:xfrm>
            <a:off x="4389120" y="2057400"/>
            <a:ext cx="3419856" cy="2267712"/>
          </a:xfrm>
          <a:prstGeom prst="roundRect">
            <a:avLst>
              <a:gd name="adj" fmla="val 3226"/>
            </a:avLst>
          </a:prstGeom>
          <a:solidFill>
            <a:srgbClr val="F4F5F7"/>
          </a:solidFill>
          <a:ln/>
        </p:spPr>
      </p:sp>
      <p:sp>
        <p:nvSpPr>
          <p:cNvPr id="11" name="Text 9"/>
          <p:cNvSpPr txBox="1"/>
          <p:nvPr/>
        </p:nvSpPr>
        <p:spPr>
          <a:xfrm>
            <a:off x="4617720" y="2276856"/>
            <a:ext cx="3054096" cy="301752"/>
          </a:xfrm>
          <a:prstGeom prst="rect">
            <a:avLst/>
          </a:prstGeom>
          <a:noFill/>
          <a:ln/>
        </p:spPr>
        <p:txBody>
          <a:bodyPr wrap="square" lIns="0" tIns="0" rIns="0" bIns="0" rtlCol="0" anchor="t"/>
          <a:lstStyle/>
          <a:p>
            <a:pPr indent="0" marL="0">
              <a:buNone/>
            </a:pPr>
            <a:r>
              <a:rPr lang="en-US" sz="1800" b="1" dirty="0">
                <a:solidFill>
                  <a:srgbClr val="1B2430"/>
                </a:solidFill>
                <a:latin typeface="IBM Plex Sans KR" pitchFamily="34" charset="0"/>
                <a:ea typeface="IBM Plex Sans KR" pitchFamily="34" charset="-122"/>
                <a:cs typeface="IBM Plex Sans KR" pitchFamily="34" charset="-120"/>
              </a:rPr>
              <a:t>② 계획 · 분해</a:t>
            </a:r>
            <a:endParaRPr lang="en-US" sz="1800" dirty="0"/>
          </a:p>
        </p:txBody>
      </p:sp>
      <p:sp>
        <p:nvSpPr>
          <p:cNvPr id="12" name="Text 10"/>
          <p:cNvSpPr txBox="1"/>
          <p:nvPr/>
        </p:nvSpPr>
        <p:spPr>
          <a:xfrm>
            <a:off x="4617720" y="2651760"/>
            <a:ext cx="3054096" cy="237744"/>
          </a:xfrm>
          <a:prstGeom prst="rect">
            <a:avLst/>
          </a:prstGeom>
          <a:noFill/>
          <a:ln/>
        </p:spPr>
        <p:txBody>
          <a:bodyPr wrap="square" lIns="0" tIns="0" rIns="0" bIns="0" rtlCol="0" anchor="t"/>
          <a:lstStyle/>
          <a:p>
            <a:pPr indent="0" marL="0">
              <a:buNone/>
            </a:pPr>
            <a:r>
              <a:rPr lang="en-US" sz="1200" dirty="0">
                <a:solidFill>
                  <a:srgbClr val="6B7280"/>
                </a:solidFill>
                <a:latin typeface="Noto Sans KR" pitchFamily="34" charset="0"/>
                <a:ea typeface="Noto Sans KR" pitchFamily="34" charset="-122"/>
                <a:cs typeface="Noto Sans KR" pitchFamily="34" charset="-120"/>
              </a:rPr>
              <a:t>AI가 어떻게</a:t>
            </a:r>
            <a:endParaRPr lang="en-US" sz="1200" dirty="0"/>
          </a:p>
        </p:txBody>
      </p:sp>
      <p:sp>
        <p:nvSpPr>
          <p:cNvPr id="13" name="Text 11"/>
          <p:cNvSpPr txBox="1"/>
          <p:nvPr/>
        </p:nvSpPr>
        <p:spPr>
          <a:xfrm>
            <a:off x="4617720" y="2990088"/>
            <a:ext cx="3054096" cy="1188720"/>
          </a:xfrm>
          <a:prstGeom prst="rect">
            <a:avLst/>
          </a:prstGeom>
          <a:noFill/>
          <a:ln/>
        </p:spPr>
        <p:txBody>
          <a:bodyPr wrap="square" lIns="0" tIns="0" rIns="0" bIns="0" rtlCol="0" anchor="t"/>
          <a:lstStyle/>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/speckit-plan</a:t>
            </a:r>
            <a:endParaRPr lang="en-US" sz="1300" dirty="0"/>
          </a:p>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/speckit-checklist</a:t>
            </a:r>
            <a:endParaRPr lang="en-US" sz="1300" dirty="0"/>
          </a:p>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/speckit-tasks</a:t>
            </a:r>
            <a:endParaRPr lang="en-US" sz="1300" dirty="0"/>
          </a:p>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/speckit-analyze</a:t>
            </a:r>
            <a:endParaRPr lang="en-US" sz="1300" dirty="0"/>
          </a:p>
        </p:txBody>
      </p:sp>
      <p:sp>
        <p:nvSpPr>
          <p:cNvPr id="14" name="Shape 12"/>
          <p:cNvSpPr/>
          <p:nvPr/>
        </p:nvSpPr>
        <p:spPr>
          <a:xfrm>
            <a:off x="7964424" y="2002536"/>
            <a:ext cx="3419856" cy="365760"/>
          </a:xfrm>
          <a:prstGeom prst="roundRect">
            <a:avLst>
              <a:gd name="adj" fmla="val 20000"/>
            </a:avLst>
          </a:prstGeom>
          <a:solidFill>
            <a:srgbClr val="2F6FDB"/>
          </a:solidFill>
          <a:ln/>
        </p:spPr>
      </p:sp>
      <p:sp>
        <p:nvSpPr>
          <p:cNvPr id="15" name="Shape 13"/>
          <p:cNvSpPr/>
          <p:nvPr/>
        </p:nvSpPr>
        <p:spPr>
          <a:xfrm>
            <a:off x="7964424" y="2057400"/>
            <a:ext cx="3419856" cy="2267712"/>
          </a:xfrm>
          <a:prstGeom prst="roundRect">
            <a:avLst>
              <a:gd name="adj" fmla="val 3226"/>
            </a:avLst>
          </a:prstGeom>
          <a:solidFill>
            <a:srgbClr val="F4F5F7"/>
          </a:solidFill>
          <a:ln/>
        </p:spPr>
      </p:sp>
      <p:sp>
        <p:nvSpPr>
          <p:cNvPr id="16" name="Text 14"/>
          <p:cNvSpPr txBox="1"/>
          <p:nvPr/>
        </p:nvSpPr>
        <p:spPr>
          <a:xfrm>
            <a:off x="8193024" y="2276856"/>
            <a:ext cx="3054096" cy="301752"/>
          </a:xfrm>
          <a:prstGeom prst="rect">
            <a:avLst/>
          </a:prstGeom>
          <a:noFill/>
          <a:ln/>
        </p:spPr>
        <p:txBody>
          <a:bodyPr wrap="square" lIns="0" tIns="0" rIns="0" bIns="0" rtlCol="0" anchor="t"/>
          <a:lstStyle/>
          <a:p>
            <a:pPr indent="0" marL="0">
              <a:buNone/>
            </a:pPr>
            <a:r>
              <a:rPr lang="en-US" sz="1800" b="1" dirty="0">
                <a:solidFill>
                  <a:srgbClr val="1B2430"/>
                </a:solidFill>
                <a:latin typeface="IBM Plex Sans KR" pitchFamily="34" charset="0"/>
                <a:ea typeface="IBM Plex Sans KR" pitchFamily="34" charset="-122"/>
                <a:cs typeface="IBM Plex Sans KR" pitchFamily="34" charset="-120"/>
              </a:rPr>
              <a:t>③ 구현 · 수렴</a:t>
            </a:r>
            <a:endParaRPr lang="en-US" sz="1800" dirty="0"/>
          </a:p>
        </p:txBody>
      </p:sp>
      <p:sp>
        <p:nvSpPr>
          <p:cNvPr id="17" name="Text 15"/>
          <p:cNvSpPr txBox="1"/>
          <p:nvPr/>
        </p:nvSpPr>
        <p:spPr>
          <a:xfrm>
            <a:off x="8193024" y="2651760"/>
            <a:ext cx="3054096" cy="237744"/>
          </a:xfrm>
          <a:prstGeom prst="rect">
            <a:avLst/>
          </a:prstGeom>
          <a:noFill/>
          <a:ln/>
        </p:spPr>
        <p:txBody>
          <a:bodyPr wrap="square" lIns="0" tIns="0" rIns="0" bIns="0" rtlCol="0" anchor="t"/>
          <a:lstStyle/>
          <a:p>
            <a:pPr indent="0" marL="0">
              <a:buNone/>
            </a:pPr>
            <a:r>
              <a:rPr lang="en-US" sz="1200" dirty="0">
                <a:solidFill>
                  <a:srgbClr val="6B7280"/>
                </a:solidFill>
                <a:latin typeface="Noto Sans KR" pitchFamily="34" charset="0"/>
                <a:ea typeface="Noto Sans KR" pitchFamily="34" charset="-122"/>
                <a:cs typeface="Noto Sans KR" pitchFamily="34" charset="-120"/>
              </a:rPr>
              <a:t>AI가 실행, 명세와 대조</a:t>
            </a:r>
            <a:endParaRPr lang="en-US" sz="1200" dirty="0"/>
          </a:p>
        </p:txBody>
      </p:sp>
      <p:sp>
        <p:nvSpPr>
          <p:cNvPr id="18" name="Text 16"/>
          <p:cNvSpPr txBox="1"/>
          <p:nvPr/>
        </p:nvSpPr>
        <p:spPr>
          <a:xfrm>
            <a:off x="8193024" y="2990088"/>
            <a:ext cx="3054096" cy="1188720"/>
          </a:xfrm>
          <a:prstGeom prst="rect">
            <a:avLst/>
          </a:prstGeom>
          <a:noFill/>
          <a:ln/>
        </p:spPr>
        <p:txBody>
          <a:bodyPr wrap="square" lIns="0" tIns="0" rIns="0" bIns="0" rtlCol="0" anchor="t"/>
          <a:lstStyle/>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/speckit-implement</a:t>
            </a:r>
            <a:endParaRPr lang="en-US" sz="1300" dirty="0"/>
          </a:p>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/speckit-converge</a:t>
            </a:r>
            <a:endParaRPr lang="en-US" sz="1300" dirty="0"/>
          </a:p>
          <a:p>
            <a:pPr indent="0" marL="0">
              <a:spcAft>
                <a:spcPts val="200"/>
              </a:spcAft>
              <a:buNone/>
            </a:pPr>
            <a:r>
              <a:rPr lang="en-US" sz="1300" dirty="0">
                <a:solidFill>
                  <a:srgbClr val="1B2430"/>
                </a:solidFill>
                <a:latin typeface="JetBrains Mono" pitchFamily="34" charset="0"/>
                <a:ea typeface="JetBrains Mono" pitchFamily="34" charset="-122"/>
                <a:cs typeface="JetBrains Mono" pitchFamily="34" charset="-120"/>
              </a:rPr>
              <a:t>↺ Converged 까지 반복</a:t>
            </a:r>
            <a:endParaRPr lang="en-US" sz="1300" dirty="0"/>
          </a:p>
        </p:txBody>
      </p:sp>
      <p:sp>
        <p:nvSpPr>
          <p:cNvPr id="19" name="Shape 17"/>
          <p:cNvSpPr/>
          <p:nvPr/>
        </p:nvSpPr>
        <p:spPr>
          <a:xfrm>
            <a:off x="813816" y="4572000"/>
            <a:ext cx="10570464" cy="466344"/>
          </a:xfrm>
          <a:prstGeom prst="roundRect">
            <a:avLst>
              <a:gd name="adj" fmla="val 11765"/>
            </a:avLst>
          </a:prstGeom>
          <a:solidFill>
            <a:srgbClr val="19202A"/>
          </a:solidFill>
          <a:ln/>
        </p:spPr>
      </p:sp>
      <p:sp>
        <p:nvSpPr>
          <p:cNvPr id="20" name="Text 18"/>
          <p:cNvSpPr txBox="1"/>
          <p:nvPr/>
        </p:nvSpPr>
        <p:spPr>
          <a:xfrm>
            <a:off x="1088136" y="4572000"/>
            <a:ext cx="10021824" cy="466344"/>
          </a:xfrm>
          <a:prstGeom prst="rect">
            <a:avLst/>
          </a:prstGeom>
          <a:noFill/>
          <a:ln/>
        </p:spPr>
        <p:txBody>
          <a:bodyPr wrap="square" lIns="0" tIns="0" rIns="0" bIns="0" rtlCol="0" anchor="ctr"/>
          <a:lstStyle/>
          <a:p>
            <a:pPr indent="0" marL="0">
              <a:buNone/>
            </a:pPr>
            <a:r>
              <a:rPr lang="en-US" sz="1300" dirty="0">
                <a:solidFill>
                  <a:srgbClr val="7FA8F0"/>
                </a:solidFill>
                <a:latin typeface="JetBrains Mono" pitchFamily="34" charset="0"/>
                <a:ea typeface="JetBrains Mono" pitchFamily="34" charset="-122"/>
                <a:cs typeface="JetBrains Mono" pitchFamily="34" charset="-120"/>
              </a:rPr>
              <a:t>$ </a:t>
            </a:r>
            <a:pPr indent="0" marL="0">
              <a:buNone/>
            </a:pPr>
            <a:r>
              <a:rPr lang="en-US" sz="1300" dirty="0">
                <a:solidFill>
                  <a:srgbClr val="C9D2DE"/>
                </a:solidFill>
                <a:latin typeface="JetBrains Mono" pitchFamily="34" charset="0"/>
                <a:ea typeface="JetBrains Mono" pitchFamily="34" charset="-122"/>
                <a:cs typeface="JetBrains Mono" pitchFamily="34" charset="-120"/>
              </a:rPr>
              <a:t>uv tool install specify-cli  →  specify init my-todo --integration claude</a:t>
            </a:r>
            <a:endParaRPr lang="en-US" sz="1300" dirty="0"/>
          </a:p>
        </p:txBody>
      </p:sp>
      <p:sp>
        <p:nvSpPr>
          <p:cNvPr id="21" name="Text 19"/>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8 / 15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2F6FDB"/>
                </a:solidFill>
                <a:latin typeface="Noto Sans KR" pitchFamily="34" charset="0"/>
                <a:ea typeface="Noto Sans KR" pitchFamily="34" charset="-122"/>
                <a:cs typeface="Noto Sans KR" pitchFamily="34" charset="-120"/>
              </a:rPr>
              <a:t>M03 · 실제 실행 결과 (my-todo)</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기능 하나에 문서 한 묶음이 쌓인다</a:t>
            </a:r>
            <a:endParaRPr lang="en-US" sz="3200" dirty="0"/>
          </a:p>
        </p:txBody>
      </p:sp>
      <p:sp>
        <p:nvSpPr>
          <p:cNvPr id="4" name="Shape 2"/>
          <p:cNvSpPr/>
          <p:nvPr/>
        </p:nvSpPr>
        <p:spPr>
          <a:xfrm>
            <a:off x="813816" y="2002536"/>
            <a:ext cx="6400800" cy="3840480"/>
          </a:xfrm>
          <a:prstGeom prst="roundRect">
            <a:avLst>
              <a:gd name="adj" fmla="val 1905"/>
            </a:avLst>
          </a:prstGeom>
          <a:solidFill>
            <a:srgbClr val="19202A"/>
          </a:solidFill>
          <a:ln/>
        </p:spPr>
      </p:sp>
      <p:sp>
        <p:nvSpPr>
          <p:cNvPr id="5" name="Text 3"/>
          <p:cNvSpPr txBox="1"/>
          <p:nvPr/>
        </p:nvSpPr>
        <p:spPr>
          <a:xfrm>
            <a:off x="1115568" y="2258568"/>
            <a:ext cx="5961888" cy="274320"/>
          </a:xfrm>
          <a:prstGeom prst="rect">
            <a:avLst/>
          </a:prstGeom>
          <a:noFill/>
          <a:ln/>
        </p:spPr>
        <p:txBody>
          <a:bodyPr wrap="square" lIns="0" tIns="0" rIns="0" bIns="0" rtlCol="0" anchor="t"/>
          <a:lstStyle/>
          <a:p>
            <a:pPr indent="0" marL="0">
              <a:buNone/>
            </a:pPr>
            <a:r>
              <a:rPr lang="en-US" sz="1300" b="1" dirty="0">
                <a:solidFill>
                  <a:srgbClr val="7FA8F0"/>
                </a:solidFill>
                <a:latin typeface="JetBrains Mono" pitchFamily="34" charset="0"/>
                <a:ea typeface="JetBrains Mono" pitchFamily="34" charset="-122"/>
                <a:cs typeface="JetBrains Mono" pitchFamily="34" charset="-120"/>
              </a:rPr>
              <a:t>specs/001-todo-list-app/</a:t>
            </a:r>
            <a:endParaRPr lang="en-US" sz="1300" dirty="0"/>
          </a:p>
        </p:txBody>
      </p:sp>
      <p:sp>
        <p:nvSpPr>
          <p:cNvPr id="6" name="Text 4"/>
          <p:cNvSpPr txBox="1"/>
          <p:nvPr/>
        </p:nvSpPr>
        <p:spPr>
          <a:xfrm>
            <a:off x="1115568" y="2651760"/>
            <a:ext cx="5961888" cy="2926080"/>
          </a:xfrm>
          <a:prstGeom prst="rect">
            <a:avLst/>
          </a:prstGeom>
          <a:noFill/>
          <a:ln/>
        </p:spPr>
        <p:txBody>
          <a:bodyPr wrap="square" lIns="0" tIns="0" rIns="0" bIns="0" rtlCol="0" anchor="t"/>
          <a:lstStyle/>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spec.md</a:t>
            </a:r>
            <a:pPr indent="0" marL="0">
              <a:lnSpc>
                <a:spcPct val="125000"/>
              </a:lnSpc>
              <a:buNone/>
            </a:pPr>
            <a:r>
              <a:rPr lang="en-US" sz="1100" dirty="0">
                <a:solidFill>
                  <a:srgbClr val="9AA6B5"/>
                </a:solidFill>
                <a:latin typeface="Noto Sans KR" pitchFamily="34" charset="0"/>
                <a:ea typeface="Noto Sans KR" pitchFamily="34" charset="-122"/>
                <a:cs typeface="Noto Sans KR" pitchFamily="34" charset="-120"/>
              </a:rPr>
              <a:t>   명세 · 무엇을 왜</a:t>
            </a: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plan.md</a:t>
            </a:r>
            <a:pPr indent="0" marL="0">
              <a:lnSpc>
                <a:spcPct val="125000"/>
              </a:lnSpc>
              <a:buNone/>
            </a:pPr>
            <a:r>
              <a:rPr lang="en-US" sz="1100" dirty="0">
                <a:solidFill>
                  <a:srgbClr val="9AA6B5"/>
                </a:solidFill>
                <a:latin typeface="Noto Sans KR" pitchFamily="34" charset="0"/>
                <a:ea typeface="Noto Sans KR" pitchFamily="34" charset="-122"/>
                <a:cs typeface="Noto Sans KR" pitchFamily="34" charset="-120"/>
              </a:rPr>
              <a:t>   기술 계획</a:t>
            </a: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research.md</a:t>
            </a:r>
            <a:pPr indent="0" marL="0">
              <a:lnSpc>
                <a:spcPct val="125000"/>
              </a:lnSpc>
              <a:buNone/>
            </a:pP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data-model.md</a:t>
            </a:r>
            <a:pPr indent="0" marL="0">
              <a:lnSpc>
                <a:spcPct val="125000"/>
              </a:lnSpc>
              <a:buNone/>
            </a:pP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contracts/ (3)</a:t>
            </a:r>
            <a:pPr indent="0" marL="0">
              <a:lnSpc>
                <a:spcPct val="125000"/>
              </a:lnSpc>
              <a:buNone/>
            </a:pP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quickstart.md</a:t>
            </a:r>
            <a:pPr indent="0" marL="0">
              <a:lnSpc>
                <a:spcPct val="125000"/>
              </a:lnSpc>
              <a:buNone/>
            </a:pPr>
            <a:r>
              <a:rPr lang="en-US" sz="1100" dirty="0">
                <a:solidFill>
                  <a:srgbClr val="9AA6B5"/>
                </a:solidFill>
                <a:latin typeface="Noto Sans KR" pitchFamily="34" charset="0"/>
                <a:ea typeface="Noto Sans KR" pitchFamily="34" charset="-122"/>
                <a:cs typeface="Noto Sans KR" pitchFamily="34" charset="-120"/>
              </a:rPr>
              <a:t>   검증 시나리오</a:t>
            </a: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checklists/ (2)</a:t>
            </a:r>
            <a:pPr indent="0" marL="0">
              <a:lnSpc>
                <a:spcPct val="125000"/>
              </a:lnSpc>
              <a:buNone/>
            </a:pP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tasks.md</a:t>
            </a:r>
            <a:pPr indent="0" marL="0">
              <a:lnSpc>
                <a:spcPct val="125000"/>
              </a:lnSpc>
              <a:buNone/>
            </a:pPr>
            <a:r>
              <a:rPr lang="en-US" sz="1100" dirty="0">
                <a:solidFill>
                  <a:srgbClr val="9AA6B5"/>
                </a:solidFill>
                <a:latin typeface="Noto Sans KR" pitchFamily="34" charset="0"/>
                <a:ea typeface="Noto Sans KR" pitchFamily="34" charset="-122"/>
                <a:cs typeface="Noto Sans KR" pitchFamily="34" charset="-120"/>
              </a:rPr>
              <a:t>   작업 목록</a:t>
            </a:r>
            <a:endParaRPr lang="en-US" sz="1200" dirty="0"/>
          </a:p>
        </p:txBody>
      </p:sp>
      <p:sp>
        <p:nvSpPr>
          <p:cNvPr id="7" name="Text 5"/>
          <p:cNvSpPr txBox="1"/>
          <p:nvPr/>
        </p:nvSpPr>
        <p:spPr>
          <a:xfrm>
            <a:off x="7516368" y="2002536"/>
            <a:ext cx="3977640" cy="640080"/>
          </a:xfrm>
          <a:prstGeom prst="rect">
            <a:avLst/>
          </a:prstGeom>
          <a:noFill/>
          <a:ln/>
        </p:spPr>
        <p:txBody>
          <a:bodyPr wrap="square" lIns="0" tIns="0" rIns="0" bIns="0" rtlCol="0" anchor="t"/>
          <a:lstStyle/>
          <a:p>
            <a:pPr indent="0" marL="0">
              <a:buNone/>
            </a:pPr>
            <a:r>
              <a:rPr lang="en-US" sz="4000" b="1" dirty="0">
                <a:solidFill>
                  <a:srgbClr val="2F6FDB"/>
                </a:solidFill>
                <a:latin typeface="IBM Plex Sans KR" pitchFamily="34" charset="0"/>
                <a:ea typeface="IBM Plex Sans KR" pitchFamily="34" charset="-122"/>
                <a:cs typeface="IBM Plex Sans KR" pitchFamily="34" charset="-120"/>
              </a:rPr>
              <a:t>10 + 5</a:t>
            </a:r>
            <a:endParaRPr lang="en-US" sz="4000" dirty="0"/>
          </a:p>
        </p:txBody>
      </p:sp>
      <p:sp>
        <p:nvSpPr>
          <p:cNvPr id="8" name="Text 6"/>
          <p:cNvSpPr txBox="1"/>
          <p:nvPr/>
        </p:nvSpPr>
        <p:spPr>
          <a:xfrm>
            <a:off x="7516368" y="2660904"/>
            <a:ext cx="3977640" cy="256032"/>
          </a:xfrm>
          <a:prstGeom prst="rect">
            <a:avLst/>
          </a:prstGeom>
          <a:noFill/>
          <a:ln/>
        </p:spPr>
        <p:txBody>
          <a:bodyPr wrap="square" lIns="0" tIns="0" rIns="0" bIns="0" rtlCol="0" anchor="t"/>
          <a:lstStyle/>
          <a:p>
            <a:pPr indent="0" marL="0">
              <a:buNone/>
            </a:pPr>
            <a:r>
              <a:rPr lang="en-US" sz="1200" dirty="0">
                <a:solidFill>
                  <a:srgbClr val="4A5568"/>
                </a:solidFill>
                <a:latin typeface="Noto Sans KR" pitchFamily="34" charset="0"/>
                <a:ea typeface="Noto Sans KR" pitchFamily="34" charset="-122"/>
                <a:cs typeface="Noto Sans KR" pitchFamily="34" charset="-120"/>
              </a:rPr>
              <a:t>Claude Code 스킬 (기본 + git 확장)</a:t>
            </a:r>
            <a:endParaRPr lang="en-US" sz="1200" dirty="0"/>
          </a:p>
        </p:txBody>
      </p:sp>
      <p:sp>
        <p:nvSpPr>
          <p:cNvPr id="9" name="Text 7"/>
          <p:cNvSpPr txBox="1"/>
          <p:nvPr/>
        </p:nvSpPr>
        <p:spPr>
          <a:xfrm>
            <a:off x="7516368" y="3282696"/>
            <a:ext cx="3977640" cy="640080"/>
          </a:xfrm>
          <a:prstGeom prst="rect">
            <a:avLst/>
          </a:prstGeom>
          <a:noFill/>
          <a:ln/>
        </p:spPr>
        <p:txBody>
          <a:bodyPr wrap="square" lIns="0" tIns="0" rIns="0" bIns="0" rtlCol="0" anchor="t"/>
          <a:lstStyle/>
          <a:p>
            <a:pPr indent="0" marL="0">
              <a:buNone/>
            </a:pPr>
            <a:r>
              <a:rPr lang="en-US" sz="4000" b="1" dirty="0">
                <a:solidFill>
                  <a:srgbClr val="2F6FDB"/>
                </a:solidFill>
                <a:latin typeface="IBM Plex Sans KR" pitchFamily="34" charset="0"/>
                <a:ea typeface="IBM Plex Sans KR" pitchFamily="34" charset="-122"/>
                <a:cs typeface="IBM Plex Sans KR" pitchFamily="34" charset="-120"/>
              </a:rPr>
              <a:t>11</a:t>
            </a:r>
            <a:endParaRPr lang="en-US" sz="4000" dirty="0"/>
          </a:p>
        </p:txBody>
      </p:sp>
      <p:sp>
        <p:nvSpPr>
          <p:cNvPr id="10" name="Text 8"/>
          <p:cNvSpPr txBox="1"/>
          <p:nvPr/>
        </p:nvSpPr>
        <p:spPr>
          <a:xfrm>
            <a:off x="7516368" y="3941064"/>
            <a:ext cx="3977640" cy="256032"/>
          </a:xfrm>
          <a:prstGeom prst="rect">
            <a:avLst/>
          </a:prstGeom>
          <a:noFill/>
          <a:ln/>
        </p:spPr>
        <p:txBody>
          <a:bodyPr wrap="square" lIns="0" tIns="0" rIns="0" bIns="0" rtlCol="0" anchor="t"/>
          <a:lstStyle/>
          <a:p>
            <a:pPr indent="0" marL="0">
              <a:buNone/>
            </a:pPr>
            <a:r>
              <a:rPr lang="en-US" sz="1200" dirty="0">
                <a:solidFill>
                  <a:srgbClr val="4A5568"/>
                </a:solidFill>
                <a:latin typeface="Noto Sans KR" pitchFamily="34" charset="0"/>
                <a:ea typeface="Noto Sans KR" pitchFamily="34" charset="-122"/>
                <a:cs typeface="Noto Sans KR" pitchFamily="34" charset="-120"/>
              </a:rPr>
              <a:t>기능 001에 생성된 문서 수</a:t>
            </a:r>
            <a:endParaRPr lang="en-US" sz="1200" dirty="0"/>
          </a:p>
        </p:txBody>
      </p:sp>
      <p:sp>
        <p:nvSpPr>
          <p:cNvPr id="11" name="Text 9"/>
          <p:cNvSpPr txBox="1"/>
          <p:nvPr/>
        </p:nvSpPr>
        <p:spPr>
          <a:xfrm>
            <a:off x="7516368" y="4562856"/>
            <a:ext cx="3977640" cy="640080"/>
          </a:xfrm>
          <a:prstGeom prst="rect">
            <a:avLst/>
          </a:prstGeom>
          <a:noFill/>
          <a:ln/>
        </p:spPr>
        <p:txBody>
          <a:bodyPr wrap="square" lIns="0" tIns="0" rIns="0" bIns="0" rtlCol="0" anchor="t"/>
          <a:lstStyle/>
          <a:p>
            <a:pPr indent="0" marL="0">
              <a:buNone/>
            </a:pPr>
            <a:r>
              <a:rPr lang="en-US" sz="4000" b="1" dirty="0">
                <a:solidFill>
                  <a:srgbClr val="2F6FDB"/>
                </a:solidFill>
                <a:latin typeface="IBM Plex Sans KR" pitchFamily="34" charset="0"/>
                <a:ea typeface="IBM Plex Sans KR" pitchFamily="34" charset="-122"/>
                <a:cs typeface="IBM Plex Sans KR" pitchFamily="34" charset="-120"/>
              </a:rPr>
              <a:t>34 / 34</a:t>
            </a:r>
            <a:endParaRPr lang="en-US" sz="4000" dirty="0"/>
          </a:p>
        </p:txBody>
      </p:sp>
      <p:sp>
        <p:nvSpPr>
          <p:cNvPr id="12" name="Text 10"/>
          <p:cNvSpPr txBox="1"/>
          <p:nvPr/>
        </p:nvSpPr>
        <p:spPr>
          <a:xfrm>
            <a:off x="7516368" y="5221224"/>
            <a:ext cx="3977640" cy="256032"/>
          </a:xfrm>
          <a:prstGeom prst="rect">
            <a:avLst/>
          </a:prstGeom>
          <a:noFill/>
          <a:ln/>
        </p:spPr>
        <p:txBody>
          <a:bodyPr wrap="square" lIns="0" tIns="0" rIns="0" bIns="0" rtlCol="0" anchor="t"/>
          <a:lstStyle/>
          <a:p>
            <a:pPr indent="0" marL="0">
              <a:buNone/>
            </a:pPr>
            <a:r>
              <a:rPr lang="en-US" sz="1200" dirty="0">
                <a:solidFill>
                  <a:srgbClr val="4A5568"/>
                </a:solidFill>
                <a:latin typeface="Noto Sans KR" pitchFamily="34" charset="0"/>
                <a:ea typeface="Noto Sans KR" pitchFamily="34" charset="-122"/>
                <a:cs typeface="Noto Sans KR" pitchFamily="34" charset="-120"/>
              </a:rPr>
              <a:t>node --test 통과</a:t>
            </a:r>
            <a:endParaRPr lang="en-US" sz="1200" dirty="0"/>
          </a:p>
        </p:txBody>
      </p:sp>
      <p:sp>
        <p:nvSpPr>
          <p:cNvPr id="13" name="Text 11"/>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9 / 15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2E7D4F"/>
                </a:solidFill>
                <a:latin typeface="Noto Sans KR" pitchFamily="34" charset="0"/>
                <a:ea typeface="Noto Sans KR" pitchFamily="34" charset="-122"/>
                <a:cs typeface="Noto Sans KR" pitchFamily="34" charset="-120"/>
              </a:rPr>
              <a:t>M04 · GSD (Get Shit Done · GSD Core)</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단계마다 새 컨텍스트로 루프를 돈다</a:t>
            </a:r>
            <a:endParaRPr lang="en-US" sz="3200" dirty="0"/>
          </a:p>
        </p:txBody>
      </p:sp>
      <p:sp>
        <p:nvSpPr>
          <p:cNvPr id="4" name="Shape 2"/>
          <p:cNvSpPr/>
          <p:nvPr/>
        </p:nvSpPr>
        <p:spPr>
          <a:xfrm>
            <a:off x="813816" y="1965960"/>
            <a:ext cx="2240280" cy="365760"/>
          </a:xfrm>
          <a:prstGeom prst="roundRect">
            <a:avLst>
              <a:gd name="adj" fmla="val 20000"/>
            </a:avLst>
          </a:prstGeom>
          <a:solidFill>
            <a:srgbClr val="2E7D4F"/>
          </a:solidFill>
          <a:ln/>
        </p:spPr>
      </p:sp>
      <p:sp>
        <p:nvSpPr>
          <p:cNvPr id="5" name="Shape 3"/>
          <p:cNvSpPr/>
          <p:nvPr/>
        </p:nvSpPr>
        <p:spPr>
          <a:xfrm>
            <a:off x="813816" y="2020824"/>
            <a:ext cx="2240280" cy="1271016"/>
          </a:xfrm>
          <a:prstGeom prst="roundRect">
            <a:avLst>
              <a:gd name="adj" fmla="val 5755"/>
            </a:avLst>
          </a:prstGeom>
          <a:solidFill>
            <a:srgbClr val="F4F5F7"/>
          </a:solidFill>
          <a:ln/>
        </p:spPr>
      </p:sp>
      <p:sp>
        <p:nvSpPr>
          <p:cNvPr id="6" name="Text 4"/>
          <p:cNvSpPr txBox="1"/>
          <p:nvPr/>
        </p:nvSpPr>
        <p:spPr>
          <a:xfrm>
            <a:off x="996696" y="2157984"/>
            <a:ext cx="1965960" cy="256032"/>
          </a:xfrm>
          <a:prstGeom prst="rect">
            <a:avLst/>
          </a:prstGeom>
          <a:noFill/>
          <a:ln/>
        </p:spPr>
        <p:txBody>
          <a:bodyPr wrap="square" lIns="0" tIns="0" rIns="0" bIns="0" rtlCol="0" anchor="t"/>
          <a:lstStyle/>
          <a:p>
            <a:pPr indent="0" marL="0">
              <a:buNone/>
            </a:pPr>
            <a:r>
              <a:rPr lang="en-US" sz="1200" b="1" dirty="0">
                <a:solidFill>
                  <a:srgbClr val="2E7D4F"/>
                </a:solidFill>
                <a:latin typeface="JetBrains Mono" pitchFamily="34" charset="0"/>
                <a:ea typeface="JetBrains Mono" pitchFamily="34" charset="-122"/>
                <a:cs typeface="JetBrains Mono" pitchFamily="34" charset="-120"/>
              </a:rPr>
              <a:t>/gsd-discuss-phase</a:t>
            </a:r>
            <a:endParaRPr lang="en-US" sz="1200" dirty="0"/>
          </a:p>
        </p:txBody>
      </p:sp>
      <p:sp>
        <p:nvSpPr>
          <p:cNvPr id="7" name="Text 5"/>
          <p:cNvSpPr txBox="1"/>
          <p:nvPr/>
        </p:nvSpPr>
        <p:spPr>
          <a:xfrm>
            <a:off x="996696" y="2487168"/>
            <a:ext cx="1965960" cy="274320"/>
          </a:xfrm>
          <a:prstGeom prst="rect">
            <a:avLst/>
          </a:prstGeom>
          <a:noFill/>
          <a:ln/>
        </p:spPr>
        <p:txBody>
          <a:bodyPr wrap="square" lIns="0" tIns="0" rIns="0" bIns="0" rtlCol="0" anchor="t"/>
          <a:lstStyle/>
          <a:p>
            <a:pPr indent="0" marL="0">
              <a:buNone/>
            </a:pPr>
            <a:r>
              <a:rPr lang="en-US" sz="1500" b="1" dirty="0">
                <a:solidFill>
                  <a:srgbClr val="1B2430"/>
                </a:solidFill>
                <a:latin typeface="IBM Plex Sans KR" pitchFamily="34" charset="0"/>
                <a:ea typeface="IBM Plex Sans KR" pitchFamily="34" charset="-122"/>
                <a:cs typeface="IBM Plex Sans KR" pitchFamily="34" charset="-120"/>
              </a:rPr>
              <a:t>구현 방식 결정</a:t>
            </a:r>
            <a:endParaRPr lang="en-US" sz="1500" dirty="0"/>
          </a:p>
        </p:txBody>
      </p:sp>
      <p:sp>
        <p:nvSpPr>
          <p:cNvPr id="8" name="Text 6"/>
          <p:cNvSpPr txBox="1"/>
          <p:nvPr/>
        </p:nvSpPr>
        <p:spPr>
          <a:xfrm>
            <a:off x="996696" y="2834640"/>
            <a:ext cx="1965960" cy="256032"/>
          </a:xfrm>
          <a:prstGeom prst="rect">
            <a:avLst/>
          </a:prstGeom>
          <a:noFill/>
          <a:ln/>
        </p:spPr>
        <p:txBody>
          <a:bodyPr wrap="square" lIns="0" tIns="0" rIns="0" bIns="0" rtlCol="0" anchor="t"/>
          <a:lstStyle/>
          <a:p>
            <a:pPr indent="0" marL="0">
              <a:buNone/>
            </a:pPr>
            <a:r>
              <a:rPr lang="en-US" sz="1100" dirty="0">
                <a:solidFill>
                  <a:srgbClr val="6B7280"/>
                </a:solidFill>
                <a:latin typeface="JetBrains Mono" pitchFamily="34" charset="0"/>
                <a:ea typeface="JetBrains Mono" pitchFamily="34" charset="-122"/>
                <a:cs typeface="JetBrains Mono" pitchFamily="34" charset="-120"/>
              </a:rPr>
              <a:t>CONTEXT.md</a:t>
            </a:r>
            <a:endParaRPr lang="en-US" sz="1100" dirty="0"/>
          </a:p>
        </p:txBody>
      </p:sp>
      <p:sp>
        <p:nvSpPr>
          <p:cNvPr id="9" name="Shape 7"/>
          <p:cNvSpPr/>
          <p:nvPr/>
        </p:nvSpPr>
        <p:spPr>
          <a:xfrm>
            <a:off x="3048000" y="2487168"/>
            <a:ext cx="548640" cy="274320"/>
          </a:xfrm>
          <a:prstGeom prst="roundRect">
            <a:avLst>
              <a:gd name="adj" fmla="val 16667"/>
            </a:avLst>
          </a:prstGeom>
          <a:solidFill>
            <a:srgbClr val="1B2430"/>
          </a:solidFill>
          <a:ln/>
        </p:spPr>
      </p:sp>
      <p:sp>
        <p:nvSpPr>
          <p:cNvPr id="10" name="Text 8"/>
          <p:cNvSpPr txBox="1"/>
          <p:nvPr/>
        </p:nvSpPr>
        <p:spPr>
          <a:xfrm>
            <a:off x="3048000" y="2487168"/>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JetBrains Mono" pitchFamily="34" charset="0"/>
                <a:ea typeface="JetBrains Mono" pitchFamily="34" charset="-122"/>
                <a:cs typeface="JetBrains Mono" pitchFamily="34" charset="-120"/>
              </a:rPr>
              <a:t>/clear</a:t>
            </a:r>
            <a:endParaRPr lang="en-US" sz="900" dirty="0"/>
          </a:p>
        </p:txBody>
      </p:sp>
      <p:sp>
        <p:nvSpPr>
          <p:cNvPr id="11" name="Shape 9"/>
          <p:cNvSpPr/>
          <p:nvPr/>
        </p:nvSpPr>
        <p:spPr>
          <a:xfrm>
            <a:off x="3590544" y="1965960"/>
            <a:ext cx="2240280" cy="365760"/>
          </a:xfrm>
          <a:prstGeom prst="roundRect">
            <a:avLst>
              <a:gd name="adj" fmla="val 20000"/>
            </a:avLst>
          </a:prstGeom>
          <a:solidFill>
            <a:srgbClr val="2E7D4F"/>
          </a:solidFill>
          <a:ln/>
        </p:spPr>
      </p:sp>
      <p:sp>
        <p:nvSpPr>
          <p:cNvPr id="12" name="Shape 10"/>
          <p:cNvSpPr/>
          <p:nvPr/>
        </p:nvSpPr>
        <p:spPr>
          <a:xfrm>
            <a:off x="3590544" y="2020824"/>
            <a:ext cx="2240280" cy="1271016"/>
          </a:xfrm>
          <a:prstGeom prst="roundRect">
            <a:avLst>
              <a:gd name="adj" fmla="val 5755"/>
            </a:avLst>
          </a:prstGeom>
          <a:solidFill>
            <a:srgbClr val="F4F5F7"/>
          </a:solidFill>
          <a:ln/>
        </p:spPr>
      </p:sp>
      <p:sp>
        <p:nvSpPr>
          <p:cNvPr id="13" name="Text 11"/>
          <p:cNvSpPr txBox="1"/>
          <p:nvPr/>
        </p:nvSpPr>
        <p:spPr>
          <a:xfrm>
            <a:off x="3773424" y="2157984"/>
            <a:ext cx="1965960" cy="256032"/>
          </a:xfrm>
          <a:prstGeom prst="rect">
            <a:avLst/>
          </a:prstGeom>
          <a:noFill/>
          <a:ln/>
        </p:spPr>
        <p:txBody>
          <a:bodyPr wrap="square" lIns="0" tIns="0" rIns="0" bIns="0" rtlCol="0" anchor="t"/>
          <a:lstStyle/>
          <a:p>
            <a:pPr indent="0" marL="0">
              <a:buNone/>
            </a:pPr>
            <a:r>
              <a:rPr lang="en-US" sz="1200" b="1" dirty="0">
                <a:solidFill>
                  <a:srgbClr val="2E7D4F"/>
                </a:solidFill>
                <a:latin typeface="JetBrains Mono" pitchFamily="34" charset="0"/>
                <a:ea typeface="JetBrains Mono" pitchFamily="34" charset="-122"/>
                <a:cs typeface="JetBrains Mono" pitchFamily="34" charset="-120"/>
              </a:rPr>
              <a:t>/gsd-plan-phase</a:t>
            </a:r>
            <a:endParaRPr lang="en-US" sz="1200" dirty="0"/>
          </a:p>
        </p:txBody>
      </p:sp>
      <p:sp>
        <p:nvSpPr>
          <p:cNvPr id="14" name="Text 12"/>
          <p:cNvSpPr txBox="1"/>
          <p:nvPr/>
        </p:nvSpPr>
        <p:spPr>
          <a:xfrm>
            <a:off x="3773424" y="2487168"/>
            <a:ext cx="1965960" cy="274320"/>
          </a:xfrm>
          <a:prstGeom prst="rect">
            <a:avLst/>
          </a:prstGeom>
          <a:noFill/>
          <a:ln/>
        </p:spPr>
        <p:txBody>
          <a:bodyPr wrap="square" lIns="0" tIns="0" rIns="0" bIns="0" rtlCol="0" anchor="t"/>
          <a:lstStyle/>
          <a:p>
            <a:pPr indent="0" marL="0">
              <a:buNone/>
            </a:pPr>
            <a:r>
              <a:rPr lang="en-US" sz="1500" b="1" dirty="0">
                <a:solidFill>
                  <a:srgbClr val="1B2430"/>
                </a:solidFill>
                <a:latin typeface="IBM Plex Sans KR" pitchFamily="34" charset="0"/>
                <a:ea typeface="IBM Plex Sans KR" pitchFamily="34" charset="-122"/>
                <a:cs typeface="IBM Plex Sans KR" pitchFamily="34" charset="-120"/>
              </a:rPr>
              <a:t>리서치 + 작업 계획</a:t>
            </a:r>
            <a:endParaRPr lang="en-US" sz="1500" dirty="0"/>
          </a:p>
        </p:txBody>
      </p:sp>
      <p:sp>
        <p:nvSpPr>
          <p:cNvPr id="15" name="Text 13"/>
          <p:cNvSpPr txBox="1"/>
          <p:nvPr/>
        </p:nvSpPr>
        <p:spPr>
          <a:xfrm>
            <a:off x="3773424" y="2834640"/>
            <a:ext cx="1965960" cy="256032"/>
          </a:xfrm>
          <a:prstGeom prst="rect">
            <a:avLst/>
          </a:prstGeom>
          <a:noFill/>
          <a:ln/>
        </p:spPr>
        <p:txBody>
          <a:bodyPr wrap="square" lIns="0" tIns="0" rIns="0" bIns="0" rtlCol="0" anchor="t"/>
          <a:lstStyle/>
          <a:p>
            <a:pPr indent="0" marL="0">
              <a:buNone/>
            </a:pPr>
            <a:r>
              <a:rPr lang="en-US" sz="1100" dirty="0">
                <a:solidFill>
                  <a:srgbClr val="6B7280"/>
                </a:solidFill>
                <a:latin typeface="JetBrains Mono" pitchFamily="34" charset="0"/>
                <a:ea typeface="JetBrains Mono" pitchFamily="34" charset="-122"/>
                <a:cs typeface="JetBrains Mono" pitchFamily="34" charset="-120"/>
              </a:rPr>
              <a:t>RESEARCH · PLAN.md</a:t>
            </a:r>
            <a:endParaRPr lang="en-US" sz="1100" dirty="0"/>
          </a:p>
        </p:txBody>
      </p:sp>
      <p:sp>
        <p:nvSpPr>
          <p:cNvPr id="16" name="Shape 14"/>
          <p:cNvSpPr/>
          <p:nvPr/>
        </p:nvSpPr>
        <p:spPr>
          <a:xfrm>
            <a:off x="5824728" y="2487168"/>
            <a:ext cx="548640" cy="274320"/>
          </a:xfrm>
          <a:prstGeom prst="roundRect">
            <a:avLst>
              <a:gd name="adj" fmla="val 16667"/>
            </a:avLst>
          </a:prstGeom>
          <a:solidFill>
            <a:srgbClr val="1B2430"/>
          </a:solidFill>
          <a:ln/>
        </p:spPr>
      </p:sp>
      <p:sp>
        <p:nvSpPr>
          <p:cNvPr id="17" name="Text 15"/>
          <p:cNvSpPr txBox="1"/>
          <p:nvPr/>
        </p:nvSpPr>
        <p:spPr>
          <a:xfrm>
            <a:off x="5824728" y="2487168"/>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JetBrains Mono" pitchFamily="34" charset="0"/>
                <a:ea typeface="JetBrains Mono" pitchFamily="34" charset="-122"/>
                <a:cs typeface="JetBrains Mono" pitchFamily="34" charset="-120"/>
              </a:rPr>
              <a:t>/clear</a:t>
            </a:r>
            <a:endParaRPr lang="en-US" sz="900" dirty="0"/>
          </a:p>
        </p:txBody>
      </p:sp>
      <p:sp>
        <p:nvSpPr>
          <p:cNvPr id="18" name="Shape 16"/>
          <p:cNvSpPr/>
          <p:nvPr/>
        </p:nvSpPr>
        <p:spPr>
          <a:xfrm>
            <a:off x="6367272" y="1965960"/>
            <a:ext cx="2240280" cy="365760"/>
          </a:xfrm>
          <a:prstGeom prst="roundRect">
            <a:avLst>
              <a:gd name="adj" fmla="val 20000"/>
            </a:avLst>
          </a:prstGeom>
          <a:solidFill>
            <a:srgbClr val="2E7D4F"/>
          </a:solidFill>
          <a:ln/>
        </p:spPr>
      </p:sp>
      <p:sp>
        <p:nvSpPr>
          <p:cNvPr id="19" name="Shape 17"/>
          <p:cNvSpPr/>
          <p:nvPr/>
        </p:nvSpPr>
        <p:spPr>
          <a:xfrm>
            <a:off x="6367272" y="2020824"/>
            <a:ext cx="2240280" cy="1271016"/>
          </a:xfrm>
          <a:prstGeom prst="roundRect">
            <a:avLst>
              <a:gd name="adj" fmla="val 5755"/>
            </a:avLst>
          </a:prstGeom>
          <a:solidFill>
            <a:srgbClr val="F4F5F7"/>
          </a:solidFill>
          <a:ln/>
        </p:spPr>
      </p:sp>
      <p:sp>
        <p:nvSpPr>
          <p:cNvPr id="20" name="Text 18"/>
          <p:cNvSpPr txBox="1"/>
          <p:nvPr/>
        </p:nvSpPr>
        <p:spPr>
          <a:xfrm>
            <a:off x="6550152" y="2157984"/>
            <a:ext cx="1965960" cy="256032"/>
          </a:xfrm>
          <a:prstGeom prst="rect">
            <a:avLst/>
          </a:prstGeom>
          <a:noFill/>
          <a:ln/>
        </p:spPr>
        <p:txBody>
          <a:bodyPr wrap="square" lIns="0" tIns="0" rIns="0" bIns="0" rtlCol="0" anchor="t"/>
          <a:lstStyle/>
          <a:p>
            <a:pPr indent="0" marL="0">
              <a:buNone/>
            </a:pPr>
            <a:r>
              <a:rPr lang="en-US" sz="1200" b="1" dirty="0">
                <a:solidFill>
                  <a:srgbClr val="2E7D4F"/>
                </a:solidFill>
                <a:latin typeface="JetBrains Mono" pitchFamily="34" charset="0"/>
                <a:ea typeface="JetBrains Mono" pitchFamily="34" charset="-122"/>
                <a:cs typeface="JetBrains Mono" pitchFamily="34" charset="-120"/>
              </a:rPr>
              <a:t>/gsd-execute-phase</a:t>
            </a:r>
            <a:endParaRPr lang="en-US" sz="1200" dirty="0"/>
          </a:p>
        </p:txBody>
      </p:sp>
      <p:sp>
        <p:nvSpPr>
          <p:cNvPr id="21" name="Text 19"/>
          <p:cNvSpPr txBox="1"/>
          <p:nvPr/>
        </p:nvSpPr>
        <p:spPr>
          <a:xfrm>
            <a:off x="6550152" y="2487168"/>
            <a:ext cx="1965960" cy="274320"/>
          </a:xfrm>
          <a:prstGeom prst="rect">
            <a:avLst/>
          </a:prstGeom>
          <a:noFill/>
          <a:ln/>
        </p:spPr>
        <p:txBody>
          <a:bodyPr wrap="square" lIns="0" tIns="0" rIns="0" bIns="0" rtlCol="0" anchor="t"/>
          <a:lstStyle/>
          <a:p>
            <a:pPr indent="0" marL="0">
              <a:buNone/>
            </a:pPr>
            <a:r>
              <a:rPr lang="en-US" sz="1500" b="1" dirty="0">
                <a:solidFill>
                  <a:srgbClr val="1B2430"/>
                </a:solidFill>
                <a:latin typeface="IBM Plex Sans KR" pitchFamily="34" charset="0"/>
                <a:ea typeface="IBM Plex Sans KR" pitchFamily="34" charset="-122"/>
                <a:cs typeface="IBM Plex Sans KR" pitchFamily="34" charset="-120"/>
              </a:rPr>
              <a:t>서브에이전트 병렬 구현</a:t>
            </a:r>
            <a:endParaRPr lang="en-US" sz="1500" dirty="0"/>
          </a:p>
        </p:txBody>
      </p:sp>
      <p:sp>
        <p:nvSpPr>
          <p:cNvPr id="22" name="Text 20"/>
          <p:cNvSpPr txBox="1"/>
          <p:nvPr/>
        </p:nvSpPr>
        <p:spPr>
          <a:xfrm>
            <a:off x="6550152" y="2834640"/>
            <a:ext cx="1965960" cy="256032"/>
          </a:xfrm>
          <a:prstGeom prst="rect">
            <a:avLst/>
          </a:prstGeom>
          <a:noFill/>
          <a:ln/>
        </p:spPr>
        <p:txBody>
          <a:bodyPr wrap="square" lIns="0" tIns="0" rIns="0" bIns="0" rtlCol="0" anchor="t"/>
          <a:lstStyle/>
          <a:p>
            <a:pPr indent="0" marL="0">
              <a:buNone/>
            </a:pPr>
            <a:r>
              <a:rPr lang="en-US" sz="1100" dirty="0">
                <a:solidFill>
                  <a:srgbClr val="6B7280"/>
                </a:solidFill>
                <a:latin typeface="JetBrains Mono" pitchFamily="34" charset="0"/>
                <a:ea typeface="JetBrains Mono" pitchFamily="34" charset="-122"/>
                <a:cs typeface="JetBrains Mono" pitchFamily="34" charset="-120"/>
              </a:rPr>
              <a:t>작업마다 git 커밋</a:t>
            </a:r>
            <a:endParaRPr lang="en-US" sz="1100" dirty="0"/>
          </a:p>
        </p:txBody>
      </p:sp>
      <p:sp>
        <p:nvSpPr>
          <p:cNvPr id="23" name="Shape 21"/>
          <p:cNvSpPr/>
          <p:nvPr/>
        </p:nvSpPr>
        <p:spPr>
          <a:xfrm>
            <a:off x="8601456" y="2487168"/>
            <a:ext cx="548640" cy="274320"/>
          </a:xfrm>
          <a:prstGeom prst="roundRect">
            <a:avLst>
              <a:gd name="adj" fmla="val 16667"/>
            </a:avLst>
          </a:prstGeom>
          <a:solidFill>
            <a:srgbClr val="1B2430"/>
          </a:solidFill>
          <a:ln/>
        </p:spPr>
      </p:sp>
      <p:sp>
        <p:nvSpPr>
          <p:cNvPr id="24" name="Text 22"/>
          <p:cNvSpPr txBox="1"/>
          <p:nvPr/>
        </p:nvSpPr>
        <p:spPr>
          <a:xfrm>
            <a:off x="8601456" y="2487168"/>
            <a:ext cx="5486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JetBrains Mono" pitchFamily="34" charset="0"/>
                <a:ea typeface="JetBrains Mono" pitchFamily="34" charset="-122"/>
                <a:cs typeface="JetBrains Mono" pitchFamily="34" charset="-120"/>
              </a:rPr>
              <a:t>/clear</a:t>
            </a:r>
            <a:endParaRPr lang="en-US" sz="900" dirty="0"/>
          </a:p>
        </p:txBody>
      </p:sp>
      <p:sp>
        <p:nvSpPr>
          <p:cNvPr id="25" name="Shape 23"/>
          <p:cNvSpPr/>
          <p:nvPr/>
        </p:nvSpPr>
        <p:spPr>
          <a:xfrm>
            <a:off x="9144000" y="1965960"/>
            <a:ext cx="2240280" cy="365760"/>
          </a:xfrm>
          <a:prstGeom prst="roundRect">
            <a:avLst>
              <a:gd name="adj" fmla="val 20000"/>
            </a:avLst>
          </a:prstGeom>
          <a:solidFill>
            <a:srgbClr val="2E7D4F"/>
          </a:solidFill>
          <a:ln/>
        </p:spPr>
      </p:sp>
      <p:sp>
        <p:nvSpPr>
          <p:cNvPr id="26" name="Shape 24"/>
          <p:cNvSpPr/>
          <p:nvPr/>
        </p:nvSpPr>
        <p:spPr>
          <a:xfrm>
            <a:off x="9144000" y="2020824"/>
            <a:ext cx="2240280" cy="1271016"/>
          </a:xfrm>
          <a:prstGeom prst="roundRect">
            <a:avLst>
              <a:gd name="adj" fmla="val 5755"/>
            </a:avLst>
          </a:prstGeom>
          <a:solidFill>
            <a:srgbClr val="F4F5F7"/>
          </a:solidFill>
          <a:ln/>
        </p:spPr>
      </p:sp>
      <p:sp>
        <p:nvSpPr>
          <p:cNvPr id="27" name="Text 25"/>
          <p:cNvSpPr txBox="1"/>
          <p:nvPr/>
        </p:nvSpPr>
        <p:spPr>
          <a:xfrm>
            <a:off x="9326880" y="2157984"/>
            <a:ext cx="1965960" cy="256032"/>
          </a:xfrm>
          <a:prstGeom prst="rect">
            <a:avLst/>
          </a:prstGeom>
          <a:noFill/>
          <a:ln/>
        </p:spPr>
        <p:txBody>
          <a:bodyPr wrap="square" lIns="0" tIns="0" rIns="0" bIns="0" rtlCol="0" anchor="t"/>
          <a:lstStyle/>
          <a:p>
            <a:pPr indent="0" marL="0">
              <a:buNone/>
            </a:pPr>
            <a:r>
              <a:rPr lang="en-US" sz="1200" b="1" dirty="0">
                <a:solidFill>
                  <a:srgbClr val="2E7D4F"/>
                </a:solidFill>
                <a:latin typeface="JetBrains Mono" pitchFamily="34" charset="0"/>
                <a:ea typeface="JetBrains Mono" pitchFamily="34" charset="-122"/>
                <a:cs typeface="JetBrains Mono" pitchFamily="34" charset="-120"/>
              </a:rPr>
              <a:t>/gsd-verify-work</a:t>
            </a:r>
            <a:endParaRPr lang="en-US" sz="1200" dirty="0"/>
          </a:p>
        </p:txBody>
      </p:sp>
      <p:sp>
        <p:nvSpPr>
          <p:cNvPr id="28" name="Text 26"/>
          <p:cNvSpPr txBox="1"/>
          <p:nvPr/>
        </p:nvSpPr>
        <p:spPr>
          <a:xfrm>
            <a:off x="9326880" y="2487168"/>
            <a:ext cx="1965960" cy="274320"/>
          </a:xfrm>
          <a:prstGeom prst="rect">
            <a:avLst/>
          </a:prstGeom>
          <a:noFill/>
          <a:ln/>
        </p:spPr>
        <p:txBody>
          <a:bodyPr wrap="square" lIns="0" tIns="0" rIns="0" bIns="0" rtlCol="0" anchor="t"/>
          <a:lstStyle/>
          <a:p>
            <a:pPr indent="0" marL="0">
              <a:buNone/>
            </a:pPr>
            <a:r>
              <a:rPr lang="en-US" sz="1500" b="1" dirty="0">
                <a:solidFill>
                  <a:srgbClr val="1B2430"/>
                </a:solidFill>
                <a:latin typeface="IBM Plex Sans KR" pitchFamily="34" charset="0"/>
                <a:ea typeface="IBM Plex Sans KR" pitchFamily="34" charset="-122"/>
                <a:cs typeface="IBM Plex Sans KR" pitchFamily="34" charset="-120"/>
              </a:rPr>
              <a:t>사람 인수 테스트</a:t>
            </a:r>
            <a:endParaRPr lang="en-US" sz="1500" dirty="0"/>
          </a:p>
        </p:txBody>
      </p:sp>
      <p:sp>
        <p:nvSpPr>
          <p:cNvPr id="29" name="Text 27"/>
          <p:cNvSpPr txBox="1"/>
          <p:nvPr/>
        </p:nvSpPr>
        <p:spPr>
          <a:xfrm>
            <a:off x="9326880" y="2834640"/>
            <a:ext cx="1965960" cy="256032"/>
          </a:xfrm>
          <a:prstGeom prst="rect">
            <a:avLst/>
          </a:prstGeom>
          <a:noFill/>
          <a:ln/>
        </p:spPr>
        <p:txBody>
          <a:bodyPr wrap="square" lIns="0" tIns="0" rIns="0" bIns="0" rtlCol="0" anchor="t"/>
          <a:lstStyle/>
          <a:p>
            <a:pPr indent="0" marL="0">
              <a:buNone/>
            </a:pPr>
            <a:r>
              <a:rPr lang="en-US" sz="1100" dirty="0">
                <a:solidFill>
                  <a:srgbClr val="6B7280"/>
                </a:solidFill>
                <a:latin typeface="JetBrains Mono" pitchFamily="34" charset="0"/>
                <a:ea typeface="JetBrains Mono" pitchFamily="34" charset="-122"/>
                <a:cs typeface="JetBrains Mono" pitchFamily="34" charset="-120"/>
              </a:rPr>
              <a:t>VERIFICATION · UAT.md</a:t>
            </a:r>
            <a:endParaRPr lang="en-US" sz="1100" dirty="0"/>
          </a:p>
        </p:txBody>
      </p:sp>
      <p:sp>
        <p:nvSpPr>
          <p:cNvPr id="30" name="Shape 28"/>
          <p:cNvSpPr/>
          <p:nvPr/>
        </p:nvSpPr>
        <p:spPr>
          <a:xfrm>
            <a:off x="813816" y="3520440"/>
            <a:ext cx="6035040" cy="2377440"/>
          </a:xfrm>
          <a:prstGeom prst="roundRect">
            <a:avLst>
              <a:gd name="adj" fmla="val 3077"/>
            </a:avLst>
          </a:prstGeom>
          <a:solidFill>
            <a:srgbClr val="19202A"/>
          </a:solidFill>
          <a:ln/>
        </p:spPr>
      </p:sp>
      <p:sp>
        <p:nvSpPr>
          <p:cNvPr id="31" name="Text 29"/>
          <p:cNvSpPr txBox="1"/>
          <p:nvPr/>
        </p:nvSpPr>
        <p:spPr>
          <a:xfrm>
            <a:off x="1088136" y="3685032"/>
            <a:ext cx="5486400" cy="256032"/>
          </a:xfrm>
          <a:prstGeom prst="rect">
            <a:avLst/>
          </a:prstGeom>
          <a:noFill/>
          <a:ln/>
        </p:spPr>
        <p:txBody>
          <a:bodyPr wrap="square" lIns="0" tIns="0" rIns="0" bIns="0" rtlCol="0" anchor="t"/>
          <a:lstStyle/>
          <a:p>
            <a:pPr indent="0" marL="0">
              <a:buNone/>
            </a:pPr>
            <a:r>
              <a:rPr lang="en-US" sz="1200" b="1" dirty="0">
                <a:solidFill>
                  <a:srgbClr val="7CCB9A"/>
                </a:solidFill>
                <a:latin typeface="JetBrains Mono" pitchFamily="34" charset="0"/>
                <a:ea typeface="JetBrains Mono" pitchFamily="34" charset="-122"/>
                <a:cs typeface="JetBrains Mono" pitchFamily="34" charset="-120"/>
              </a:rPr>
              <a:t>.planning/   ← 세션이 바뀌어도 이어지는 기억</a:t>
            </a:r>
            <a:endParaRPr lang="en-US" sz="1200" dirty="0"/>
          </a:p>
        </p:txBody>
      </p:sp>
      <p:sp>
        <p:nvSpPr>
          <p:cNvPr id="32" name="Text 30"/>
          <p:cNvSpPr txBox="1"/>
          <p:nvPr/>
        </p:nvSpPr>
        <p:spPr>
          <a:xfrm>
            <a:off x="1088136" y="4069080"/>
            <a:ext cx="5486400" cy="1691640"/>
          </a:xfrm>
          <a:prstGeom prst="rect">
            <a:avLst/>
          </a:prstGeom>
          <a:noFill/>
          <a:ln/>
        </p:spPr>
        <p:txBody>
          <a:bodyPr wrap="square" lIns="0" tIns="0" rIns="0" bIns="0" rtlCol="0" anchor="t"/>
          <a:lstStyle/>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PROJECT.md       </a:t>
            </a:r>
            <a:pPr indent="0" marL="0">
              <a:lnSpc>
                <a:spcPct val="125000"/>
              </a:lnSpc>
              <a:buNone/>
            </a:pPr>
            <a:r>
              <a:rPr lang="en-US" sz="1200" dirty="0">
                <a:solidFill>
                  <a:srgbClr val="9AA6B5"/>
                </a:solidFill>
                <a:latin typeface="JetBrains Mono" pitchFamily="34" charset="0"/>
                <a:ea typeface="JetBrains Mono" pitchFamily="34" charset="-122"/>
                <a:cs typeface="JetBrains Mono" pitchFamily="34" charset="-120"/>
              </a:rPr>
              <a:t>비전 · 제약</a:t>
            </a: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REQUIREMENTS.md  </a:t>
            </a:r>
            <a:pPr indent="0" marL="0">
              <a:lnSpc>
                <a:spcPct val="125000"/>
              </a:lnSpc>
              <a:buNone/>
            </a:pPr>
            <a:r>
              <a:rPr lang="en-US" sz="1200" dirty="0">
                <a:solidFill>
                  <a:srgbClr val="9AA6B5"/>
                </a:solidFill>
                <a:latin typeface="JetBrains Mono" pitchFamily="34" charset="0"/>
                <a:ea typeface="JetBrains Mono" pitchFamily="34" charset="-122"/>
                <a:cs typeface="JetBrains Mono" pitchFamily="34" charset="-120"/>
              </a:rPr>
              <a:t>REQ-ID</a:t>
            </a: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ROADMAP.md       </a:t>
            </a:r>
            <a:pPr indent="0" marL="0">
              <a:lnSpc>
                <a:spcPct val="125000"/>
              </a:lnSpc>
              <a:buNone/>
            </a:pPr>
            <a:r>
              <a:rPr lang="en-US" sz="1200" dirty="0">
                <a:solidFill>
                  <a:srgbClr val="9AA6B5"/>
                </a:solidFill>
                <a:latin typeface="JetBrains Mono" pitchFamily="34" charset="0"/>
                <a:ea typeface="JetBrains Mono" pitchFamily="34" charset="-122"/>
                <a:cs typeface="JetBrains Mono" pitchFamily="34" charset="-120"/>
              </a:rPr>
              <a:t>단계 목록 · 성공 기준</a:t>
            </a: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STATE.md         </a:t>
            </a:r>
            <a:pPr indent="0" marL="0">
              <a:lnSpc>
                <a:spcPct val="125000"/>
              </a:lnSpc>
              <a:buNone/>
            </a:pPr>
            <a:r>
              <a:rPr lang="en-US" sz="1200" dirty="0">
                <a:solidFill>
                  <a:srgbClr val="9AA6B5"/>
                </a:solidFill>
                <a:latin typeface="JetBrains Mono" pitchFamily="34" charset="0"/>
                <a:ea typeface="JetBrains Mono" pitchFamily="34" charset="-122"/>
                <a:cs typeface="JetBrains Mono" pitchFamily="34" charset="-120"/>
              </a:rPr>
              <a:t>결정 · 현재 위치</a:t>
            </a:r>
            <a:endParaRPr lang="en-US" sz="1200" dirty="0"/>
          </a:p>
          <a:p>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 phases/01-…/     </a:t>
            </a:r>
            <a:pPr indent="0" marL="0">
              <a:lnSpc>
                <a:spcPct val="125000"/>
              </a:lnSpc>
              <a:buNone/>
            </a:pPr>
            <a:r>
              <a:rPr lang="en-US" sz="1200" dirty="0">
                <a:solidFill>
                  <a:srgbClr val="9AA6B5"/>
                </a:solidFill>
                <a:latin typeface="JetBrains Mono" pitchFamily="34" charset="0"/>
                <a:ea typeface="JetBrains Mono" pitchFamily="34" charset="-122"/>
                <a:cs typeface="JetBrains Mono" pitchFamily="34" charset="-120"/>
              </a:rPr>
              <a:t>CONTEXT → PLAN → SUMMARY → UAT</a:t>
            </a:r>
            <a:endParaRPr lang="en-US" sz="1200" dirty="0"/>
          </a:p>
        </p:txBody>
      </p:sp>
      <p:sp>
        <p:nvSpPr>
          <p:cNvPr id="33" name="Shape 31"/>
          <p:cNvSpPr/>
          <p:nvPr/>
        </p:nvSpPr>
        <p:spPr>
          <a:xfrm>
            <a:off x="7086600" y="3520440"/>
            <a:ext cx="4297680" cy="1143000"/>
          </a:xfrm>
          <a:prstGeom prst="roundRect">
            <a:avLst>
              <a:gd name="adj" fmla="val 6400"/>
            </a:avLst>
          </a:prstGeom>
          <a:solidFill>
            <a:srgbClr val="F4F5F7"/>
          </a:solidFill>
          <a:ln/>
        </p:spPr>
      </p:sp>
      <p:sp>
        <p:nvSpPr>
          <p:cNvPr id="34" name="Text 32"/>
          <p:cNvSpPr txBox="1"/>
          <p:nvPr/>
        </p:nvSpPr>
        <p:spPr>
          <a:xfrm>
            <a:off x="7315200" y="3648456"/>
            <a:ext cx="3840480" cy="502920"/>
          </a:xfrm>
          <a:prstGeom prst="rect">
            <a:avLst/>
          </a:prstGeom>
          <a:noFill/>
          <a:ln/>
        </p:spPr>
        <p:txBody>
          <a:bodyPr wrap="square" lIns="0" tIns="0" rIns="0" bIns="0" rtlCol="0" anchor="t"/>
          <a:lstStyle/>
          <a:p>
            <a:pPr indent="0" marL="0">
              <a:buNone/>
            </a:pPr>
            <a:r>
              <a:rPr lang="en-US" sz="3000" b="1" dirty="0">
                <a:solidFill>
                  <a:srgbClr val="2E7D4F"/>
                </a:solidFill>
                <a:latin typeface="IBM Plex Sans KR" pitchFamily="34" charset="0"/>
                <a:ea typeface="IBM Plex Sans KR" pitchFamily="34" charset="-122"/>
                <a:cs typeface="IBM Plex Sans KR" pitchFamily="34" charset="-120"/>
              </a:rPr>
              <a:t>35</a:t>
            </a:r>
            <a:endParaRPr lang="en-US" sz="3000" dirty="0"/>
          </a:p>
        </p:txBody>
      </p:sp>
      <p:sp>
        <p:nvSpPr>
          <p:cNvPr id="35" name="Text 33"/>
          <p:cNvSpPr txBox="1"/>
          <p:nvPr/>
        </p:nvSpPr>
        <p:spPr>
          <a:xfrm>
            <a:off x="7315200" y="4233672"/>
            <a:ext cx="3931920" cy="274320"/>
          </a:xfrm>
          <a:prstGeom prst="rect">
            <a:avLst/>
          </a:prstGeom>
          <a:noFill/>
          <a:ln/>
        </p:spPr>
        <p:txBody>
          <a:bodyPr wrap="square" lIns="0" tIns="0" rIns="0" bIns="0" rtlCol="0" anchor="t"/>
          <a:lstStyle/>
          <a:p>
            <a:pPr indent="0" marL="0">
              <a:buNone/>
            </a:pPr>
            <a:r>
              <a:rPr lang="en-US" sz="1200" b="1" dirty="0">
                <a:solidFill>
                  <a:srgbClr val="1B2430"/>
                </a:solidFill>
                <a:latin typeface="Noto Sans KR" pitchFamily="34" charset="0"/>
                <a:ea typeface="Noto Sans KR" pitchFamily="34" charset="-122"/>
                <a:cs typeface="Noto Sans KR" pitchFamily="34" charset="-120"/>
              </a:rPr>
              <a:t>역할별 서브에이전트</a:t>
            </a:r>
            <a:pPr indent="0" marL="0">
              <a:buNone/>
            </a:pPr>
            <a:r>
              <a:rPr lang="en-US" sz="1200" dirty="0">
                <a:solidFill>
                  <a:srgbClr val="4A5568"/>
                </a:solidFill>
                <a:latin typeface="Noto Sans KR" pitchFamily="34" charset="0"/>
                <a:ea typeface="Noto Sans KR" pitchFamily="34" charset="-122"/>
                <a:cs typeface="Noto Sans KR" pitchFamily="34" charset="-120"/>
              </a:rPr>
              <a:t>  리서처 · 플래너 · 실행기 · 검증기 …</a:t>
            </a:r>
            <a:endParaRPr lang="en-US" sz="1200" dirty="0"/>
          </a:p>
        </p:txBody>
      </p:sp>
      <p:sp>
        <p:nvSpPr>
          <p:cNvPr id="36" name="Shape 34"/>
          <p:cNvSpPr/>
          <p:nvPr/>
        </p:nvSpPr>
        <p:spPr>
          <a:xfrm>
            <a:off x="7086600" y="4754880"/>
            <a:ext cx="4297680" cy="1143000"/>
          </a:xfrm>
          <a:prstGeom prst="roundRect">
            <a:avLst>
              <a:gd name="adj" fmla="val 6400"/>
            </a:avLst>
          </a:prstGeom>
          <a:solidFill>
            <a:srgbClr val="F4F5F7"/>
          </a:solidFill>
          <a:ln/>
        </p:spPr>
      </p:sp>
      <p:sp>
        <p:nvSpPr>
          <p:cNvPr id="37" name="Text 35"/>
          <p:cNvSpPr txBox="1"/>
          <p:nvPr/>
        </p:nvSpPr>
        <p:spPr>
          <a:xfrm>
            <a:off x="7315200" y="4882896"/>
            <a:ext cx="3840480" cy="502920"/>
          </a:xfrm>
          <a:prstGeom prst="rect">
            <a:avLst/>
          </a:prstGeom>
          <a:noFill/>
          <a:ln/>
        </p:spPr>
        <p:txBody>
          <a:bodyPr wrap="square" lIns="0" tIns="0" rIns="0" bIns="0" rtlCol="0" anchor="t"/>
          <a:lstStyle/>
          <a:p>
            <a:pPr indent="0" marL="0">
              <a:buNone/>
            </a:pPr>
            <a:r>
              <a:rPr lang="en-US" sz="3000" b="1" dirty="0">
                <a:solidFill>
                  <a:srgbClr val="2E7D4F"/>
                </a:solidFill>
                <a:latin typeface="IBM Plex Sans KR" pitchFamily="34" charset="0"/>
                <a:ea typeface="IBM Plex Sans KR" pitchFamily="34" charset="-122"/>
                <a:cs typeface="IBM Plex Sans KR" pitchFamily="34" charset="-120"/>
              </a:rPr>
              <a:t>1 작업 = 1 커밋</a:t>
            </a:r>
            <a:endParaRPr lang="en-US" sz="3000" dirty="0"/>
          </a:p>
        </p:txBody>
      </p:sp>
      <p:sp>
        <p:nvSpPr>
          <p:cNvPr id="38" name="Text 36"/>
          <p:cNvSpPr txBox="1"/>
          <p:nvPr/>
        </p:nvSpPr>
        <p:spPr>
          <a:xfrm>
            <a:off x="7315200" y="5468112"/>
            <a:ext cx="3931920" cy="274320"/>
          </a:xfrm>
          <a:prstGeom prst="rect">
            <a:avLst/>
          </a:prstGeom>
          <a:noFill/>
          <a:ln/>
        </p:spPr>
        <p:txBody>
          <a:bodyPr wrap="square" lIns="0" tIns="0" rIns="0" bIns="0" rtlCol="0" anchor="t"/>
          <a:lstStyle/>
          <a:p>
            <a:pPr indent="0" marL="0">
              <a:buNone/>
            </a:pPr>
            <a:r>
              <a:rPr lang="en-US" sz="1200" b="1" dirty="0">
                <a:solidFill>
                  <a:srgbClr val="1B2430"/>
                </a:solidFill>
                <a:latin typeface="Noto Sans KR" pitchFamily="34" charset="0"/>
                <a:ea typeface="Noto Sans KR" pitchFamily="34" charset="-122"/>
                <a:cs typeface="Noto Sans KR" pitchFamily="34" charset="-120"/>
              </a:rPr>
              <a:t>feat(01-01): …</a:t>
            </a:r>
            <a:pPr indent="0" marL="0">
              <a:buNone/>
            </a:pPr>
            <a:r>
              <a:rPr lang="en-US" sz="1200" dirty="0">
                <a:solidFill>
                  <a:srgbClr val="4A5568"/>
                </a:solidFill>
                <a:latin typeface="Noto Sans KR" pitchFamily="34" charset="0"/>
                <a:ea typeface="Noto Sans KR" pitchFamily="34" charset="-122"/>
                <a:cs typeface="Noto Sans KR" pitchFamily="34" charset="-120"/>
              </a:rPr>
              <a:t>  깔끔한 git 이력</a:t>
            </a:r>
            <a:endParaRPr lang="en-US" sz="1200" dirty="0"/>
          </a:p>
        </p:txBody>
      </p:sp>
      <p:sp>
        <p:nvSpPr>
          <p:cNvPr id="39" name="Text 37"/>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10 / 15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B8336A"/>
                </a:solidFill>
                <a:latin typeface="Noto Sans KR" pitchFamily="34" charset="0"/>
                <a:ea typeface="Noto Sans KR" pitchFamily="34" charset="-122"/>
                <a:cs typeface="Noto Sans KR" pitchFamily="34" charset="-120"/>
              </a:rPr>
              <a:t>M05 · BMAD METHOD</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일의 크기에 맞게 계획한다</a:t>
            </a:r>
            <a:endParaRPr lang="en-US" sz="3200" dirty="0"/>
          </a:p>
        </p:txBody>
      </p:sp>
      <p:sp>
        <p:nvSpPr>
          <p:cNvPr id="4" name="Shape 2"/>
          <p:cNvSpPr/>
          <p:nvPr/>
        </p:nvSpPr>
        <p:spPr>
          <a:xfrm>
            <a:off x="813816" y="1965960"/>
            <a:ext cx="10570464" cy="457200"/>
          </a:xfrm>
          <a:prstGeom prst="roundRect">
            <a:avLst>
              <a:gd name="adj" fmla="val 12000"/>
            </a:avLst>
          </a:prstGeom>
          <a:solidFill>
            <a:srgbClr val="F4F5F7"/>
          </a:solidFill>
          <a:ln/>
        </p:spPr>
      </p:sp>
      <p:sp>
        <p:nvSpPr>
          <p:cNvPr id="5" name="Text 3"/>
          <p:cNvSpPr txBox="1"/>
          <p:nvPr/>
        </p:nvSpPr>
        <p:spPr>
          <a:xfrm>
            <a:off x="996696" y="1965960"/>
            <a:ext cx="1920240" cy="457200"/>
          </a:xfrm>
          <a:prstGeom prst="rect">
            <a:avLst/>
          </a:prstGeom>
          <a:noFill/>
          <a:ln/>
        </p:spPr>
        <p:txBody>
          <a:bodyPr wrap="square" lIns="0" tIns="0" rIns="0" bIns="0" rtlCol="0" anchor="ctr"/>
          <a:lstStyle/>
          <a:p>
            <a:pPr indent="0" marL="0">
              <a:buNone/>
            </a:pPr>
            <a:r>
              <a:rPr lang="en-US" sz="1400" b="1" dirty="0">
                <a:solidFill>
                  <a:srgbClr val="1B2430"/>
                </a:solidFill>
                <a:latin typeface="Noto Sans KR" pitchFamily="34" charset="0"/>
                <a:ea typeface="Noto Sans KR" pitchFamily="34" charset="-122"/>
                <a:cs typeface="Noto Sans KR" pitchFamily="34" charset="-120"/>
              </a:rPr>
              <a:t>작은 변경</a:t>
            </a:r>
            <a:pPr indent="0" marL="0">
              <a:buNone/>
            </a:pPr>
            <a:endParaRPr lang="en-US" sz="1400" dirty="0"/>
          </a:p>
        </p:txBody>
      </p:sp>
      <p:sp>
        <p:nvSpPr>
          <p:cNvPr id="6" name="Shape 4"/>
          <p:cNvSpPr/>
          <p:nvPr/>
        </p:nvSpPr>
        <p:spPr>
          <a:xfrm>
            <a:off x="2962656" y="2048256"/>
            <a:ext cx="1376172" cy="292608"/>
          </a:xfrm>
          <a:prstGeom prst="roundRect">
            <a:avLst>
              <a:gd name="adj" fmla="val 15625"/>
            </a:avLst>
          </a:prstGeom>
          <a:solidFill>
            <a:srgbClr val="B8336A"/>
          </a:solidFill>
          <a:ln/>
        </p:spPr>
      </p:sp>
      <p:sp>
        <p:nvSpPr>
          <p:cNvPr id="7" name="Text 5"/>
          <p:cNvSpPr txBox="1"/>
          <p:nvPr/>
        </p:nvSpPr>
        <p:spPr>
          <a:xfrm>
            <a:off x="2962656" y="2048256"/>
            <a:ext cx="137617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JetBrains Mono" pitchFamily="34" charset="0"/>
                <a:ea typeface="JetBrains Mono" pitchFamily="34" charset="-122"/>
                <a:cs typeface="JetBrains Mono" pitchFamily="34" charset="-120"/>
              </a:rPr>
              <a:t>/bmad-build</a:t>
            </a:r>
            <a:endParaRPr lang="en-US" sz="1100" dirty="0"/>
          </a:p>
        </p:txBody>
      </p:sp>
      <p:sp>
        <p:nvSpPr>
          <p:cNvPr id="8" name="Shape 6"/>
          <p:cNvSpPr/>
          <p:nvPr/>
        </p:nvSpPr>
        <p:spPr>
          <a:xfrm>
            <a:off x="813816" y="2514600"/>
            <a:ext cx="10570464" cy="457200"/>
          </a:xfrm>
          <a:prstGeom prst="roundRect">
            <a:avLst>
              <a:gd name="adj" fmla="val 12000"/>
            </a:avLst>
          </a:prstGeom>
          <a:solidFill>
            <a:srgbClr val="FBEFF4"/>
          </a:solidFill>
          <a:ln w="12700">
            <a:solidFill>
              <a:srgbClr val="F08DB4"/>
            </a:solidFill>
            <a:prstDash val="solid"/>
          </a:ln>
        </p:spPr>
      </p:sp>
      <p:sp>
        <p:nvSpPr>
          <p:cNvPr id="9" name="Text 7"/>
          <p:cNvSpPr txBox="1"/>
          <p:nvPr/>
        </p:nvSpPr>
        <p:spPr>
          <a:xfrm>
            <a:off x="996696" y="2514600"/>
            <a:ext cx="1920240" cy="457200"/>
          </a:xfrm>
          <a:prstGeom prst="rect">
            <a:avLst/>
          </a:prstGeom>
          <a:noFill/>
          <a:ln/>
        </p:spPr>
        <p:txBody>
          <a:bodyPr wrap="square" lIns="0" tIns="0" rIns="0" bIns="0" rtlCol="0" anchor="ctr"/>
          <a:lstStyle/>
          <a:p>
            <a:pPr indent="0" marL="0">
              <a:buNone/>
            </a:pPr>
            <a:r>
              <a:rPr lang="en-US" sz="1400" b="1" dirty="0">
                <a:solidFill>
                  <a:srgbClr val="1B2430"/>
                </a:solidFill>
                <a:latin typeface="Noto Sans KR" pitchFamily="34" charset="0"/>
                <a:ea typeface="Noto Sans KR" pitchFamily="34" charset="-122"/>
                <a:cs typeface="Noto Sans KR" pitchFamily="34" charset="-120"/>
              </a:rPr>
              <a:t>에픽</a:t>
            </a:r>
            <a:pPr indent="0" marL="0">
              <a:buNone/>
            </a:pPr>
            <a:r>
              <a:rPr lang="en-US" sz="1000" b="1" dirty="0">
                <a:solidFill>
                  <a:srgbClr val="B8336A"/>
                </a:solidFill>
                <a:latin typeface="Noto Sans KR" pitchFamily="34" charset="0"/>
                <a:ea typeface="Noto Sans KR" pitchFamily="34" charset="-122"/>
                <a:cs typeface="Noto Sans KR" pitchFamily="34" charset="-120"/>
              </a:rPr>
              <a:t>  이번 실습</a:t>
            </a:r>
            <a:endParaRPr lang="en-US" sz="1400" dirty="0"/>
          </a:p>
        </p:txBody>
      </p:sp>
      <p:sp>
        <p:nvSpPr>
          <p:cNvPr id="10" name="Shape 8"/>
          <p:cNvSpPr/>
          <p:nvPr/>
        </p:nvSpPr>
        <p:spPr>
          <a:xfrm>
            <a:off x="2962656" y="2596896"/>
            <a:ext cx="1280160" cy="292608"/>
          </a:xfrm>
          <a:prstGeom prst="roundRect">
            <a:avLst>
              <a:gd name="adj" fmla="val 15625"/>
            </a:avLst>
          </a:prstGeom>
          <a:solidFill>
            <a:srgbClr val="B8336A"/>
          </a:solidFill>
          <a:ln/>
        </p:spPr>
      </p:sp>
      <p:sp>
        <p:nvSpPr>
          <p:cNvPr id="11" name="Text 9"/>
          <p:cNvSpPr txBox="1"/>
          <p:nvPr/>
        </p:nvSpPr>
        <p:spPr>
          <a:xfrm>
            <a:off x="2962656" y="2596896"/>
            <a:ext cx="12801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JetBrains Mono" pitchFamily="34" charset="0"/>
                <a:ea typeface="JetBrains Mono" pitchFamily="34" charset="-122"/>
                <a:cs typeface="JetBrains Mono" pitchFamily="34" charset="-120"/>
              </a:rPr>
              <a:t>/bmad-spec</a:t>
            </a:r>
            <a:endParaRPr lang="en-US" sz="1100" dirty="0"/>
          </a:p>
        </p:txBody>
      </p:sp>
      <p:sp>
        <p:nvSpPr>
          <p:cNvPr id="12" name="Shape 10"/>
          <p:cNvSpPr/>
          <p:nvPr/>
        </p:nvSpPr>
        <p:spPr>
          <a:xfrm>
            <a:off x="4334256" y="2651760"/>
            <a:ext cx="292608" cy="182880"/>
          </a:xfrm>
          <a:prstGeom prst="rightArrow">
            <a:avLst/>
          </a:prstGeom>
          <a:solidFill>
            <a:srgbClr val="C0C2C4"/>
          </a:solidFill>
          <a:ln/>
        </p:spPr>
      </p:sp>
      <p:sp>
        <p:nvSpPr>
          <p:cNvPr id="13" name="Shape 11"/>
          <p:cNvSpPr/>
          <p:nvPr/>
        </p:nvSpPr>
        <p:spPr>
          <a:xfrm>
            <a:off x="4718304" y="2596896"/>
            <a:ext cx="1005840" cy="292608"/>
          </a:xfrm>
          <a:prstGeom prst="roundRect">
            <a:avLst>
              <a:gd name="adj" fmla="val 15625"/>
            </a:avLst>
          </a:prstGeom>
          <a:solidFill>
            <a:srgbClr val="FFFFFF"/>
          </a:solidFill>
          <a:ln/>
        </p:spPr>
      </p:sp>
      <p:sp>
        <p:nvSpPr>
          <p:cNvPr id="14" name="Text 12"/>
          <p:cNvSpPr txBox="1"/>
          <p:nvPr/>
        </p:nvSpPr>
        <p:spPr>
          <a:xfrm>
            <a:off x="4718304" y="2596896"/>
            <a:ext cx="1005840" cy="292608"/>
          </a:xfrm>
          <a:prstGeom prst="rect">
            <a:avLst/>
          </a:prstGeom>
          <a:noFill/>
          <a:ln/>
        </p:spPr>
        <p:txBody>
          <a:bodyPr wrap="square" lIns="0" tIns="0" rIns="0" bIns="0" rtlCol="0" anchor="ctr"/>
          <a:lstStyle/>
          <a:p>
            <a:pPr algn="ctr" indent="0" marL="0">
              <a:buNone/>
            </a:pPr>
            <a:r>
              <a:rPr lang="en-US" sz="1100" b="1" dirty="0">
                <a:solidFill>
                  <a:srgbClr val="1B2430"/>
                </a:solidFill>
                <a:latin typeface="JetBrains Mono" pitchFamily="34" charset="0"/>
                <a:ea typeface="JetBrains Mono" pitchFamily="34" charset="-122"/>
                <a:cs typeface="JetBrains Mono" pitchFamily="34" charset="-120"/>
              </a:rPr>
              <a:t>SPEC.md</a:t>
            </a:r>
            <a:endParaRPr lang="en-US" sz="1100" dirty="0"/>
          </a:p>
        </p:txBody>
      </p:sp>
      <p:sp>
        <p:nvSpPr>
          <p:cNvPr id="15" name="Shape 13"/>
          <p:cNvSpPr/>
          <p:nvPr/>
        </p:nvSpPr>
        <p:spPr>
          <a:xfrm>
            <a:off x="5815584" y="2651760"/>
            <a:ext cx="292608" cy="182880"/>
          </a:xfrm>
          <a:prstGeom prst="rightArrow">
            <a:avLst/>
          </a:prstGeom>
          <a:solidFill>
            <a:srgbClr val="C0C2C4"/>
          </a:solidFill>
          <a:ln/>
        </p:spPr>
      </p:sp>
      <p:sp>
        <p:nvSpPr>
          <p:cNvPr id="16" name="Shape 14"/>
          <p:cNvSpPr/>
          <p:nvPr/>
        </p:nvSpPr>
        <p:spPr>
          <a:xfrm>
            <a:off x="6199632" y="2596896"/>
            <a:ext cx="1472184" cy="292608"/>
          </a:xfrm>
          <a:prstGeom prst="roundRect">
            <a:avLst>
              <a:gd name="adj" fmla="val 15625"/>
            </a:avLst>
          </a:prstGeom>
          <a:solidFill>
            <a:srgbClr val="FFFFFF"/>
          </a:solidFill>
          <a:ln/>
        </p:spPr>
      </p:sp>
      <p:sp>
        <p:nvSpPr>
          <p:cNvPr id="17" name="Text 15"/>
          <p:cNvSpPr txBox="1"/>
          <p:nvPr/>
        </p:nvSpPr>
        <p:spPr>
          <a:xfrm>
            <a:off x="6199632" y="2596896"/>
            <a:ext cx="1472184" cy="292608"/>
          </a:xfrm>
          <a:prstGeom prst="rect">
            <a:avLst/>
          </a:prstGeom>
          <a:noFill/>
          <a:ln/>
        </p:spPr>
        <p:txBody>
          <a:bodyPr wrap="square" lIns="0" tIns="0" rIns="0" bIns="0" rtlCol="0" anchor="ctr"/>
          <a:lstStyle/>
          <a:p>
            <a:pPr algn="ctr" indent="0" marL="0">
              <a:buNone/>
            </a:pPr>
            <a:r>
              <a:rPr lang="en-US" sz="1100" b="1" dirty="0">
                <a:solidFill>
                  <a:srgbClr val="1B2430"/>
                </a:solidFill>
                <a:latin typeface="JetBrains Mono" pitchFamily="34" charset="0"/>
                <a:ea typeface="JetBrains Mono" pitchFamily="34" charset="-122"/>
                <a:cs typeface="JetBrains Mono" pitchFamily="34" charset="-120"/>
              </a:rPr>
              <a:t>stories.yaml</a:t>
            </a:r>
            <a:endParaRPr lang="en-US" sz="1100" dirty="0"/>
          </a:p>
        </p:txBody>
      </p:sp>
      <p:sp>
        <p:nvSpPr>
          <p:cNvPr id="18" name="Shape 16"/>
          <p:cNvSpPr/>
          <p:nvPr/>
        </p:nvSpPr>
        <p:spPr>
          <a:xfrm>
            <a:off x="7763256" y="2651760"/>
            <a:ext cx="292608" cy="182880"/>
          </a:xfrm>
          <a:prstGeom prst="rightArrow">
            <a:avLst/>
          </a:prstGeom>
          <a:solidFill>
            <a:srgbClr val="C0C2C4"/>
          </a:solidFill>
          <a:ln/>
        </p:spPr>
      </p:sp>
      <p:sp>
        <p:nvSpPr>
          <p:cNvPr id="19" name="Shape 17"/>
          <p:cNvSpPr/>
          <p:nvPr/>
        </p:nvSpPr>
        <p:spPr>
          <a:xfrm>
            <a:off x="8147304" y="2596896"/>
            <a:ext cx="2144268" cy="292608"/>
          </a:xfrm>
          <a:prstGeom prst="roundRect">
            <a:avLst>
              <a:gd name="adj" fmla="val 15625"/>
            </a:avLst>
          </a:prstGeom>
          <a:solidFill>
            <a:srgbClr val="B8336A"/>
          </a:solidFill>
          <a:ln/>
        </p:spPr>
      </p:sp>
      <p:sp>
        <p:nvSpPr>
          <p:cNvPr id="20" name="Text 18"/>
          <p:cNvSpPr txBox="1"/>
          <p:nvPr/>
        </p:nvSpPr>
        <p:spPr>
          <a:xfrm>
            <a:off x="8147304" y="2596896"/>
            <a:ext cx="214426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JetBrains Mono" pitchFamily="34" charset="0"/>
                <a:ea typeface="JetBrains Mono" pitchFamily="34" charset="-122"/>
                <a:cs typeface="JetBrains Mono" pitchFamily="34" charset="-120"/>
              </a:rPr>
              <a:t>/bmad-build × 스토리 수</a:t>
            </a:r>
            <a:endParaRPr lang="en-US" sz="1100" dirty="0"/>
          </a:p>
        </p:txBody>
      </p:sp>
      <p:sp>
        <p:nvSpPr>
          <p:cNvPr id="21" name="Shape 19"/>
          <p:cNvSpPr/>
          <p:nvPr/>
        </p:nvSpPr>
        <p:spPr>
          <a:xfrm>
            <a:off x="813816" y="3063240"/>
            <a:ext cx="10570464" cy="457200"/>
          </a:xfrm>
          <a:prstGeom prst="roundRect">
            <a:avLst>
              <a:gd name="adj" fmla="val 12000"/>
            </a:avLst>
          </a:prstGeom>
          <a:solidFill>
            <a:srgbClr val="F4F5F7"/>
          </a:solidFill>
          <a:ln/>
        </p:spPr>
      </p:sp>
      <p:sp>
        <p:nvSpPr>
          <p:cNvPr id="22" name="Text 20"/>
          <p:cNvSpPr txBox="1"/>
          <p:nvPr/>
        </p:nvSpPr>
        <p:spPr>
          <a:xfrm>
            <a:off x="996696" y="3063240"/>
            <a:ext cx="1920240" cy="457200"/>
          </a:xfrm>
          <a:prstGeom prst="rect">
            <a:avLst/>
          </a:prstGeom>
          <a:noFill/>
          <a:ln/>
        </p:spPr>
        <p:txBody>
          <a:bodyPr wrap="square" lIns="0" tIns="0" rIns="0" bIns="0" rtlCol="0" anchor="ctr"/>
          <a:lstStyle/>
          <a:p>
            <a:pPr indent="0" marL="0">
              <a:buNone/>
            </a:pPr>
            <a:r>
              <a:rPr lang="en-US" sz="1400" b="1" dirty="0">
                <a:solidFill>
                  <a:srgbClr val="1B2430"/>
                </a:solidFill>
                <a:latin typeface="Noto Sans KR" pitchFamily="34" charset="0"/>
                <a:ea typeface="Noto Sans KR" pitchFamily="34" charset="-122"/>
                <a:cs typeface="Noto Sans KR" pitchFamily="34" charset="-120"/>
              </a:rPr>
              <a:t>프로젝트</a:t>
            </a:r>
            <a:pPr indent="0" marL="0">
              <a:buNone/>
            </a:pPr>
            <a:endParaRPr lang="en-US" sz="1400" dirty="0"/>
          </a:p>
        </p:txBody>
      </p:sp>
      <p:sp>
        <p:nvSpPr>
          <p:cNvPr id="23" name="Shape 21"/>
          <p:cNvSpPr/>
          <p:nvPr/>
        </p:nvSpPr>
        <p:spPr>
          <a:xfrm>
            <a:off x="2962656" y="3145536"/>
            <a:ext cx="1760220" cy="292608"/>
          </a:xfrm>
          <a:prstGeom prst="roundRect">
            <a:avLst>
              <a:gd name="adj" fmla="val 15625"/>
            </a:avLst>
          </a:prstGeom>
          <a:solidFill>
            <a:srgbClr val="FFFFFF"/>
          </a:solidFill>
          <a:ln/>
        </p:spPr>
      </p:sp>
      <p:sp>
        <p:nvSpPr>
          <p:cNvPr id="24" name="Text 22"/>
          <p:cNvSpPr txBox="1"/>
          <p:nvPr/>
        </p:nvSpPr>
        <p:spPr>
          <a:xfrm>
            <a:off x="2962656" y="3145536"/>
            <a:ext cx="1760220" cy="292608"/>
          </a:xfrm>
          <a:prstGeom prst="rect">
            <a:avLst/>
          </a:prstGeom>
          <a:noFill/>
          <a:ln/>
        </p:spPr>
        <p:txBody>
          <a:bodyPr wrap="square" lIns="0" tIns="0" rIns="0" bIns="0" rtlCol="0" anchor="ctr"/>
          <a:lstStyle/>
          <a:p>
            <a:pPr algn="ctr" indent="0" marL="0">
              <a:buNone/>
            </a:pPr>
            <a:r>
              <a:rPr lang="en-US" sz="1100" b="1" dirty="0">
                <a:solidFill>
                  <a:srgbClr val="1B2430"/>
                </a:solidFill>
                <a:latin typeface="JetBrains Mono" pitchFamily="34" charset="0"/>
                <a:ea typeface="JetBrains Mono" pitchFamily="34" charset="-122"/>
                <a:cs typeface="JetBrains Mono" pitchFamily="34" charset="-120"/>
              </a:rPr>
              <a:t>PRD · 아키텍처 · UX</a:t>
            </a:r>
            <a:endParaRPr lang="en-US" sz="1100" dirty="0"/>
          </a:p>
        </p:txBody>
      </p:sp>
      <p:sp>
        <p:nvSpPr>
          <p:cNvPr id="25" name="Shape 23"/>
          <p:cNvSpPr/>
          <p:nvPr/>
        </p:nvSpPr>
        <p:spPr>
          <a:xfrm>
            <a:off x="4814316" y="3200400"/>
            <a:ext cx="292608" cy="182880"/>
          </a:xfrm>
          <a:prstGeom prst="rightArrow">
            <a:avLst/>
          </a:prstGeom>
          <a:solidFill>
            <a:srgbClr val="C0C2C4"/>
          </a:solidFill>
          <a:ln/>
        </p:spPr>
      </p:sp>
      <p:sp>
        <p:nvSpPr>
          <p:cNvPr id="26" name="Shape 24"/>
          <p:cNvSpPr/>
          <p:nvPr/>
        </p:nvSpPr>
        <p:spPr>
          <a:xfrm>
            <a:off x="5198364" y="3145536"/>
            <a:ext cx="1005840" cy="292608"/>
          </a:xfrm>
          <a:prstGeom prst="roundRect">
            <a:avLst>
              <a:gd name="adj" fmla="val 15625"/>
            </a:avLst>
          </a:prstGeom>
          <a:solidFill>
            <a:srgbClr val="FFFFFF"/>
          </a:solidFill>
          <a:ln/>
        </p:spPr>
      </p:sp>
      <p:sp>
        <p:nvSpPr>
          <p:cNvPr id="27" name="Text 25"/>
          <p:cNvSpPr txBox="1"/>
          <p:nvPr/>
        </p:nvSpPr>
        <p:spPr>
          <a:xfrm>
            <a:off x="5198364" y="3145536"/>
            <a:ext cx="1005840" cy="292608"/>
          </a:xfrm>
          <a:prstGeom prst="rect">
            <a:avLst/>
          </a:prstGeom>
          <a:noFill/>
          <a:ln/>
        </p:spPr>
        <p:txBody>
          <a:bodyPr wrap="square" lIns="0" tIns="0" rIns="0" bIns="0" rtlCol="0" anchor="ctr"/>
          <a:lstStyle/>
          <a:p>
            <a:pPr algn="ctr" indent="0" marL="0">
              <a:buNone/>
            </a:pPr>
            <a:r>
              <a:rPr lang="en-US" sz="1100" b="1" dirty="0">
                <a:solidFill>
                  <a:srgbClr val="1B2430"/>
                </a:solidFill>
                <a:latin typeface="JetBrains Mono" pitchFamily="34" charset="0"/>
                <a:ea typeface="JetBrains Mono" pitchFamily="34" charset="-122"/>
                <a:cs typeface="JetBrains Mono" pitchFamily="34" charset="-120"/>
              </a:rPr>
              <a:t>에픽 여러 개</a:t>
            </a:r>
            <a:endParaRPr lang="en-US" sz="1100" dirty="0"/>
          </a:p>
        </p:txBody>
      </p:sp>
      <p:sp>
        <p:nvSpPr>
          <p:cNvPr id="28" name="Shape 26"/>
          <p:cNvSpPr/>
          <p:nvPr/>
        </p:nvSpPr>
        <p:spPr>
          <a:xfrm>
            <a:off x="6295644" y="3200400"/>
            <a:ext cx="292608" cy="182880"/>
          </a:xfrm>
          <a:prstGeom prst="rightArrow">
            <a:avLst/>
          </a:prstGeom>
          <a:solidFill>
            <a:srgbClr val="C0C2C4"/>
          </a:solidFill>
          <a:ln/>
        </p:spPr>
      </p:sp>
      <p:sp>
        <p:nvSpPr>
          <p:cNvPr id="29" name="Shape 27"/>
          <p:cNvSpPr/>
          <p:nvPr/>
        </p:nvSpPr>
        <p:spPr>
          <a:xfrm>
            <a:off x="6679692" y="3145536"/>
            <a:ext cx="1005840" cy="292608"/>
          </a:xfrm>
          <a:prstGeom prst="roundRect">
            <a:avLst>
              <a:gd name="adj" fmla="val 15625"/>
            </a:avLst>
          </a:prstGeom>
          <a:solidFill>
            <a:srgbClr val="FFFFFF"/>
          </a:solidFill>
          <a:ln/>
        </p:spPr>
      </p:sp>
      <p:sp>
        <p:nvSpPr>
          <p:cNvPr id="30" name="Text 28"/>
          <p:cNvSpPr txBox="1"/>
          <p:nvPr/>
        </p:nvSpPr>
        <p:spPr>
          <a:xfrm>
            <a:off x="6679692" y="3145536"/>
            <a:ext cx="1005840" cy="292608"/>
          </a:xfrm>
          <a:prstGeom prst="rect">
            <a:avLst/>
          </a:prstGeom>
          <a:noFill/>
          <a:ln/>
        </p:spPr>
        <p:txBody>
          <a:bodyPr wrap="square" lIns="0" tIns="0" rIns="0" bIns="0" rtlCol="0" anchor="ctr"/>
          <a:lstStyle/>
          <a:p>
            <a:pPr algn="ctr" indent="0" marL="0">
              <a:buNone/>
            </a:pPr>
            <a:r>
              <a:rPr lang="en-US" sz="1100" b="1" dirty="0">
                <a:solidFill>
                  <a:srgbClr val="1B2430"/>
                </a:solidFill>
                <a:latin typeface="JetBrains Mono" pitchFamily="34" charset="0"/>
                <a:ea typeface="JetBrains Mono" pitchFamily="34" charset="-122"/>
                <a:cs typeface="JetBrains Mono" pitchFamily="34" charset="-120"/>
              </a:rPr>
              <a:t>…</a:t>
            </a:r>
            <a:endParaRPr lang="en-US" sz="1100" dirty="0"/>
          </a:p>
        </p:txBody>
      </p:sp>
      <p:sp>
        <p:nvSpPr>
          <p:cNvPr id="31" name="Shape 29"/>
          <p:cNvSpPr/>
          <p:nvPr/>
        </p:nvSpPr>
        <p:spPr>
          <a:xfrm>
            <a:off x="813816" y="3767328"/>
            <a:ext cx="5120640" cy="2130552"/>
          </a:xfrm>
          <a:prstGeom prst="roundRect">
            <a:avLst>
              <a:gd name="adj" fmla="val 3433"/>
            </a:avLst>
          </a:prstGeom>
          <a:solidFill>
            <a:srgbClr val="19202A"/>
          </a:solidFill>
          <a:ln/>
        </p:spPr>
      </p:sp>
      <p:sp>
        <p:nvSpPr>
          <p:cNvPr id="32" name="Text 30"/>
          <p:cNvSpPr txBox="1"/>
          <p:nvPr/>
        </p:nvSpPr>
        <p:spPr>
          <a:xfrm>
            <a:off x="1088136" y="3913632"/>
            <a:ext cx="4663440" cy="237744"/>
          </a:xfrm>
          <a:prstGeom prst="rect">
            <a:avLst/>
          </a:prstGeom>
          <a:noFill/>
          <a:ln/>
        </p:spPr>
        <p:txBody>
          <a:bodyPr wrap="square" lIns="0" tIns="0" rIns="0" bIns="0" rtlCol="0" anchor="t"/>
          <a:lstStyle/>
          <a:p>
            <a:pPr indent="0" marL="0">
              <a:buNone/>
            </a:pPr>
            <a:r>
              <a:rPr lang="en-US" sz="1000" dirty="0">
                <a:solidFill>
                  <a:srgbClr val="9AA6B5"/>
                </a:solidFill>
                <a:latin typeface="JetBrains Mono" pitchFamily="34" charset="0"/>
                <a:ea typeface="JetBrains Mono" pitchFamily="34" charset="-122"/>
                <a:cs typeface="JetBrains Mono" pitchFamily="34" charset="-120"/>
              </a:rPr>
              <a:t>_bmad-output/specs/spec-todo-app/SPEC.md</a:t>
            </a:r>
            <a:endParaRPr lang="en-US" sz="1000" dirty="0"/>
          </a:p>
        </p:txBody>
      </p:sp>
      <p:sp>
        <p:nvSpPr>
          <p:cNvPr id="33" name="Text 31"/>
          <p:cNvSpPr txBox="1"/>
          <p:nvPr/>
        </p:nvSpPr>
        <p:spPr>
          <a:xfrm>
            <a:off x="1088136" y="4251960"/>
            <a:ext cx="4663440" cy="1554480"/>
          </a:xfrm>
          <a:prstGeom prst="rect">
            <a:avLst/>
          </a:prstGeom>
          <a:noFill/>
          <a:ln/>
        </p:spPr>
        <p:txBody>
          <a:bodyPr wrap="square" lIns="0" tIns="0" rIns="0" bIns="0" rtlCol="0" anchor="t"/>
          <a:lstStyle/>
          <a:p>
            <a:pPr indent="0" marL="0">
              <a:lnSpc>
                <a:spcPct val="125000"/>
              </a:lnSpc>
              <a:buNone/>
            </a:pPr>
            <a:r>
              <a:rPr lang="en-US" sz="1200" b="1" dirty="0">
                <a:solidFill>
                  <a:srgbClr val="F08DB4"/>
                </a:solidFill>
                <a:latin typeface="JetBrains Mono" pitchFamily="34" charset="0"/>
                <a:ea typeface="JetBrains Mono" pitchFamily="34" charset="-122"/>
                <a:cs typeface="JetBrains Mono" pitchFamily="34" charset="-120"/>
              </a:rPr>
              <a:t>## Why            </a:t>
            </a:r>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왜 만드나</a:t>
            </a:r>
            <a:endParaRPr lang="en-US" sz="1200" dirty="0"/>
          </a:p>
          <a:p>
            <a:pPr indent="0" marL="0">
              <a:lnSpc>
                <a:spcPct val="125000"/>
              </a:lnSpc>
              <a:buNone/>
            </a:pPr>
            <a:r>
              <a:rPr lang="en-US" sz="1200" b="1" dirty="0">
                <a:solidFill>
                  <a:srgbClr val="F08DB4"/>
                </a:solidFill>
                <a:latin typeface="JetBrains Mono" pitchFamily="34" charset="0"/>
                <a:ea typeface="JetBrains Mono" pitchFamily="34" charset="-122"/>
                <a:cs typeface="JetBrains Mono" pitchFamily="34" charset="-120"/>
              </a:rPr>
              <a:t>## Capabilities   </a:t>
            </a:r>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무엇을 할 수 있어야 하나</a:t>
            </a:r>
            <a:endParaRPr lang="en-US" sz="1200" dirty="0"/>
          </a:p>
          <a:p>
            <a:pPr indent="0" marL="0">
              <a:lnSpc>
                <a:spcPct val="125000"/>
              </a:lnSpc>
              <a:buNone/>
            </a:pPr>
            <a:r>
              <a:rPr lang="en-US" sz="1200" b="1" dirty="0">
                <a:solidFill>
                  <a:srgbClr val="F08DB4"/>
                </a:solidFill>
                <a:latin typeface="JetBrains Mono" pitchFamily="34" charset="0"/>
                <a:ea typeface="JetBrains Mono" pitchFamily="34" charset="-122"/>
                <a:cs typeface="JetBrains Mono" pitchFamily="34" charset="-120"/>
              </a:rPr>
              <a:t>## Constraints    </a:t>
            </a:r>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기술 · 구조 제약</a:t>
            </a:r>
            <a:endParaRPr lang="en-US" sz="1200" dirty="0"/>
          </a:p>
          <a:p>
            <a:pPr indent="0" marL="0">
              <a:lnSpc>
                <a:spcPct val="125000"/>
              </a:lnSpc>
              <a:buNone/>
            </a:pPr>
            <a:r>
              <a:rPr lang="en-US" sz="1200" b="1" dirty="0">
                <a:solidFill>
                  <a:srgbClr val="F08DB4"/>
                </a:solidFill>
                <a:latin typeface="JetBrains Mono" pitchFamily="34" charset="0"/>
                <a:ea typeface="JetBrains Mono" pitchFamily="34" charset="-122"/>
                <a:cs typeface="JetBrains Mono" pitchFamily="34" charset="-120"/>
              </a:rPr>
              <a:t>## Non-goals      </a:t>
            </a:r>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하지 않는 것</a:t>
            </a:r>
            <a:endParaRPr lang="en-US" sz="1200" dirty="0"/>
          </a:p>
          <a:p>
            <a:pPr indent="0" marL="0">
              <a:lnSpc>
                <a:spcPct val="125000"/>
              </a:lnSpc>
              <a:buNone/>
            </a:pPr>
            <a:r>
              <a:rPr lang="en-US" sz="1200" b="1" dirty="0">
                <a:solidFill>
                  <a:srgbClr val="F08DB4"/>
                </a:solidFill>
                <a:latin typeface="JetBrains Mono" pitchFamily="34" charset="0"/>
                <a:ea typeface="JetBrains Mono" pitchFamily="34" charset="-122"/>
                <a:cs typeface="JetBrains Mono" pitchFamily="34" charset="-120"/>
              </a:rPr>
              <a:t>## Success signal </a:t>
            </a:r>
            <a:pPr indent="0" marL="0">
              <a:lnSpc>
                <a:spcPct val="125000"/>
              </a:lnSpc>
              <a:buNone/>
            </a:pPr>
            <a:r>
              <a:rPr lang="en-US" sz="1200" dirty="0">
                <a:solidFill>
                  <a:srgbClr val="C9D2DE"/>
                </a:solidFill>
                <a:latin typeface="JetBrains Mono" pitchFamily="34" charset="0"/>
                <a:ea typeface="JetBrains Mono" pitchFamily="34" charset="-122"/>
                <a:cs typeface="JetBrains Mono" pitchFamily="34" charset="-120"/>
              </a:rPr>
              <a:t>완성 기준</a:t>
            </a:r>
            <a:endParaRPr lang="en-US" sz="1200" dirty="0"/>
          </a:p>
        </p:txBody>
      </p:sp>
      <p:sp>
        <p:nvSpPr>
          <p:cNvPr id="34" name="Shape 32"/>
          <p:cNvSpPr/>
          <p:nvPr/>
        </p:nvSpPr>
        <p:spPr>
          <a:xfrm>
            <a:off x="6117336" y="3767328"/>
            <a:ext cx="5266944" cy="2130552"/>
          </a:xfrm>
          <a:prstGeom prst="roundRect">
            <a:avLst>
              <a:gd name="adj" fmla="val 3433"/>
            </a:avLst>
          </a:prstGeom>
          <a:solidFill>
            <a:srgbClr val="F4F5F7"/>
          </a:solidFill>
          <a:ln/>
        </p:spPr>
      </p:sp>
      <p:sp>
        <p:nvSpPr>
          <p:cNvPr id="35" name="Text 33"/>
          <p:cNvSpPr txBox="1"/>
          <p:nvPr/>
        </p:nvSpPr>
        <p:spPr>
          <a:xfrm>
            <a:off x="6345936" y="3913632"/>
            <a:ext cx="4809744" cy="292608"/>
          </a:xfrm>
          <a:prstGeom prst="rect">
            <a:avLst/>
          </a:prstGeom>
          <a:noFill/>
          <a:ln/>
        </p:spPr>
        <p:txBody>
          <a:bodyPr wrap="square" lIns="0" tIns="0" rIns="0" bIns="0" rtlCol="0" anchor="t"/>
          <a:lstStyle/>
          <a:p>
            <a:pPr indent="0" marL="0">
              <a:buNone/>
            </a:pPr>
            <a:r>
              <a:rPr lang="en-US" sz="1500" b="1" dirty="0">
                <a:solidFill>
                  <a:srgbClr val="B8336A"/>
                </a:solidFill>
                <a:latin typeface="JetBrains Mono" pitchFamily="34" charset="0"/>
                <a:ea typeface="JetBrains Mono" pitchFamily="34" charset="-122"/>
                <a:cs typeface="JetBrains Mono" pitchFamily="34" charset="-120"/>
              </a:rPr>
              <a:t>/bmad-build</a:t>
            </a:r>
            <a:pPr indent="0" marL="0">
              <a:buNone/>
            </a:pPr>
            <a:r>
              <a:rPr lang="en-US" sz="1500" b="1" dirty="0">
                <a:solidFill>
                  <a:srgbClr val="1B2430"/>
                </a:solidFill>
                <a:latin typeface="Noto Sans KR" pitchFamily="34" charset="0"/>
                <a:ea typeface="Noto Sans KR" pitchFamily="34" charset="-122"/>
                <a:cs typeface="Noto Sans KR" pitchFamily="34" charset="-120"/>
              </a:rPr>
              <a:t> 한 번 = 스토리 하나</a:t>
            </a:r>
            <a:endParaRPr lang="en-US" sz="1500" dirty="0"/>
          </a:p>
        </p:txBody>
      </p:sp>
      <p:sp>
        <p:nvSpPr>
          <p:cNvPr id="36" name="Shape 34"/>
          <p:cNvSpPr/>
          <p:nvPr/>
        </p:nvSpPr>
        <p:spPr>
          <a:xfrm>
            <a:off x="6345936" y="4370832"/>
            <a:ext cx="713232" cy="329184"/>
          </a:xfrm>
          <a:prstGeom prst="roundRect">
            <a:avLst>
              <a:gd name="adj" fmla="val 13889"/>
            </a:avLst>
          </a:prstGeom>
          <a:solidFill>
            <a:srgbClr val="FFFFFF"/>
          </a:solidFill>
          <a:ln/>
        </p:spPr>
      </p:sp>
      <p:sp>
        <p:nvSpPr>
          <p:cNvPr id="37" name="Text 35"/>
          <p:cNvSpPr txBox="1"/>
          <p:nvPr/>
        </p:nvSpPr>
        <p:spPr>
          <a:xfrm>
            <a:off x="6345936" y="4370832"/>
            <a:ext cx="713232" cy="329184"/>
          </a:xfrm>
          <a:prstGeom prst="rect">
            <a:avLst/>
          </a:prstGeom>
          <a:noFill/>
          <a:ln/>
        </p:spPr>
        <p:txBody>
          <a:bodyPr wrap="square" lIns="0" tIns="0" rIns="0" bIns="0" rtlCol="0" anchor="ctr"/>
          <a:lstStyle/>
          <a:p>
            <a:pPr algn="ctr" indent="0" marL="0">
              <a:buNone/>
            </a:pPr>
            <a:r>
              <a:rPr lang="en-US" sz="1100" b="1" dirty="0">
                <a:solidFill>
                  <a:srgbClr val="1B2430"/>
                </a:solidFill>
                <a:latin typeface="Noto Sans KR" pitchFamily="34" charset="0"/>
                <a:ea typeface="Noto Sans KR" pitchFamily="34" charset="-122"/>
                <a:cs typeface="Noto Sans KR" pitchFamily="34" charset="-120"/>
              </a:rPr>
              <a:t>계획 승인</a:t>
            </a:r>
            <a:endParaRPr lang="en-US" sz="1100" dirty="0"/>
          </a:p>
        </p:txBody>
      </p:sp>
      <p:sp>
        <p:nvSpPr>
          <p:cNvPr id="38" name="Shape 36"/>
          <p:cNvSpPr/>
          <p:nvPr/>
        </p:nvSpPr>
        <p:spPr>
          <a:xfrm>
            <a:off x="7095744" y="4443984"/>
            <a:ext cx="164592" cy="182880"/>
          </a:xfrm>
          <a:prstGeom prst="rightArrow">
            <a:avLst/>
          </a:prstGeom>
          <a:solidFill>
            <a:srgbClr val="C0C2C4"/>
          </a:solidFill>
          <a:ln/>
        </p:spPr>
      </p:sp>
      <p:sp>
        <p:nvSpPr>
          <p:cNvPr id="39" name="Shape 37"/>
          <p:cNvSpPr/>
          <p:nvPr/>
        </p:nvSpPr>
        <p:spPr>
          <a:xfrm>
            <a:off x="7296912" y="4370832"/>
            <a:ext cx="713232" cy="329184"/>
          </a:xfrm>
          <a:prstGeom prst="roundRect">
            <a:avLst>
              <a:gd name="adj" fmla="val 13889"/>
            </a:avLst>
          </a:prstGeom>
          <a:solidFill>
            <a:srgbClr val="FFFFFF"/>
          </a:solidFill>
          <a:ln/>
        </p:spPr>
      </p:sp>
      <p:sp>
        <p:nvSpPr>
          <p:cNvPr id="40" name="Text 38"/>
          <p:cNvSpPr txBox="1"/>
          <p:nvPr/>
        </p:nvSpPr>
        <p:spPr>
          <a:xfrm>
            <a:off x="7296912" y="4370832"/>
            <a:ext cx="713232" cy="329184"/>
          </a:xfrm>
          <a:prstGeom prst="rect">
            <a:avLst/>
          </a:prstGeom>
          <a:noFill/>
          <a:ln/>
        </p:spPr>
        <p:txBody>
          <a:bodyPr wrap="square" lIns="0" tIns="0" rIns="0" bIns="0" rtlCol="0" anchor="ctr"/>
          <a:lstStyle/>
          <a:p>
            <a:pPr algn="ctr" indent="0" marL="0">
              <a:buNone/>
            </a:pPr>
            <a:r>
              <a:rPr lang="en-US" sz="1100" b="1" dirty="0">
                <a:solidFill>
                  <a:srgbClr val="1B2430"/>
                </a:solidFill>
                <a:latin typeface="Noto Sans KR" pitchFamily="34" charset="0"/>
                <a:ea typeface="Noto Sans KR" pitchFamily="34" charset="-122"/>
                <a:cs typeface="Noto Sans KR" pitchFamily="34" charset="-120"/>
              </a:rPr>
              <a:t>구현</a:t>
            </a:r>
            <a:endParaRPr lang="en-US" sz="1100" dirty="0"/>
          </a:p>
        </p:txBody>
      </p:sp>
      <p:sp>
        <p:nvSpPr>
          <p:cNvPr id="41" name="Shape 39"/>
          <p:cNvSpPr/>
          <p:nvPr/>
        </p:nvSpPr>
        <p:spPr>
          <a:xfrm>
            <a:off x="8046720" y="4443984"/>
            <a:ext cx="164592" cy="182880"/>
          </a:xfrm>
          <a:prstGeom prst="rightArrow">
            <a:avLst/>
          </a:prstGeom>
          <a:solidFill>
            <a:srgbClr val="C0C2C4"/>
          </a:solidFill>
          <a:ln/>
        </p:spPr>
      </p:sp>
      <p:sp>
        <p:nvSpPr>
          <p:cNvPr id="42" name="Shape 40"/>
          <p:cNvSpPr/>
          <p:nvPr/>
        </p:nvSpPr>
        <p:spPr>
          <a:xfrm>
            <a:off x="8247888" y="4370832"/>
            <a:ext cx="914400" cy="329184"/>
          </a:xfrm>
          <a:prstGeom prst="roundRect">
            <a:avLst>
              <a:gd name="adj" fmla="val 13889"/>
            </a:avLst>
          </a:prstGeom>
          <a:solidFill>
            <a:srgbClr val="B8336A"/>
          </a:solidFill>
          <a:ln/>
        </p:spPr>
      </p:sp>
      <p:sp>
        <p:nvSpPr>
          <p:cNvPr id="43" name="Text 41"/>
          <p:cNvSpPr txBox="1"/>
          <p:nvPr/>
        </p:nvSpPr>
        <p:spPr>
          <a:xfrm>
            <a:off x="8247888" y="4370832"/>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KR" pitchFamily="34" charset="0"/>
                <a:ea typeface="Noto Sans KR" pitchFamily="34" charset="-122"/>
                <a:cs typeface="Noto Sans KR" pitchFamily="34" charset="-120"/>
              </a:rPr>
              <a:t>독립 리뷰</a:t>
            </a:r>
            <a:endParaRPr lang="en-US" sz="1100" dirty="0"/>
          </a:p>
        </p:txBody>
      </p:sp>
      <p:sp>
        <p:nvSpPr>
          <p:cNvPr id="44" name="Shape 42"/>
          <p:cNvSpPr/>
          <p:nvPr/>
        </p:nvSpPr>
        <p:spPr>
          <a:xfrm>
            <a:off x="9198864" y="4443984"/>
            <a:ext cx="164592" cy="182880"/>
          </a:xfrm>
          <a:prstGeom prst="rightArrow">
            <a:avLst/>
          </a:prstGeom>
          <a:solidFill>
            <a:srgbClr val="C0C2C4"/>
          </a:solidFill>
          <a:ln/>
        </p:spPr>
      </p:sp>
      <p:sp>
        <p:nvSpPr>
          <p:cNvPr id="45" name="Shape 43"/>
          <p:cNvSpPr/>
          <p:nvPr/>
        </p:nvSpPr>
        <p:spPr>
          <a:xfrm>
            <a:off x="9400032" y="4370832"/>
            <a:ext cx="713232" cy="329184"/>
          </a:xfrm>
          <a:prstGeom prst="roundRect">
            <a:avLst>
              <a:gd name="adj" fmla="val 13889"/>
            </a:avLst>
          </a:prstGeom>
          <a:solidFill>
            <a:srgbClr val="FFFFFF"/>
          </a:solidFill>
          <a:ln/>
        </p:spPr>
      </p:sp>
      <p:sp>
        <p:nvSpPr>
          <p:cNvPr id="46" name="Text 44"/>
          <p:cNvSpPr txBox="1"/>
          <p:nvPr/>
        </p:nvSpPr>
        <p:spPr>
          <a:xfrm>
            <a:off x="9400032" y="4370832"/>
            <a:ext cx="713232" cy="329184"/>
          </a:xfrm>
          <a:prstGeom prst="rect">
            <a:avLst/>
          </a:prstGeom>
          <a:noFill/>
          <a:ln/>
        </p:spPr>
        <p:txBody>
          <a:bodyPr wrap="square" lIns="0" tIns="0" rIns="0" bIns="0" rtlCol="0" anchor="ctr"/>
          <a:lstStyle/>
          <a:p>
            <a:pPr algn="ctr" indent="0" marL="0">
              <a:buNone/>
            </a:pPr>
            <a:r>
              <a:rPr lang="en-US" sz="1100" b="1" dirty="0">
                <a:solidFill>
                  <a:srgbClr val="1B2430"/>
                </a:solidFill>
                <a:latin typeface="Noto Sans KR" pitchFamily="34" charset="0"/>
                <a:ea typeface="Noto Sans KR" pitchFamily="34" charset="-122"/>
                <a:cs typeface="Noto Sans KR" pitchFamily="34" charset="-120"/>
              </a:rPr>
              <a:t>수정</a:t>
            </a:r>
            <a:endParaRPr lang="en-US" sz="1100" dirty="0"/>
          </a:p>
        </p:txBody>
      </p:sp>
      <p:sp>
        <p:nvSpPr>
          <p:cNvPr id="47" name="Shape 45"/>
          <p:cNvSpPr/>
          <p:nvPr/>
        </p:nvSpPr>
        <p:spPr>
          <a:xfrm>
            <a:off x="10149840" y="4443984"/>
            <a:ext cx="164592" cy="182880"/>
          </a:xfrm>
          <a:prstGeom prst="rightArrow">
            <a:avLst/>
          </a:prstGeom>
          <a:solidFill>
            <a:srgbClr val="C0C2C4"/>
          </a:solidFill>
          <a:ln/>
        </p:spPr>
      </p:sp>
      <p:sp>
        <p:nvSpPr>
          <p:cNvPr id="48" name="Shape 46"/>
          <p:cNvSpPr/>
          <p:nvPr/>
        </p:nvSpPr>
        <p:spPr>
          <a:xfrm>
            <a:off x="10351008" y="4370832"/>
            <a:ext cx="713232" cy="329184"/>
          </a:xfrm>
          <a:prstGeom prst="roundRect">
            <a:avLst>
              <a:gd name="adj" fmla="val 13889"/>
            </a:avLst>
          </a:prstGeom>
          <a:solidFill>
            <a:srgbClr val="FFFFFF"/>
          </a:solidFill>
          <a:ln/>
        </p:spPr>
      </p:sp>
      <p:sp>
        <p:nvSpPr>
          <p:cNvPr id="49" name="Text 47"/>
          <p:cNvSpPr txBox="1"/>
          <p:nvPr/>
        </p:nvSpPr>
        <p:spPr>
          <a:xfrm>
            <a:off x="10351008" y="4370832"/>
            <a:ext cx="713232" cy="329184"/>
          </a:xfrm>
          <a:prstGeom prst="rect">
            <a:avLst/>
          </a:prstGeom>
          <a:noFill/>
          <a:ln/>
        </p:spPr>
        <p:txBody>
          <a:bodyPr wrap="square" lIns="0" tIns="0" rIns="0" bIns="0" rtlCol="0" anchor="ctr"/>
          <a:lstStyle/>
          <a:p>
            <a:pPr algn="ctr" indent="0" marL="0">
              <a:buNone/>
            </a:pPr>
            <a:r>
              <a:rPr lang="en-US" sz="1100" b="1" dirty="0">
                <a:solidFill>
                  <a:srgbClr val="1B2430"/>
                </a:solidFill>
                <a:latin typeface="Noto Sans KR" pitchFamily="34" charset="0"/>
                <a:ea typeface="Noto Sans KR" pitchFamily="34" charset="-122"/>
                <a:cs typeface="Noto Sans KR" pitchFamily="34" charset="-120"/>
              </a:rPr>
              <a:t>커밋</a:t>
            </a:r>
            <a:endParaRPr lang="en-US" sz="1100" dirty="0"/>
          </a:p>
        </p:txBody>
      </p:sp>
      <p:sp>
        <p:nvSpPr>
          <p:cNvPr id="50" name="Text 48"/>
          <p:cNvSpPr txBox="1"/>
          <p:nvPr/>
        </p:nvSpPr>
        <p:spPr>
          <a:xfrm>
            <a:off x="6345936" y="4892040"/>
            <a:ext cx="4809744" cy="457200"/>
          </a:xfrm>
          <a:prstGeom prst="rect">
            <a:avLst/>
          </a:prstGeom>
          <a:noFill/>
          <a:ln/>
        </p:spPr>
        <p:txBody>
          <a:bodyPr wrap="square" lIns="0" tIns="0" rIns="0" bIns="0" rtlCol="0" anchor="t"/>
          <a:lstStyle/>
          <a:p>
            <a:pPr indent="0" marL="0">
              <a:buNone/>
            </a:pPr>
            <a:r>
              <a:rPr lang="en-US" sz="1200" b="1" dirty="0">
                <a:solidFill>
                  <a:srgbClr val="1B2430"/>
                </a:solidFill>
                <a:latin typeface="Noto Sans KR" pitchFamily="34" charset="0"/>
                <a:ea typeface="Noto Sans KR" pitchFamily="34" charset="-122"/>
                <a:cs typeface="Noto Sans KR" pitchFamily="34" charset="-120"/>
              </a:rPr>
              <a:t>역할 에이전트  </a:t>
            </a:r>
            <a:pPr indent="0" marL="0">
              <a:buNone/>
            </a:pPr>
            <a:r>
              <a:rPr lang="en-US" sz="1200" dirty="0">
                <a:solidFill>
                  <a:srgbClr val="4A5568"/>
                </a:solidFill>
                <a:latin typeface="Noto Sans KR" pitchFamily="34" charset="0"/>
                <a:ea typeface="Noto Sans KR" pitchFamily="34" charset="-122"/>
                <a:cs typeface="Noto Sans KR" pitchFamily="34" charset="-120"/>
              </a:rPr>
              <a:t>Mary 분석가 · John PM · Winston 아키텍트 · Amelia 개발자 · Sally UX</a:t>
            </a:r>
            <a:endParaRPr lang="en-US" sz="1200" dirty="0"/>
          </a:p>
        </p:txBody>
      </p:sp>
      <p:sp>
        <p:nvSpPr>
          <p:cNvPr id="51" name="Text 49"/>
          <p:cNvSpPr txBox="1"/>
          <p:nvPr/>
        </p:nvSpPr>
        <p:spPr>
          <a:xfrm>
            <a:off x="6345936" y="5394960"/>
            <a:ext cx="4809744" cy="365760"/>
          </a:xfrm>
          <a:prstGeom prst="rect">
            <a:avLst/>
          </a:prstGeom>
          <a:noFill/>
          <a:ln/>
        </p:spPr>
        <p:txBody>
          <a:bodyPr wrap="square" lIns="0" tIns="0" rIns="0" bIns="0" rtlCol="0" anchor="t"/>
          <a:lstStyle/>
          <a:p>
            <a:pPr indent="0" marL="0">
              <a:buNone/>
            </a:pPr>
            <a:r>
              <a:rPr lang="en-US" sz="1200" dirty="0">
                <a:solidFill>
                  <a:srgbClr val="6B7280"/>
                </a:solidFill>
                <a:latin typeface="Noto Sans KR" pitchFamily="34" charset="0"/>
                <a:ea typeface="Noto Sans KR" pitchFamily="34" charset="-122"/>
                <a:cs typeface="Noto Sans KR" pitchFamily="34" charset="-120"/>
              </a:rPr>
              <a:t>확인: 적대적·엣지 케이스 리뷰 → walkthrough → retrospective</a:t>
            </a:r>
            <a:endParaRPr lang="en-US" sz="1200" dirty="0"/>
          </a:p>
        </p:txBody>
      </p:sp>
      <p:sp>
        <p:nvSpPr>
          <p:cNvPr id="52" name="Text 50"/>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11 / 15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6B7280"/>
                </a:solidFill>
                <a:latin typeface="Noto Sans KR" pitchFamily="34" charset="0"/>
                <a:ea typeface="Noto Sans KR" pitchFamily="34" charset="-122"/>
                <a:cs typeface="Noto Sans KR" pitchFamily="34" charset="-120"/>
              </a:rPr>
              <a:t>비교 ① 구조</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무엇을, 어디에, 어떤 형식으로 쓰나</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3816" y="1920240"/>
          <a:ext cx="10570464" cy="914400"/>
        </p:xfrm>
        <a:graphic>
          <a:graphicData uri="http://schemas.openxmlformats.org/drawingml/2006/table">
            <a:tbl>
              <a:tblPr/>
              <a:tblGrid>
                <a:gridCol w="1335024"/>
                <a:gridCol w="1847088"/>
                <a:gridCol w="1847088"/>
                <a:gridCol w="1847088"/>
                <a:gridCol w="1847088"/>
                <a:gridCol w="1847088"/>
              </a:tblGrid>
              <a:tr h="347472">
                <a:tc>
                  <a:txBody>
                    <a:bodyPr/>
                    <a:lstStyle/>
                    <a:p>
                      <a:pPr indent="0" marL="0">
                        <a:buNone/>
                      </a:pPr>
                      <a:r>
                        <a:rPr lang="en-US" sz="1100" b="1" dirty="0">
                          <a:solidFill>
                            <a:srgbClr val="FFFFFF"/>
                          </a:solidFill>
                          <a:latin typeface="Noto Sans KR" pitchFamily="34" charset="0"/>
                          <a:ea typeface="Noto Sans KR" pitchFamily="34" charset="-122"/>
                          <a:cs typeface="Noto Sans KR" pitchFamily="34" charset="-120"/>
                        </a:rPr>
                        <a:t>항목</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B79CF0"/>
                          </a:solidFill>
                          <a:latin typeface="Noto Sans KR" pitchFamily="34" charset="0"/>
                          <a:ea typeface="Noto Sans KR" pitchFamily="34" charset="-122"/>
                          <a:cs typeface="Noto Sans KR" pitchFamily="34" charset="-120"/>
                        </a:rPr>
                        <a:t>M01 Kiro</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F0A060"/>
                          </a:solidFill>
                          <a:latin typeface="Noto Sans KR" pitchFamily="34" charset="0"/>
                          <a:ea typeface="Noto Sans KR" pitchFamily="34" charset="-122"/>
                          <a:cs typeface="Noto Sans KR" pitchFamily="34" charset="-120"/>
                        </a:rPr>
                        <a:t>M02 OpenSpec</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7FA8F0"/>
                          </a:solidFill>
                          <a:latin typeface="Noto Sans KR" pitchFamily="34" charset="0"/>
                          <a:ea typeface="Noto Sans KR" pitchFamily="34" charset="-122"/>
                          <a:cs typeface="Noto Sans KR" pitchFamily="34" charset="-120"/>
                        </a:rPr>
                        <a:t>M03 Spec Kit</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7CCB9A"/>
                          </a:solidFill>
                          <a:latin typeface="Noto Sans KR" pitchFamily="34" charset="0"/>
                          <a:ea typeface="Noto Sans KR" pitchFamily="34" charset="-122"/>
                          <a:cs typeface="Noto Sans KR" pitchFamily="34" charset="-120"/>
                        </a:rPr>
                        <a:t>M04 GSD</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F08DB4"/>
                          </a:solidFill>
                          <a:latin typeface="Noto Sans KR" pitchFamily="34" charset="0"/>
                          <a:ea typeface="Noto Sans KR" pitchFamily="34" charset="-122"/>
                          <a:cs typeface="Noto Sans KR" pitchFamily="34" charset="-120"/>
                        </a:rPr>
                        <a:t>M05 BMAD</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형태 · 설치</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IDE 앱 다운로드</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CLI · npm i -g @fission-ai/openspec</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CLI · uv tool install specify-cli</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명령 · npx @opengsd/gsd-core</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스킬 · npx bmad-method install</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원칙 · 맥락</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Steering 3종 (product · tech · structure)</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config.yaml 의 context · rules</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constitution.md (버전 관리되는 헌법)</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PROJECT.md + STATE.md (세션 간 기억)</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config.toml + SPEC.md 의 Constraints</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작업 단위</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기능 (Spec)</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변경 (change)</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기능 (feature)</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마일스톤 → 단계 → 계획</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크기에 따라 변경 · 에픽 · 프로젝트</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계획 문서</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requirements · design · tasks</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proposal · 델타 spec · design · tasks</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spec · plan · research · contracts · tasks 외</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REQUIREMENTS · ROADMAP · CONTEXT · PLAN</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SPEC.md (5항목) · stories.yaml · 스토리 문서</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요구사항 형식</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EARS (WHEN … SHALL …)</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Requirement + Scenario (WHEN/THEN)</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사용자 스토리 + Given/When/Then</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REQ-ID (v1 · v2 · 범위 밖)</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Capabilities + Success signal</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명세 위치</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.kiro/specs/&lt;기능&gt;/</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changes/ → specs/ 로 병합</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specs/001-…/</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.planning/</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_bmad-output/specs/</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12 / 15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6B7280"/>
                </a:solidFill>
                <a:latin typeface="Noto Sans KR" pitchFamily="34" charset="0"/>
                <a:ea typeface="Noto Sans KR" pitchFamily="34" charset="-122"/>
                <a:cs typeface="Noto Sans KR" pitchFamily="34" charset="-120"/>
              </a:rPr>
              <a:t>비교 ② 실행</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누가 만들고, 어떻게 확인하나</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13816" y="1920240"/>
          <a:ext cx="10570464" cy="914400"/>
        </p:xfrm>
        <a:graphic>
          <a:graphicData uri="http://schemas.openxmlformats.org/drawingml/2006/table">
            <a:tbl>
              <a:tblPr/>
              <a:tblGrid>
                <a:gridCol w="1335024"/>
                <a:gridCol w="1847088"/>
                <a:gridCol w="1847088"/>
                <a:gridCol w="1847088"/>
                <a:gridCol w="1847088"/>
                <a:gridCol w="1847088"/>
              </a:tblGrid>
              <a:tr h="347472">
                <a:tc>
                  <a:txBody>
                    <a:bodyPr/>
                    <a:lstStyle/>
                    <a:p>
                      <a:pPr indent="0" marL="0">
                        <a:buNone/>
                      </a:pPr>
                      <a:r>
                        <a:rPr lang="en-US" sz="1100" b="1" dirty="0">
                          <a:solidFill>
                            <a:srgbClr val="FFFFFF"/>
                          </a:solidFill>
                          <a:latin typeface="Noto Sans KR" pitchFamily="34" charset="0"/>
                          <a:ea typeface="Noto Sans KR" pitchFamily="34" charset="-122"/>
                          <a:cs typeface="Noto Sans KR" pitchFamily="34" charset="-120"/>
                        </a:rPr>
                        <a:t>항목</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B79CF0"/>
                          </a:solidFill>
                          <a:latin typeface="Noto Sans KR" pitchFamily="34" charset="0"/>
                          <a:ea typeface="Noto Sans KR" pitchFamily="34" charset="-122"/>
                          <a:cs typeface="Noto Sans KR" pitchFamily="34" charset="-120"/>
                        </a:rPr>
                        <a:t>M01 Kiro</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F0A060"/>
                          </a:solidFill>
                          <a:latin typeface="Noto Sans KR" pitchFamily="34" charset="0"/>
                          <a:ea typeface="Noto Sans KR" pitchFamily="34" charset="-122"/>
                          <a:cs typeface="Noto Sans KR" pitchFamily="34" charset="-120"/>
                        </a:rPr>
                        <a:t>M02 OpenSpec</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7FA8F0"/>
                          </a:solidFill>
                          <a:latin typeface="Noto Sans KR" pitchFamily="34" charset="0"/>
                          <a:ea typeface="Noto Sans KR" pitchFamily="34" charset="-122"/>
                          <a:cs typeface="Noto Sans KR" pitchFamily="34" charset="-120"/>
                        </a:rPr>
                        <a:t>M03 Spec Kit</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7CCB9A"/>
                          </a:solidFill>
                          <a:latin typeface="Noto Sans KR" pitchFamily="34" charset="0"/>
                          <a:ea typeface="Noto Sans KR" pitchFamily="34" charset="-122"/>
                          <a:cs typeface="Noto Sans KR" pitchFamily="34" charset="-120"/>
                        </a:rPr>
                        <a:t>M04 GSD</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100" b="1" dirty="0">
                          <a:solidFill>
                            <a:srgbClr val="F08DB4"/>
                          </a:solidFill>
                          <a:latin typeface="Noto Sans KR" pitchFamily="34" charset="0"/>
                          <a:ea typeface="Noto Sans KR" pitchFamily="34" charset="-122"/>
                          <a:cs typeface="Noto Sans KR" pitchFamily="34" charset="-120"/>
                        </a:rPr>
                        <a:t>M05 BMAD</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누가 일하나</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Kiro 내장 에이전트</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Claude Code 하나</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Claude Code 하나</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역할별 서브에이전트 35종</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역할 에이전트 5명 + 독립 리뷰어</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진행 방식</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버튼 + 채팅, 단계별 승인</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명령 3~6개 (제안 → 구현 → 보관)</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명령 9개 (clarify · analyze 품질 관문)</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단계마다 discuss → plan → execute → verify</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spec → stories → 스토리마다 build</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구현</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Run all Tasks</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/opsx:apply</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/speckit-implement</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웨이브 병렬, 작업마다 커밋</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/bmad-build: 승인 → 구현 → 리뷰 → 커밋</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완료 확인</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작업 상태 + Sync Files</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openspec validate --strict</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/speckit-converge → Converged</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VERIFICATION + 사람 UAT</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독립 리뷰 + walkthrough · retrospective</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두 번째 기능 (마감일)</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같은 Spec 수정 → Sync Files</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델타 명세 → archive 병합</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새 기능 폴더 002-…</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/gsd-quick</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SPEC 갱신 → /bmad-build</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r h="585216">
                <a:tc>
                  <a:txBody>
                    <a:bodyPr/>
                    <a:lstStyle/>
                    <a:p>
                      <a:pPr indent="0" marL="0">
                        <a:buNone/>
                      </a:pPr>
                      <a:r>
                        <a:rPr lang="en-US" sz="1100" b="1" dirty="0">
                          <a:solidFill>
                            <a:srgbClr val="1B2430"/>
                          </a:solidFill>
                          <a:latin typeface="Noto Sans KR" pitchFamily="34" charset="0"/>
                          <a:ea typeface="Noto Sans KR" pitchFamily="34" charset="-122"/>
                          <a:cs typeface="Noto Sans KR" pitchFamily="34" charset="-120"/>
                        </a:rPr>
                        <a:t>강점</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1F3F6"/>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IDE 하나로 쉽게</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가벼운 변경 관리</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꼼꼼한 설계 · 검증</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긴 작업에서도 품질 유지</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c>
                  <a:txBody>
                    <a:bodyPr/>
                    <a:lstStyle/>
                    <a:p>
                      <a:pPr indent="0" marL="0">
                        <a:buNone/>
                      </a:pPr>
                      <a:r>
                        <a:rPr lang="en-US" sz="1100" dirty="0">
                          <a:solidFill>
                            <a:srgbClr val="4A5568"/>
                          </a:solidFill>
                          <a:latin typeface="Noto Sans KR" pitchFamily="34" charset="0"/>
                          <a:ea typeface="Noto Sans KR" pitchFamily="34" charset="-122"/>
                          <a:cs typeface="Noto Sans KR" pitchFamily="34" charset="-120"/>
                        </a:rPr>
                        <a:t>일 크기에 맞춘 계획, 리뷰 내장</a:t>
                      </a:r>
                      <a:endParaRPr lang="en-US" sz="1100" dirty="0">
                        <a:latin typeface="Noto Sans KR" charset="0"/>
                        <a:ea typeface="Noto Sans KR" charset="0"/>
                        <a:cs typeface="Noto Sans KR" charset="0"/>
                      </a:endParaRPr>
                    </a:p>
                  </a:txBody>
                  <a:tcPr marL="73152" marR="73152" marT="45720" marB="45720"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13 / 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6B7280"/>
                </a:solidFill>
                <a:latin typeface="Noto Sans KR" pitchFamily="34" charset="0"/>
                <a:ea typeface="Noto Sans KR" pitchFamily="34" charset="-122"/>
                <a:cs typeface="Noto Sans KR" pitchFamily="34" charset="-120"/>
              </a:rPr>
              <a:t>선택 기준</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상황에 맞춰 고른다</a:t>
            </a:r>
            <a:endParaRPr lang="en-US" sz="3200" dirty="0"/>
          </a:p>
        </p:txBody>
      </p:sp>
      <p:sp>
        <p:nvSpPr>
          <p:cNvPr id="4" name="Shape 2"/>
          <p:cNvSpPr/>
          <p:nvPr/>
        </p:nvSpPr>
        <p:spPr>
          <a:xfrm>
            <a:off x="813816" y="1920240"/>
            <a:ext cx="10570464" cy="676656"/>
          </a:xfrm>
          <a:prstGeom prst="roundRect">
            <a:avLst>
              <a:gd name="adj" fmla="val 10811"/>
            </a:avLst>
          </a:prstGeom>
          <a:solidFill>
            <a:srgbClr val="F4F5F7"/>
          </a:solidFill>
          <a:ln/>
        </p:spPr>
      </p:sp>
      <p:sp>
        <p:nvSpPr>
          <p:cNvPr id="5" name="Shape 3"/>
          <p:cNvSpPr/>
          <p:nvPr/>
        </p:nvSpPr>
        <p:spPr>
          <a:xfrm>
            <a:off x="996696" y="2093976"/>
            <a:ext cx="1325880" cy="329184"/>
          </a:xfrm>
          <a:prstGeom prst="roundRect">
            <a:avLst>
              <a:gd name="adj" fmla="val 13889"/>
            </a:avLst>
          </a:prstGeom>
          <a:solidFill>
            <a:srgbClr val="7A4CC2"/>
          </a:solidFill>
          <a:ln/>
        </p:spPr>
      </p:sp>
      <p:sp>
        <p:nvSpPr>
          <p:cNvPr id="6" name="Text 4"/>
          <p:cNvSpPr txBox="1"/>
          <p:nvPr/>
        </p:nvSpPr>
        <p:spPr>
          <a:xfrm>
            <a:off x="996696" y="2093976"/>
            <a:ext cx="13258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KR" pitchFamily="34" charset="0"/>
                <a:ea typeface="Noto Sans KR" pitchFamily="34" charset="-122"/>
                <a:cs typeface="Noto Sans KR" pitchFamily="34" charset="-120"/>
              </a:rPr>
              <a:t>Kiro</a:t>
            </a:r>
            <a:endParaRPr lang="en-US" sz="1300" dirty="0"/>
          </a:p>
        </p:txBody>
      </p:sp>
      <p:sp>
        <p:nvSpPr>
          <p:cNvPr id="7" name="Text 5"/>
          <p:cNvSpPr txBox="1"/>
          <p:nvPr/>
        </p:nvSpPr>
        <p:spPr>
          <a:xfrm>
            <a:off x="2551176" y="1920240"/>
            <a:ext cx="3291840" cy="676656"/>
          </a:xfrm>
          <a:prstGeom prst="rect">
            <a:avLst/>
          </a:prstGeom>
          <a:noFill/>
          <a:ln/>
        </p:spPr>
        <p:txBody>
          <a:bodyPr wrap="square" lIns="0" tIns="0" rIns="0" bIns="0" rtlCol="0" anchor="ctr"/>
          <a:lstStyle/>
          <a:p>
            <a:pPr indent="0" marL="0">
              <a:buNone/>
            </a:pPr>
            <a:r>
              <a:rPr lang="en-US" sz="1600" b="1" dirty="0">
                <a:solidFill>
                  <a:srgbClr val="1B2430"/>
                </a:solidFill>
                <a:latin typeface="IBM Plex Sans KR" pitchFamily="34" charset="0"/>
                <a:ea typeface="IBM Plex Sans KR" pitchFamily="34" charset="-122"/>
                <a:cs typeface="IBM Plex Sans KR" pitchFamily="34" charset="-120"/>
              </a:rPr>
              <a:t>SDD를 처음 배울 때</a:t>
            </a:r>
            <a:endParaRPr lang="en-US" sz="1600" dirty="0"/>
          </a:p>
        </p:txBody>
      </p:sp>
      <p:sp>
        <p:nvSpPr>
          <p:cNvPr id="8" name="Text 6"/>
          <p:cNvSpPr txBox="1"/>
          <p:nvPr/>
        </p:nvSpPr>
        <p:spPr>
          <a:xfrm>
            <a:off x="5934456" y="1920240"/>
            <a:ext cx="5303520" cy="676656"/>
          </a:xfrm>
          <a:prstGeom prst="rect">
            <a:avLst/>
          </a:prstGeom>
          <a:noFill/>
          <a:ln/>
        </p:spPr>
        <p:txBody>
          <a:bodyPr wrap="square" lIns="0" tIns="0" rIns="0" bIns="0" rtlCol="0" anchor="ctr"/>
          <a:lstStyle/>
          <a:p>
            <a:pPr indent="0" marL="0">
              <a:buNone/>
            </a:pPr>
            <a:r>
              <a:rPr lang="en-US" sz="1300" dirty="0">
                <a:solidFill>
                  <a:srgbClr val="4A5568"/>
                </a:solidFill>
                <a:latin typeface="Noto Sans KR" pitchFamily="34" charset="0"/>
                <a:ea typeface="Noto Sans KR" pitchFamily="34" charset="-122"/>
                <a:cs typeface="Noto Sans KR" pitchFamily="34" charset="-120"/>
              </a:rPr>
              <a:t>명령어 없이 IDE 안에서 · 규칙 · 명세 · 자동화(Hook)까지 한 화면에서</a:t>
            </a:r>
            <a:endParaRPr lang="en-US" sz="1300" dirty="0"/>
          </a:p>
        </p:txBody>
      </p:sp>
      <p:sp>
        <p:nvSpPr>
          <p:cNvPr id="9" name="Shape 7"/>
          <p:cNvSpPr/>
          <p:nvPr/>
        </p:nvSpPr>
        <p:spPr>
          <a:xfrm>
            <a:off x="813816" y="2706624"/>
            <a:ext cx="10570464" cy="676656"/>
          </a:xfrm>
          <a:prstGeom prst="roundRect">
            <a:avLst>
              <a:gd name="adj" fmla="val 10811"/>
            </a:avLst>
          </a:prstGeom>
          <a:solidFill>
            <a:srgbClr val="F4F5F7"/>
          </a:solidFill>
          <a:ln/>
        </p:spPr>
      </p:sp>
      <p:sp>
        <p:nvSpPr>
          <p:cNvPr id="10" name="Shape 8"/>
          <p:cNvSpPr/>
          <p:nvPr/>
        </p:nvSpPr>
        <p:spPr>
          <a:xfrm>
            <a:off x="996696" y="2880360"/>
            <a:ext cx="1325880" cy="329184"/>
          </a:xfrm>
          <a:prstGeom prst="roundRect">
            <a:avLst>
              <a:gd name="adj" fmla="val 13889"/>
            </a:avLst>
          </a:prstGeom>
          <a:solidFill>
            <a:srgbClr val="B4531A"/>
          </a:solidFill>
          <a:ln/>
        </p:spPr>
      </p:sp>
      <p:sp>
        <p:nvSpPr>
          <p:cNvPr id="11" name="Text 9"/>
          <p:cNvSpPr txBox="1"/>
          <p:nvPr/>
        </p:nvSpPr>
        <p:spPr>
          <a:xfrm>
            <a:off x="996696" y="2880360"/>
            <a:ext cx="13258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KR" pitchFamily="34" charset="0"/>
                <a:ea typeface="Noto Sans KR" pitchFamily="34" charset="-122"/>
                <a:cs typeface="Noto Sans KR" pitchFamily="34" charset="-120"/>
              </a:rPr>
              <a:t>OpenSpec</a:t>
            </a:r>
            <a:endParaRPr lang="en-US" sz="1300" dirty="0"/>
          </a:p>
        </p:txBody>
      </p:sp>
      <p:sp>
        <p:nvSpPr>
          <p:cNvPr id="12" name="Text 10"/>
          <p:cNvSpPr txBox="1"/>
          <p:nvPr/>
        </p:nvSpPr>
        <p:spPr>
          <a:xfrm>
            <a:off x="2551176" y="2706624"/>
            <a:ext cx="3291840" cy="676656"/>
          </a:xfrm>
          <a:prstGeom prst="rect">
            <a:avLst/>
          </a:prstGeom>
          <a:noFill/>
          <a:ln/>
        </p:spPr>
        <p:txBody>
          <a:bodyPr wrap="square" lIns="0" tIns="0" rIns="0" bIns="0" rtlCol="0" anchor="ctr"/>
          <a:lstStyle/>
          <a:p>
            <a:pPr indent="0" marL="0">
              <a:buNone/>
            </a:pPr>
            <a:r>
              <a:rPr lang="en-US" sz="1600" b="1" dirty="0">
                <a:solidFill>
                  <a:srgbClr val="1B2430"/>
                </a:solidFill>
                <a:latin typeface="IBM Plex Sans KR" pitchFamily="34" charset="0"/>
                <a:ea typeface="IBM Plex Sans KR" pitchFamily="34" charset="-122"/>
                <a:cs typeface="IBM Plex Sans KR" pitchFamily="34" charset="-120"/>
              </a:rPr>
              <a:t>이미 코드가 있고 자주 바꿀 때</a:t>
            </a:r>
            <a:endParaRPr lang="en-US" sz="1600" dirty="0"/>
          </a:p>
        </p:txBody>
      </p:sp>
      <p:sp>
        <p:nvSpPr>
          <p:cNvPr id="13" name="Text 11"/>
          <p:cNvSpPr txBox="1"/>
          <p:nvPr/>
        </p:nvSpPr>
        <p:spPr>
          <a:xfrm>
            <a:off x="5934456" y="2706624"/>
            <a:ext cx="5303520" cy="676656"/>
          </a:xfrm>
          <a:prstGeom prst="rect">
            <a:avLst/>
          </a:prstGeom>
          <a:noFill/>
          <a:ln/>
        </p:spPr>
        <p:txBody>
          <a:bodyPr wrap="square" lIns="0" tIns="0" rIns="0" bIns="0" rtlCol="0" anchor="ctr"/>
          <a:lstStyle/>
          <a:p>
            <a:pPr indent="0" marL="0">
              <a:buNone/>
            </a:pPr>
            <a:r>
              <a:rPr lang="en-US" sz="1300" dirty="0">
                <a:solidFill>
                  <a:srgbClr val="4A5568"/>
                </a:solidFill>
                <a:latin typeface="Noto Sans KR" pitchFamily="34" charset="0"/>
                <a:ea typeface="Noto Sans KR" pitchFamily="34" charset="-122"/>
                <a:cs typeface="Noto Sans KR" pitchFamily="34" charset="-120"/>
              </a:rPr>
              <a:t>작은 변경을 델타로 · 현재 동작을 설명하는 명세가 항상 하나</a:t>
            </a:r>
            <a:endParaRPr lang="en-US" sz="1300" dirty="0"/>
          </a:p>
        </p:txBody>
      </p:sp>
      <p:sp>
        <p:nvSpPr>
          <p:cNvPr id="14" name="Shape 12"/>
          <p:cNvSpPr/>
          <p:nvPr/>
        </p:nvSpPr>
        <p:spPr>
          <a:xfrm>
            <a:off x="813816" y="3493008"/>
            <a:ext cx="10570464" cy="676656"/>
          </a:xfrm>
          <a:prstGeom prst="roundRect">
            <a:avLst>
              <a:gd name="adj" fmla="val 10811"/>
            </a:avLst>
          </a:prstGeom>
          <a:solidFill>
            <a:srgbClr val="F4F5F7"/>
          </a:solidFill>
          <a:ln/>
        </p:spPr>
      </p:sp>
      <p:sp>
        <p:nvSpPr>
          <p:cNvPr id="15" name="Shape 13"/>
          <p:cNvSpPr/>
          <p:nvPr/>
        </p:nvSpPr>
        <p:spPr>
          <a:xfrm>
            <a:off x="996696" y="3666744"/>
            <a:ext cx="1325880" cy="329184"/>
          </a:xfrm>
          <a:prstGeom prst="roundRect">
            <a:avLst>
              <a:gd name="adj" fmla="val 13889"/>
            </a:avLst>
          </a:prstGeom>
          <a:solidFill>
            <a:srgbClr val="2F6FDB"/>
          </a:solidFill>
          <a:ln/>
        </p:spPr>
      </p:sp>
      <p:sp>
        <p:nvSpPr>
          <p:cNvPr id="16" name="Text 14"/>
          <p:cNvSpPr txBox="1"/>
          <p:nvPr/>
        </p:nvSpPr>
        <p:spPr>
          <a:xfrm>
            <a:off x="996696" y="3666744"/>
            <a:ext cx="13258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KR" pitchFamily="34" charset="0"/>
                <a:ea typeface="Noto Sans KR" pitchFamily="34" charset="-122"/>
                <a:cs typeface="Noto Sans KR" pitchFamily="34" charset="-120"/>
              </a:rPr>
              <a:t>Spec Kit</a:t>
            </a:r>
            <a:endParaRPr lang="en-US" sz="1300" dirty="0"/>
          </a:p>
        </p:txBody>
      </p:sp>
      <p:sp>
        <p:nvSpPr>
          <p:cNvPr id="17" name="Text 15"/>
          <p:cNvSpPr txBox="1"/>
          <p:nvPr/>
        </p:nvSpPr>
        <p:spPr>
          <a:xfrm>
            <a:off x="2551176" y="3493008"/>
            <a:ext cx="3291840" cy="676656"/>
          </a:xfrm>
          <a:prstGeom prst="rect">
            <a:avLst/>
          </a:prstGeom>
          <a:noFill/>
          <a:ln/>
        </p:spPr>
        <p:txBody>
          <a:bodyPr wrap="square" lIns="0" tIns="0" rIns="0" bIns="0" rtlCol="0" anchor="ctr"/>
          <a:lstStyle/>
          <a:p>
            <a:pPr indent="0" marL="0">
              <a:buNone/>
            </a:pPr>
            <a:r>
              <a:rPr lang="en-US" sz="1600" b="1" dirty="0">
                <a:solidFill>
                  <a:srgbClr val="1B2430"/>
                </a:solidFill>
                <a:latin typeface="IBM Plex Sans KR" pitchFamily="34" charset="0"/>
                <a:ea typeface="IBM Plex Sans KR" pitchFamily="34" charset="-122"/>
                <a:cs typeface="IBM Plex Sans KR" pitchFamily="34" charset="-120"/>
              </a:rPr>
              <a:t>새 기능을 처음부터 꼼꼼하게</a:t>
            </a:r>
            <a:endParaRPr lang="en-US" sz="1600" dirty="0"/>
          </a:p>
        </p:txBody>
      </p:sp>
      <p:sp>
        <p:nvSpPr>
          <p:cNvPr id="18" name="Text 16"/>
          <p:cNvSpPr txBox="1"/>
          <p:nvPr/>
        </p:nvSpPr>
        <p:spPr>
          <a:xfrm>
            <a:off x="5934456" y="3493008"/>
            <a:ext cx="5303520" cy="676656"/>
          </a:xfrm>
          <a:prstGeom prst="rect">
            <a:avLst/>
          </a:prstGeom>
          <a:noFill/>
          <a:ln/>
        </p:spPr>
        <p:txBody>
          <a:bodyPr wrap="square" lIns="0" tIns="0" rIns="0" bIns="0" rtlCol="0" anchor="ctr"/>
          <a:lstStyle/>
          <a:p>
            <a:pPr indent="0" marL="0">
              <a:buNone/>
            </a:pPr>
            <a:r>
              <a:rPr lang="en-US" sz="1300" dirty="0">
                <a:solidFill>
                  <a:srgbClr val="4A5568"/>
                </a:solidFill>
                <a:latin typeface="Noto Sans KR" pitchFamily="34" charset="0"/>
                <a:ea typeface="Noto Sans KR" pitchFamily="34" charset="-122"/>
                <a:cs typeface="Noto Sans KR" pitchFamily="34" charset="-120"/>
              </a:rPr>
              <a:t>모호한 요구사항을 질문 · 점검 · 계약과 검증 시나리오까지 문서화</a:t>
            </a:r>
            <a:endParaRPr lang="en-US" sz="1300" dirty="0"/>
          </a:p>
        </p:txBody>
      </p:sp>
      <p:sp>
        <p:nvSpPr>
          <p:cNvPr id="19" name="Shape 17"/>
          <p:cNvSpPr/>
          <p:nvPr/>
        </p:nvSpPr>
        <p:spPr>
          <a:xfrm>
            <a:off x="813816" y="4279392"/>
            <a:ext cx="10570464" cy="676656"/>
          </a:xfrm>
          <a:prstGeom prst="roundRect">
            <a:avLst>
              <a:gd name="adj" fmla="val 10811"/>
            </a:avLst>
          </a:prstGeom>
          <a:solidFill>
            <a:srgbClr val="F4F5F7"/>
          </a:solidFill>
          <a:ln/>
        </p:spPr>
      </p:sp>
      <p:sp>
        <p:nvSpPr>
          <p:cNvPr id="20" name="Shape 18"/>
          <p:cNvSpPr/>
          <p:nvPr/>
        </p:nvSpPr>
        <p:spPr>
          <a:xfrm>
            <a:off x="996696" y="4453128"/>
            <a:ext cx="1325880" cy="329184"/>
          </a:xfrm>
          <a:prstGeom prst="roundRect">
            <a:avLst>
              <a:gd name="adj" fmla="val 13889"/>
            </a:avLst>
          </a:prstGeom>
          <a:solidFill>
            <a:srgbClr val="2E7D4F"/>
          </a:solidFill>
          <a:ln/>
        </p:spPr>
      </p:sp>
      <p:sp>
        <p:nvSpPr>
          <p:cNvPr id="21" name="Text 19"/>
          <p:cNvSpPr txBox="1"/>
          <p:nvPr/>
        </p:nvSpPr>
        <p:spPr>
          <a:xfrm>
            <a:off x="996696" y="4453128"/>
            <a:ext cx="13258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KR" pitchFamily="34" charset="0"/>
                <a:ea typeface="Noto Sans KR" pitchFamily="34" charset="-122"/>
                <a:cs typeface="Noto Sans KR" pitchFamily="34" charset="-120"/>
              </a:rPr>
              <a:t>GSD</a:t>
            </a:r>
            <a:endParaRPr lang="en-US" sz="1300" dirty="0"/>
          </a:p>
        </p:txBody>
      </p:sp>
      <p:sp>
        <p:nvSpPr>
          <p:cNvPr id="22" name="Text 20"/>
          <p:cNvSpPr txBox="1"/>
          <p:nvPr/>
        </p:nvSpPr>
        <p:spPr>
          <a:xfrm>
            <a:off x="2551176" y="4279392"/>
            <a:ext cx="3291840" cy="676656"/>
          </a:xfrm>
          <a:prstGeom prst="rect">
            <a:avLst/>
          </a:prstGeom>
          <a:noFill/>
          <a:ln/>
        </p:spPr>
        <p:txBody>
          <a:bodyPr wrap="square" lIns="0" tIns="0" rIns="0" bIns="0" rtlCol="0" anchor="ctr"/>
          <a:lstStyle/>
          <a:p>
            <a:pPr indent="0" marL="0">
              <a:buNone/>
            </a:pPr>
            <a:r>
              <a:rPr lang="en-US" sz="1600" b="1" dirty="0">
                <a:solidFill>
                  <a:srgbClr val="1B2430"/>
                </a:solidFill>
                <a:latin typeface="IBM Plex Sans KR" pitchFamily="34" charset="0"/>
                <a:ea typeface="IBM Plex Sans KR" pitchFamily="34" charset="-122"/>
                <a:cs typeface="IBM Plex Sans KR" pitchFamily="34" charset="-120"/>
              </a:rPr>
              <a:t>여러 단계에 걸친 긴 작업</a:t>
            </a:r>
            <a:endParaRPr lang="en-US" sz="1600" dirty="0"/>
          </a:p>
        </p:txBody>
      </p:sp>
      <p:sp>
        <p:nvSpPr>
          <p:cNvPr id="23" name="Text 21"/>
          <p:cNvSpPr txBox="1"/>
          <p:nvPr/>
        </p:nvSpPr>
        <p:spPr>
          <a:xfrm>
            <a:off x="5934456" y="4279392"/>
            <a:ext cx="5303520" cy="676656"/>
          </a:xfrm>
          <a:prstGeom prst="rect">
            <a:avLst/>
          </a:prstGeom>
          <a:noFill/>
          <a:ln/>
        </p:spPr>
        <p:txBody>
          <a:bodyPr wrap="square" lIns="0" tIns="0" rIns="0" bIns="0" rtlCol="0" anchor="ctr"/>
          <a:lstStyle/>
          <a:p>
            <a:pPr indent="0" marL="0">
              <a:buNone/>
            </a:pPr>
            <a:r>
              <a:rPr lang="en-US" sz="1300" dirty="0">
                <a:solidFill>
                  <a:srgbClr val="4A5568"/>
                </a:solidFill>
                <a:latin typeface="Noto Sans KR" pitchFamily="34" charset="0"/>
                <a:ea typeface="Noto Sans KR" pitchFamily="34" charset="-122"/>
                <a:cs typeface="Noto Sans KR" pitchFamily="34" charset="-120"/>
              </a:rPr>
              <a:t>세션이 끊겨도 이어 가기 · 작업별 커밋 · 사람 인수 테스트</a:t>
            </a:r>
            <a:endParaRPr lang="en-US" sz="1300" dirty="0"/>
          </a:p>
        </p:txBody>
      </p:sp>
      <p:sp>
        <p:nvSpPr>
          <p:cNvPr id="24" name="Shape 22"/>
          <p:cNvSpPr/>
          <p:nvPr/>
        </p:nvSpPr>
        <p:spPr>
          <a:xfrm>
            <a:off x="813816" y="5065776"/>
            <a:ext cx="10570464" cy="676656"/>
          </a:xfrm>
          <a:prstGeom prst="roundRect">
            <a:avLst>
              <a:gd name="adj" fmla="val 10811"/>
            </a:avLst>
          </a:prstGeom>
          <a:solidFill>
            <a:srgbClr val="F4F5F7"/>
          </a:solidFill>
          <a:ln/>
        </p:spPr>
      </p:sp>
      <p:sp>
        <p:nvSpPr>
          <p:cNvPr id="25" name="Shape 23"/>
          <p:cNvSpPr/>
          <p:nvPr/>
        </p:nvSpPr>
        <p:spPr>
          <a:xfrm>
            <a:off x="996696" y="5239512"/>
            <a:ext cx="1325880" cy="329184"/>
          </a:xfrm>
          <a:prstGeom prst="roundRect">
            <a:avLst>
              <a:gd name="adj" fmla="val 13889"/>
            </a:avLst>
          </a:prstGeom>
          <a:solidFill>
            <a:srgbClr val="B8336A"/>
          </a:solidFill>
          <a:ln/>
        </p:spPr>
      </p:sp>
      <p:sp>
        <p:nvSpPr>
          <p:cNvPr id="26" name="Text 24"/>
          <p:cNvSpPr txBox="1"/>
          <p:nvPr/>
        </p:nvSpPr>
        <p:spPr>
          <a:xfrm>
            <a:off x="996696" y="5239512"/>
            <a:ext cx="13258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KR" pitchFamily="34" charset="0"/>
                <a:ea typeface="Noto Sans KR" pitchFamily="34" charset="-122"/>
                <a:cs typeface="Noto Sans KR" pitchFamily="34" charset="-120"/>
              </a:rPr>
              <a:t>BMAD</a:t>
            </a:r>
            <a:endParaRPr lang="en-US" sz="1300" dirty="0"/>
          </a:p>
        </p:txBody>
      </p:sp>
      <p:sp>
        <p:nvSpPr>
          <p:cNvPr id="27" name="Text 25"/>
          <p:cNvSpPr txBox="1"/>
          <p:nvPr/>
        </p:nvSpPr>
        <p:spPr>
          <a:xfrm>
            <a:off x="2551176" y="5065776"/>
            <a:ext cx="3291840" cy="676656"/>
          </a:xfrm>
          <a:prstGeom prst="rect">
            <a:avLst/>
          </a:prstGeom>
          <a:noFill/>
          <a:ln/>
        </p:spPr>
        <p:txBody>
          <a:bodyPr wrap="square" lIns="0" tIns="0" rIns="0" bIns="0" rtlCol="0" anchor="ctr"/>
          <a:lstStyle/>
          <a:p>
            <a:pPr indent="0" marL="0">
              <a:buNone/>
            </a:pPr>
            <a:r>
              <a:rPr lang="en-US" sz="1600" b="1" dirty="0">
                <a:solidFill>
                  <a:srgbClr val="1B2430"/>
                </a:solidFill>
                <a:latin typeface="IBM Plex Sans KR" pitchFamily="34" charset="0"/>
                <a:ea typeface="IBM Plex Sans KR" pitchFamily="34" charset="-122"/>
                <a:cs typeface="IBM Plex Sans KR" pitchFamily="34" charset="-120"/>
              </a:rPr>
              <a:t>일의 크기가 제각각일 때</a:t>
            </a:r>
            <a:endParaRPr lang="en-US" sz="1600" dirty="0"/>
          </a:p>
        </p:txBody>
      </p:sp>
      <p:sp>
        <p:nvSpPr>
          <p:cNvPr id="28" name="Text 26"/>
          <p:cNvSpPr txBox="1"/>
          <p:nvPr/>
        </p:nvSpPr>
        <p:spPr>
          <a:xfrm>
            <a:off x="5934456" y="5065776"/>
            <a:ext cx="5303520" cy="676656"/>
          </a:xfrm>
          <a:prstGeom prst="rect">
            <a:avLst/>
          </a:prstGeom>
          <a:noFill/>
          <a:ln/>
        </p:spPr>
        <p:txBody>
          <a:bodyPr wrap="square" lIns="0" tIns="0" rIns="0" bIns="0" rtlCol="0" anchor="ctr"/>
          <a:lstStyle/>
          <a:p>
            <a:pPr indent="0" marL="0">
              <a:buNone/>
            </a:pPr>
            <a:r>
              <a:rPr lang="en-US" sz="1300" dirty="0">
                <a:solidFill>
                  <a:srgbClr val="4A5568"/>
                </a:solidFill>
                <a:latin typeface="Noto Sans KR" pitchFamily="34" charset="0"/>
                <a:ea typeface="Noto Sans KR" pitchFamily="34" charset="-122"/>
                <a:cs typeface="Noto Sans KR" pitchFamily="34" charset="-120"/>
              </a:rPr>
              <a:t>필요한 만큼만 계획 · 역할별 관점(PM · 아키텍트 · UX) · 리뷰 기본 내장</a:t>
            </a:r>
            <a:endParaRPr lang="en-US" sz="1300" dirty="0"/>
          </a:p>
        </p:txBody>
      </p:sp>
      <p:sp>
        <p:nvSpPr>
          <p:cNvPr id="29" name="Text 27"/>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14 / 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t"/>
          <a:lstStyle/>
          <a:p>
            <a:pPr indent="0" marL="0">
              <a:buNone/>
            </a:pPr>
            <a:r>
              <a:rPr lang="en-US" sz="1200" b="1" spc="100" kern="0" dirty="0">
                <a:solidFill>
                  <a:srgbClr val="6B7280"/>
                </a:solidFill>
                <a:latin typeface="Noto Sans KR" pitchFamily="34" charset="0"/>
                <a:ea typeface="Noto Sans KR" pitchFamily="34" charset="-122"/>
                <a:cs typeface="Noto Sans KR" pitchFamily="34" charset="-120"/>
              </a:rPr>
              <a:t>수업 진행</a:t>
            </a:r>
            <a:endParaRPr lang="en-US" sz="1200" dirty="0"/>
          </a:p>
        </p:txBody>
      </p:sp>
      <p:sp>
        <p:nvSpPr>
          <p:cNvPr id="3" name="Text 1"/>
          <p:cNvSpPr txBox="1"/>
          <p:nvPr/>
        </p:nvSpPr>
        <p:spPr>
          <a:xfrm>
            <a:off x="813816" y="1243584"/>
            <a:ext cx="10881360" cy="530352"/>
          </a:xfrm>
          <a:prstGeom prst="rect">
            <a:avLst/>
          </a:prstGeom>
          <a:noFill/>
          <a:ln/>
        </p:spPr>
        <p:txBody>
          <a:bodyPr wrap="square" lIns="0" tIns="0" rIns="0" bIns="0" rtlCol="0" anchor="t"/>
          <a:lstStyle/>
          <a:p>
            <a:pPr indent="0" marL="0">
              <a:buNone/>
            </a:pPr>
            <a:r>
              <a:rPr lang="en-US" sz="3200" b="1" dirty="0">
                <a:solidFill>
                  <a:srgbClr val="1B2430"/>
                </a:solidFill>
                <a:latin typeface="IBM Plex Sans KR" pitchFamily="34" charset="0"/>
                <a:ea typeface="IBM Plex Sans KR" pitchFamily="34" charset="-122"/>
                <a:cs typeface="IBM Plex Sans KR" pitchFamily="34" charset="-120"/>
              </a:rPr>
              <a:t>실습 순서와 자주 막히는 곳</a:t>
            </a:r>
            <a:endParaRPr lang="en-US" sz="3200" dirty="0"/>
          </a:p>
        </p:txBody>
      </p:sp>
      <p:sp>
        <p:nvSpPr>
          <p:cNvPr id="4" name="Text 2"/>
          <p:cNvSpPr txBox="1"/>
          <p:nvPr/>
        </p:nvSpPr>
        <p:spPr>
          <a:xfrm>
            <a:off x="813816" y="1965960"/>
            <a:ext cx="4023360" cy="301752"/>
          </a:xfrm>
          <a:prstGeom prst="rect">
            <a:avLst/>
          </a:prstGeom>
          <a:noFill/>
          <a:ln/>
        </p:spPr>
        <p:txBody>
          <a:bodyPr wrap="square" lIns="0" tIns="0" rIns="0" bIns="0" rtlCol="0" anchor="t"/>
          <a:lstStyle/>
          <a:p>
            <a:pPr indent="0" marL="0">
              <a:buNone/>
            </a:pPr>
            <a:r>
              <a:rPr lang="en-US" sz="1600" b="1" dirty="0">
                <a:solidFill>
                  <a:srgbClr val="1B2430"/>
                </a:solidFill>
                <a:latin typeface="IBM Plex Sans KR" pitchFamily="34" charset="0"/>
                <a:ea typeface="IBM Plex Sans KR" pitchFamily="34" charset="-122"/>
                <a:cs typeface="IBM Plex Sans KR" pitchFamily="34" charset="-120"/>
              </a:rPr>
              <a:t>모듈마다 같은 순서</a:t>
            </a:r>
            <a:endParaRPr lang="en-US" sz="1600" dirty="0"/>
          </a:p>
        </p:txBody>
      </p:sp>
      <p:sp>
        <p:nvSpPr>
          <p:cNvPr id="5" name="Shape 3"/>
          <p:cNvSpPr/>
          <p:nvPr/>
        </p:nvSpPr>
        <p:spPr>
          <a:xfrm>
            <a:off x="813816" y="2395728"/>
            <a:ext cx="310896" cy="310896"/>
          </a:xfrm>
          <a:prstGeom prst="ellipse">
            <a:avLst/>
          </a:prstGeom>
          <a:solidFill>
            <a:srgbClr val="1B2430"/>
          </a:solidFill>
          <a:ln/>
        </p:spPr>
      </p:sp>
      <p:sp>
        <p:nvSpPr>
          <p:cNvPr id="6" name="Text 4"/>
          <p:cNvSpPr txBox="1"/>
          <p:nvPr/>
        </p:nvSpPr>
        <p:spPr>
          <a:xfrm>
            <a:off x="813816" y="23957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7" name="Text 5"/>
          <p:cNvSpPr txBox="1"/>
          <p:nvPr/>
        </p:nvSpPr>
        <p:spPr>
          <a:xfrm>
            <a:off x="1271016" y="2395728"/>
            <a:ext cx="3566160" cy="310896"/>
          </a:xfrm>
          <a:prstGeom prst="rect">
            <a:avLst/>
          </a:prstGeom>
          <a:noFill/>
          <a:ln/>
        </p:spPr>
        <p:txBody>
          <a:bodyPr wrap="square" lIns="0" tIns="0" rIns="0" bIns="0" rtlCol="0" anchor="ctr"/>
          <a:lstStyle/>
          <a:p>
            <a:pPr indent="0" marL="0">
              <a:buNone/>
            </a:pPr>
            <a:r>
              <a:rPr lang="en-US" sz="1400" dirty="0">
                <a:solidFill>
                  <a:srgbClr val="1B2430"/>
                </a:solidFill>
                <a:latin typeface="Noto Sans KR" pitchFamily="34" charset="0"/>
                <a:ea typeface="Noto Sans KR" pitchFamily="34" charset="-122"/>
                <a:cs typeface="Noto Sans KR" pitchFamily="34" charset="-120"/>
              </a:rPr>
              <a:t>README — 목적 · 준비물</a:t>
            </a:r>
            <a:endParaRPr lang="en-US" sz="1400" dirty="0"/>
          </a:p>
        </p:txBody>
      </p:sp>
      <p:sp>
        <p:nvSpPr>
          <p:cNvPr id="8" name="Shape 6"/>
          <p:cNvSpPr/>
          <p:nvPr/>
        </p:nvSpPr>
        <p:spPr>
          <a:xfrm>
            <a:off x="813816" y="2852928"/>
            <a:ext cx="310896" cy="310896"/>
          </a:xfrm>
          <a:prstGeom prst="ellipse">
            <a:avLst/>
          </a:prstGeom>
          <a:solidFill>
            <a:srgbClr val="1B2430"/>
          </a:solidFill>
          <a:ln/>
        </p:spPr>
      </p:sp>
      <p:sp>
        <p:nvSpPr>
          <p:cNvPr id="9" name="Text 7"/>
          <p:cNvSpPr txBox="1"/>
          <p:nvPr/>
        </p:nvSpPr>
        <p:spPr>
          <a:xfrm>
            <a:off x="813816" y="28529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0" name="Text 8"/>
          <p:cNvSpPr txBox="1"/>
          <p:nvPr/>
        </p:nvSpPr>
        <p:spPr>
          <a:xfrm>
            <a:off x="1271016" y="2852928"/>
            <a:ext cx="3566160" cy="310896"/>
          </a:xfrm>
          <a:prstGeom prst="rect">
            <a:avLst/>
          </a:prstGeom>
          <a:noFill/>
          <a:ln/>
        </p:spPr>
        <p:txBody>
          <a:bodyPr wrap="square" lIns="0" tIns="0" rIns="0" bIns="0" rtlCol="0" anchor="ctr"/>
          <a:lstStyle/>
          <a:p>
            <a:pPr indent="0" marL="0">
              <a:buNone/>
            </a:pPr>
            <a:r>
              <a:rPr lang="en-US" sz="1400" dirty="0">
                <a:solidFill>
                  <a:srgbClr val="1B2430"/>
                </a:solidFill>
                <a:latin typeface="Noto Sans KR" pitchFamily="34" charset="0"/>
                <a:ea typeface="Noto Sans KR" pitchFamily="34" charset="-122"/>
                <a:cs typeface="Noto Sans KR" pitchFamily="34" charset="-120"/>
              </a:rPr>
              <a:t>GUIDE — 단계별로 앱 만들기</a:t>
            </a:r>
            <a:endParaRPr lang="en-US" sz="1400" dirty="0"/>
          </a:p>
        </p:txBody>
      </p:sp>
      <p:sp>
        <p:nvSpPr>
          <p:cNvPr id="11" name="Shape 9"/>
          <p:cNvSpPr/>
          <p:nvPr/>
        </p:nvSpPr>
        <p:spPr>
          <a:xfrm>
            <a:off x="813816" y="3310128"/>
            <a:ext cx="310896" cy="310896"/>
          </a:xfrm>
          <a:prstGeom prst="ellipse">
            <a:avLst/>
          </a:prstGeom>
          <a:solidFill>
            <a:srgbClr val="1B2430"/>
          </a:solidFill>
          <a:ln/>
        </p:spPr>
      </p:sp>
      <p:sp>
        <p:nvSpPr>
          <p:cNvPr id="12" name="Text 10"/>
          <p:cNvSpPr txBox="1"/>
          <p:nvPr/>
        </p:nvSpPr>
        <p:spPr>
          <a:xfrm>
            <a:off x="813816" y="33101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3" name="Text 11"/>
          <p:cNvSpPr txBox="1"/>
          <p:nvPr/>
        </p:nvSpPr>
        <p:spPr>
          <a:xfrm>
            <a:off x="1271016" y="3310128"/>
            <a:ext cx="3566160" cy="310896"/>
          </a:xfrm>
          <a:prstGeom prst="rect">
            <a:avLst/>
          </a:prstGeom>
          <a:noFill/>
          <a:ln/>
        </p:spPr>
        <p:txBody>
          <a:bodyPr wrap="square" lIns="0" tIns="0" rIns="0" bIns="0" rtlCol="0" anchor="ctr"/>
          <a:lstStyle/>
          <a:p>
            <a:pPr indent="0" marL="0">
              <a:buNone/>
            </a:pPr>
            <a:r>
              <a:rPr lang="en-US" sz="1400" dirty="0">
                <a:solidFill>
                  <a:srgbClr val="1B2430"/>
                </a:solidFill>
                <a:latin typeface="Noto Sans KR" pitchFamily="34" charset="0"/>
                <a:ea typeface="Noto Sans KR" pitchFamily="34" charset="-122"/>
                <a:cs typeface="Noto Sans KR" pitchFamily="34" charset="-120"/>
              </a:rPr>
              <a:t>SAMPLE — 실행 · 사용 · 확인</a:t>
            </a:r>
            <a:endParaRPr lang="en-US" sz="1400" dirty="0"/>
          </a:p>
        </p:txBody>
      </p:sp>
      <p:sp>
        <p:nvSpPr>
          <p:cNvPr id="14" name="Shape 12"/>
          <p:cNvSpPr/>
          <p:nvPr/>
        </p:nvSpPr>
        <p:spPr>
          <a:xfrm>
            <a:off x="813816" y="3767328"/>
            <a:ext cx="310896" cy="310896"/>
          </a:xfrm>
          <a:prstGeom prst="ellipse">
            <a:avLst/>
          </a:prstGeom>
          <a:solidFill>
            <a:srgbClr val="1B2430"/>
          </a:solidFill>
          <a:ln/>
        </p:spPr>
      </p:sp>
      <p:sp>
        <p:nvSpPr>
          <p:cNvPr id="15" name="Text 13"/>
          <p:cNvSpPr txBox="1"/>
          <p:nvPr/>
        </p:nvSpPr>
        <p:spPr>
          <a:xfrm>
            <a:off x="813816" y="37673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16" name="Text 14"/>
          <p:cNvSpPr txBox="1"/>
          <p:nvPr/>
        </p:nvSpPr>
        <p:spPr>
          <a:xfrm>
            <a:off x="1271016" y="3767328"/>
            <a:ext cx="3566160" cy="310896"/>
          </a:xfrm>
          <a:prstGeom prst="rect">
            <a:avLst/>
          </a:prstGeom>
          <a:noFill/>
          <a:ln/>
        </p:spPr>
        <p:txBody>
          <a:bodyPr wrap="square" lIns="0" tIns="0" rIns="0" bIns="0" rtlCol="0" anchor="ctr"/>
          <a:lstStyle/>
          <a:p>
            <a:pPr indent="0" marL="0">
              <a:buNone/>
            </a:pPr>
            <a:r>
              <a:rPr lang="en-US" sz="1400" dirty="0">
                <a:solidFill>
                  <a:srgbClr val="1B2430"/>
                </a:solidFill>
                <a:latin typeface="Noto Sans KR" pitchFamily="34" charset="0"/>
                <a:ea typeface="Noto Sans KR" pitchFamily="34" charset="-122"/>
                <a:cs typeface="Noto Sans KR" pitchFamily="34" charset="-120"/>
              </a:rPr>
              <a:t>도전 — 마감일 기능 추가</a:t>
            </a:r>
            <a:endParaRPr lang="en-US" sz="1400" dirty="0"/>
          </a:p>
        </p:txBody>
      </p:sp>
      <p:sp>
        <p:nvSpPr>
          <p:cNvPr id="17" name="Shape 15"/>
          <p:cNvSpPr/>
          <p:nvPr/>
        </p:nvSpPr>
        <p:spPr>
          <a:xfrm>
            <a:off x="813816" y="4343400"/>
            <a:ext cx="4023360" cy="749808"/>
          </a:xfrm>
          <a:prstGeom prst="roundRect">
            <a:avLst>
              <a:gd name="adj" fmla="val 9756"/>
            </a:avLst>
          </a:prstGeom>
          <a:solidFill>
            <a:srgbClr val="F4F5F7"/>
          </a:solidFill>
          <a:ln/>
        </p:spPr>
      </p:sp>
      <p:sp>
        <p:nvSpPr>
          <p:cNvPr id="18" name="Text 16"/>
          <p:cNvSpPr txBox="1"/>
          <p:nvPr/>
        </p:nvSpPr>
        <p:spPr>
          <a:xfrm>
            <a:off x="1042416" y="4343400"/>
            <a:ext cx="3657600" cy="749808"/>
          </a:xfrm>
          <a:prstGeom prst="rect">
            <a:avLst/>
          </a:prstGeom>
          <a:noFill/>
          <a:ln/>
        </p:spPr>
        <p:txBody>
          <a:bodyPr wrap="square" lIns="0" tIns="0" rIns="0" bIns="0" rtlCol="0" anchor="ctr"/>
          <a:lstStyle/>
          <a:p>
            <a:pPr indent="0" marL="0">
              <a:buNone/>
            </a:pPr>
            <a:r>
              <a:rPr lang="en-US" sz="1300" b="1" dirty="0">
                <a:solidFill>
                  <a:srgbClr val="1B2430"/>
                </a:solidFill>
                <a:latin typeface="Noto Sans KR" pitchFamily="34" charset="0"/>
                <a:ea typeface="Noto Sans KR" pitchFamily="34" charset="-122"/>
                <a:cs typeface="Noto Sans KR" pitchFamily="34" charset="-120"/>
              </a:rPr>
              <a:t>완료 기준  </a:t>
            </a:r>
            <a:pPr indent="0" marL="0">
              <a:buNone/>
            </a:pPr>
            <a:r>
              <a:rPr lang="en-US" sz="1300" dirty="0">
                <a:solidFill>
                  <a:srgbClr val="4A5568"/>
                </a:solidFill>
                <a:latin typeface="Noto Sans KR" pitchFamily="34" charset="0"/>
                <a:ea typeface="Noto Sans KR" pitchFamily="34" charset="-122"/>
                <a:cs typeface="Noto Sans KR" pitchFamily="34" charset="-120"/>
              </a:rPr>
              <a:t>테스트 fail 0 +</a:t>
            </a:r>
            <a:endParaRPr lang="en-US" sz="1300" dirty="0"/>
          </a:p>
          <a:p>
            <a:pPr indent="0" marL="0">
              <a:buNone/>
            </a:pPr>
            <a:r>
              <a:rPr lang="en-US" sz="1300" dirty="0">
                <a:solidFill>
                  <a:srgbClr val="4A5568"/>
                </a:solidFill>
                <a:latin typeface="Noto Sans KR" pitchFamily="34" charset="0"/>
                <a:ea typeface="Noto Sans KR" pitchFamily="34" charset="-122"/>
                <a:cs typeface="Noto Sans KR" pitchFamily="34" charset="-120"/>
              </a:rPr>
              <a:t>SAMPLE 시나리오 전부 통과</a:t>
            </a:r>
            <a:endParaRPr lang="en-US" sz="1300" dirty="0"/>
          </a:p>
        </p:txBody>
      </p:sp>
      <p:sp>
        <p:nvSpPr>
          <p:cNvPr id="19" name="Text 17"/>
          <p:cNvSpPr txBox="1"/>
          <p:nvPr/>
        </p:nvSpPr>
        <p:spPr>
          <a:xfrm>
            <a:off x="5120640" y="1965960"/>
            <a:ext cx="6263640" cy="301752"/>
          </a:xfrm>
          <a:prstGeom prst="rect">
            <a:avLst/>
          </a:prstGeom>
          <a:noFill/>
          <a:ln/>
        </p:spPr>
        <p:txBody>
          <a:bodyPr wrap="square" lIns="0" tIns="0" rIns="0" bIns="0" rtlCol="0" anchor="t"/>
          <a:lstStyle/>
          <a:p>
            <a:pPr indent="0" marL="0">
              <a:buNone/>
            </a:pPr>
            <a:r>
              <a:rPr lang="en-US" sz="1600" b="1" dirty="0">
                <a:solidFill>
                  <a:srgbClr val="1B2430"/>
                </a:solidFill>
                <a:latin typeface="IBM Plex Sans KR" pitchFamily="34" charset="0"/>
                <a:ea typeface="IBM Plex Sans KR" pitchFamily="34" charset="-122"/>
                <a:cs typeface="IBM Plex Sans KR" pitchFamily="34" charset="-120"/>
              </a:rPr>
              <a:t>이럴 땐 이렇게</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120640" y="2377440"/>
          <a:ext cx="6263640" cy="914400"/>
        </p:xfrm>
        <a:graphic>
          <a:graphicData uri="http://schemas.openxmlformats.org/drawingml/2006/table">
            <a:tbl>
              <a:tblPr/>
              <a:tblGrid>
                <a:gridCol w="2743200"/>
                <a:gridCol w="3520440"/>
              </a:tblGrid>
              <a:tr h="329184">
                <a:tc>
                  <a:txBody>
                    <a:bodyPr/>
                    <a:lstStyle/>
                    <a:p>
                      <a:pPr indent="0" marL="0">
                        <a:buNone/>
                      </a:pPr>
                      <a:r>
                        <a:rPr lang="en-US" sz="1050" b="1" dirty="0">
                          <a:solidFill>
                            <a:srgbClr val="FFFFFF"/>
                          </a:solidFill>
                          <a:latin typeface="Noto Sans KR" pitchFamily="34" charset="0"/>
                          <a:ea typeface="Noto Sans KR" pitchFamily="34" charset="-122"/>
                          <a:cs typeface="Noto Sans KR" pitchFamily="34" charset="-120"/>
                        </a:rPr>
                        <a:t>증상</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c>
                  <a:txBody>
                    <a:bodyPr/>
                    <a:lstStyle/>
                    <a:p>
                      <a:pPr indent="0" marL="0">
                        <a:buNone/>
                      </a:pPr>
                      <a:r>
                        <a:rPr lang="en-US" sz="1050" b="1" dirty="0">
                          <a:solidFill>
                            <a:srgbClr val="FFFFFF"/>
                          </a:solidFill>
                          <a:latin typeface="Noto Sans KR" pitchFamily="34" charset="0"/>
                          <a:ea typeface="Noto Sans KR" pitchFamily="34" charset="-122"/>
                          <a:cs typeface="Noto Sans KR" pitchFamily="34" charset="-120"/>
                        </a:rPr>
                        <a:t>해결</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solidFill>
                      <a:srgbClr val="1B2430"/>
                    </a:solidFill>
                  </a:tcPr>
                </a:tc>
              </a:tr>
              <a:tr h="329184">
                <a:tc>
                  <a:txBody>
                    <a:bodyPr/>
                    <a:lstStyle/>
                    <a:p>
                      <a:pPr indent="0" marL="0">
                        <a:buNone/>
                      </a:pPr>
                      <a:pPr indent="0" marL="0">
                        <a:buNone/>
                      </a:pPr>
                      <a:r>
                        <a:rPr lang="en-US" sz="1050" dirty="0">
                          <a:solidFill>
                            <a:srgbClr val="4A5568"/>
                          </a:solidFill>
                          <a:latin typeface="Noto Sans KR" pitchFamily="34" charset="0"/>
                          <a:ea typeface="Noto Sans KR" pitchFamily="34" charset="-122"/>
                          <a:cs typeface="Noto Sans KR" pitchFamily="34" charset="-120"/>
                        </a:rPr>
                        <a:t>.claude · .kiro 폴더가 안 보임</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c>
                  <a:txBody>
                    <a:bodyPr/>
                    <a:lstStyle/>
                    <a:p>
                      <a:pPr indent="0" marL="0">
                        <a:buNone/>
                      </a:pPr>
                      <a:r>
                        <a:rPr lang="en-US" sz="1050" dirty="0">
                          <a:solidFill>
                            <a:srgbClr val="4A5568"/>
                          </a:solidFill>
                          <a:latin typeface="Noto Sans KR" pitchFamily="34" charset="0"/>
                          <a:ea typeface="Noto Sans KR" pitchFamily="34" charset="-122"/>
                          <a:cs typeface="Noto Sans KR" pitchFamily="34" charset="-120"/>
                        </a:rPr>
                        <a:t>숨김 폴더 — ls -a, Finder ⌘⇧.</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r>
              <a:tr h="329184">
                <a:tc>
                  <a:txBody>
                    <a:bodyPr/>
                    <a:lstStyle/>
                    <a:p>
                      <a:pPr indent="0" marL="0">
                        <a:buNone/>
                      </a:pPr>
                      <a:r>
                        <a:rPr lang="en-US" sz="1050" b="1" dirty="0">
                          <a:solidFill>
                            <a:srgbClr val="7A4CC2"/>
                          </a:solidFill>
                          <a:latin typeface="Noto Sans KR" pitchFamily="34" charset="0"/>
                          <a:ea typeface="Noto Sans KR" pitchFamily="34" charset="-122"/>
                          <a:cs typeface="Noto Sans KR" pitchFamily="34" charset="-120"/>
                        </a:rPr>
                        <a:t>Kiro · </a:t>
                      </a:r>
                      <a:pPr indent="0" marL="0">
                        <a:buNone/>
                      </a:pPr>
                      <a:r>
                        <a:rPr lang="en-US" sz="1050" dirty="0">
                          <a:solidFill>
                            <a:srgbClr val="4A5568"/>
                          </a:solidFill>
                          <a:latin typeface="Noto Sans KR" pitchFamily="34" charset="0"/>
                          <a:ea typeface="Noto Sans KR" pitchFamily="34" charset="-122"/>
                          <a:cs typeface="Noto Sans KR" pitchFamily="34" charset="-120"/>
                        </a:rPr>
                        <a:t>문서가 안 만들어짐</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c>
                  <a:txBody>
                    <a:bodyPr/>
                    <a:lstStyle/>
                    <a:p>
                      <a:pPr indent="0" marL="0">
                        <a:buNone/>
                      </a:pPr>
                      <a:r>
                        <a:rPr lang="en-US" sz="1050" dirty="0">
                          <a:solidFill>
                            <a:srgbClr val="4A5568"/>
                          </a:solidFill>
                          <a:latin typeface="Noto Sans KR" pitchFamily="34" charset="0"/>
                          <a:ea typeface="Noto Sans KR" pitchFamily="34" charset="-122"/>
                          <a:cs typeface="Noto Sans KR" pitchFamily="34" charset="-120"/>
                        </a:rPr>
                        <a:t>채팅 창의 파일 접근 권한 요청을 허용</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r>
              <a:tr h="329184">
                <a:tc>
                  <a:txBody>
                    <a:bodyPr/>
                    <a:lstStyle/>
                    <a:p>
                      <a:pPr indent="0" marL="0">
                        <a:buNone/>
                      </a:pPr>
                      <a:r>
                        <a:rPr lang="en-US" sz="1050" b="1" dirty="0">
                          <a:solidFill>
                            <a:srgbClr val="B4531A"/>
                          </a:solidFill>
                          <a:latin typeface="Noto Sans KR" pitchFamily="34" charset="0"/>
                          <a:ea typeface="Noto Sans KR" pitchFamily="34" charset="-122"/>
                          <a:cs typeface="Noto Sans KR" pitchFamily="34" charset="-120"/>
                        </a:rPr>
                        <a:t>OpenSpec · </a:t>
                      </a:r>
                      <a:pPr indent="0" marL="0">
                        <a:buNone/>
                      </a:pPr>
                      <a:r>
                        <a:rPr lang="en-US" sz="1050" dirty="0">
                          <a:solidFill>
                            <a:srgbClr val="4A5568"/>
                          </a:solidFill>
                          <a:latin typeface="Noto Sans KR" pitchFamily="34" charset="0"/>
                          <a:ea typeface="Noto Sans KR" pitchFamily="34" charset="-122"/>
                          <a:cs typeface="Noto Sans KR" pitchFamily="34" charset="-120"/>
                        </a:rPr>
                        <a:t>validate 실패</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c>
                  <a:txBody>
                    <a:bodyPr/>
                    <a:lstStyle/>
                    <a:p>
                      <a:pPr indent="0" marL="0">
                        <a:buNone/>
                      </a:pPr>
                      <a:r>
                        <a:rPr lang="en-US" sz="1050" dirty="0">
                          <a:solidFill>
                            <a:srgbClr val="4A5568"/>
                          </a:solidFill>
                          <a:latin typeface="Noto Sans KR" pitchFamily="34" charset="0"/>
                          <a:ea typeface="Noto Sans KR" pitchFamily="34" charset="-122"/>
                          <a:cs typeface="Noto Sans KR" pitchFamily="34" charset="-120"/>
                        </a:rPr>
                        <a:t>구조 제목 · SHALL/MUST 는 영어, #### Scenario</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r>
              <a:tr h="329184">
                <a:tc>
                  <a:txBody>
                    <a:bodyPr/>
                    <a:lstStyle/>
                    <a:p>
                      <a:pPr indent="0" marL="0">
                        <a:buNone/>
                      </a:pPr>
                      <a:r>
                        <a:rPr lang="en-US" sz="1050" b="1" dirty="0">
                          <a:solidFill>
                            <a:srgbClr val="2F6FDB"/>
                          </a:solidFill>
                          <a:latin typeface="Noto Sans KR" pitchFamily="34" charset="0"/>
                          <a:ea typeface="Noto Sans KR" pitchFamily="34" charset="-122"/>
                          <a:cs typeface="Noto Sans KR" pitchFamily="34" charset="-120"/>
                        </a:rPr>
                        <a:t>Spec Kit · </a:t>
                      </a:r>
                      <a:pPr indent="0" marL="0">
                        <a:buNone/>
                      </a:pPr>
                      <a:r>
                        <a:rPr lang="en-US" sz="1050" dirty="0">
                          <a:solidFill>
                            <a:srgbClr val="4A5568"/>
                          </a:solidFill>
                          <a:latin typeface="Noto Sans KR" pitchFamily="34" charset="0"/>
                          <a:ea typeface="Noto Sans KR" pitchFamily="34" charset="-122"/>
                          <a:cs typeface="Noto Sans KR" pitchFamily="34" charset="-120"/>
                        </a:rPr>
                        <a:t>/speckit.plan 이 안 됨</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c>
                  <a:txBody>
                    <a:bodyPr/>
                    <a:lstStyle/>
                    <a:p>
                      <a:pPr indent="0" marL="0">
                        <a:buNone/>
                      </a:pPr>
                      <a:r>
                        <a:rPr lang="en-US" sz="1050" dirty="0">
                          <a:solidFill>
                            <a:srgbClr val="4A5568"/>
                          </a:solidFill>
                          <a:latin typeface="Noto Sans KR" pitchFamily="34" charset="0"/>
                          <a:ea typeface="Noto Sans KR" pitchFamily="34" charset="-122"/>
                          <a:cs typeface="Noto Sans KR" pitchFamily="34" charset="-120"/>
                        </a:rPr>
                        <a:t>Claude Code는 하이픈 /speckit-plan</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r>
              <a:tr h="329184">
                <a:tc>
                  <a:txBody>
                    <a:bodyPr/>
                    <a:lstStyle/>
                    <a:p>
                      <a:pPr indent="0" marL="0">
                        <a:buNone/>
                      </a:pPr>
                      <a:r>
                        <a:rPr lang="en-US" sz="1050" b="1" dirty="0">
                          <a:solidFill>
                            <a:srgbClr val="2E7D4F"/>
                          </a:solidFill>
                          <a:latin typeface="Noto Sans KR" pitchFamily="34" charset="0"/>
                          <a:ea typeface="Noto Sans KR" pitchFamily="34" charset="-122"/>
                          <a:cs typeface="Noto Sans KR" pitchFamily="34" charset="-120"/>
                        </a:rPr>
                        <a:t>GSD · </a:t>
                      </a:r>
                      <a:pPr indent="0" marL="0">
                        <a:buNone/>
                      </a:pPr>
                      <a:r>
                        <a:rPr lang="en-US" sz="1050" dirty="0">
                          <a:solidFill>
                            <a:srgbClr val="4A5568"/>
                          </a:solidFill>
                          <a:latin typeface="Noto Sans KR" pitchFamily="34" charset="0"/>
                          <a:ea typeface="Noto Sans KR" pitchFamily="34" charset="-122"/>
                          <a:cs typeface="Noto Sans KR" pitchFamily="34" charset="-120"/>
                        </a:rPr>
                        <a:t>/gsd:new-project 가 안 됨</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c>
                  <a:txBody>
                    <a:bodyPr/>
                    <a:lstStyle/>
                    <a:p>
                      <a:pPr indent="0" marL="0">
                        <a:buNone/>
                      </a:pPr>
                      <a:r>
                        <a:rPr lang="en-US" sz="1050" dirty="0">
                          <a:solidFill>
                            <a:srgbClr val="4A5568"/>
                          </a:solidFill>
                          <a:latin typeface="Noto Sans KR" pitchFamily="34" charset="0"/>
                          <a:ea typeface="Noto Sans KR" pitchFamily="34" charset="-122"/>
                          <a:cs typeface="Noto Sans KR" pitchFamily="34" charset="-120"/>
                        </a:rPr>
                        <a:t>하이픈 /gsd-new-project, 프로젝트 폴더 안에서 claude</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r>
              <a:tr h="329184">
                <a:tc>
                  <a:txBody>
                    <a:bodyPr/>
                    <a:lstStyle/>
                    <a:p>
                      <a:pPr indent="0" marL="0">
                        <a:buNone/>
                      </a:pPr>
                      <a:r>
                        <a:rPr lang="en-US" sz="1050" b="1" dirty="0">
                          <a:solidFill>
                            <a:srgbClr val="B8336A"/>
                          </a:solidFill>
                          <a:latin typeface="Noto Sans KR" pitchFamily="34" charset="0"/>
                          <a:ea typeface="Noto Sans KR" pitchFamily="34" charset="-122"/>
                          <a:cs typeface="Noto Sans KR" pitchFamily="34" charset="-120"/>
                        </a:rPr>
                        <a:t>BMAD · </a:t>
                      </a:r>
                      <a:pPr indent="0" marL="0">
                        <a:buNone/>
                      </a:pPr>
                      <a:r>
                        <a:rPr lang="en-US" sz="1050" dirty="0">
                          <a:solidFill>
                            <a:srgbClr val="4A5568"/>
                          </a:solidFill>
                          <a:latin typeface="Noto Sans KR" pitchFamily="34" charset="0"/>
                          <a:ea typeface="Noto Sans KR" pitchFamily="34" charset="-122"/>
                          <a:cs typeface="Noto Sans KR" pitchFamily="34" charset="-120"/>
                        </a:rPr>
                        <a:t>uv: command not found</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c>
                  <a:txBody>
                    <a:bodyPr/>
                    <a:lstStyle/>
                    <a:p>
                      <a:pPr indent="0" marL="0">
                        <a:buNone/>
                      </a:pPr>
                      <a:r>
                        <a:rPr lang="en-US" sz="1050" dirty="0">
                          <a:solidFill>
                            <a:srgbClr val="4A5568"/>
                          </a:solidFill>
                          <a:latin typeface="Noto Sans KR" pitchFamily="34" charset="0"/>
                          <a:ea typeface="Noto Sans KR" pitchFamily="34" charset="-122"/>
                          <a:cs typeface="Noto Sans KR" pitchFamily="34" charset="-120"/>
                        </a:rPr>
                        <a:t>brew install uv 후 설치 명령 다시 실행</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r>
              <a:tr h="329184">
                <a:tc>
                  <a:txBody>
                    <a:bodyPr/>
                    <a:lstStyle/>
                    <a:p>
                      <a:pPr indent="0" marL="0">
                        <a:buNone/>
                      </a:pPr>
                      <a:pPr indent="0" marL="0">
                        <a:buNone/>
                      </a:pPr>
                      <a:r>
                        <a:rPr lang="en-US" sz="1050" dirty="0">
                          <a:solidFill>
                            <a:srgbClr val="4A5568"/>
                          </a:solidFill>
                          <a:latin typeface="Noto Sans KR" pitchFamily="34" charset="0"/>
                          <a:ea typeface="Noto Sans KR" pitchFamily="34" charset="-122"/>
                          <a:cs typeface="Noto Sans KR" pitchFamily="34" charset="-120"/>
                        </a:rPr>
                        <a:t>대화가 길어지고 답이 이상함</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c>
                  <a:txBody>
                    <a:bodyPr/>
                    <a:lstStyle/>
                    <a:p>
                      <a:pPr indent="0" marL="0">
                        <a:buNone/>
                      </a:pPr>
                      <a:r>
                        <a:rPr lang="en-US" sz="1050" dirty="0">
                          <a:solidFill>
                            <a:srgbClr val="4A5568"/>
                          </a:solidFill>
                          <a:latin typeface="Noto Sans KR" pitchFamily="34" charset="0"/>
                          <a:ea typeface="Noto Sans KR" pitchFamily="34" charset="-122"/>
                          <a:cs typeface="Noto Sans KR" pitchFamily="34" charset="-120"/>
                        </a:rPr>
                        <a:t>/clear 후 명령 다시 — 상태는 문서에 남아 있음</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r>
              <a:tr h="329184">
                <a:tc>
                  <a:txBody>
                    <a:bodyPr/>
                    <a:lstStyle/>
                    <a:p>
                      <a:pPr indent="0" marL="0">
                        <a:buNone/>
                      </a:pPr>
                      <a:pPr indent="0" marL="0">
                        <a:buNone/>
                      </a:pPr>
                      <a:r>
                        <a:rPr lang="en-US" sz="1050" dirty="0">
                          <a:solidFill>
                            <a:srgbClr val="4A5568"/>
                          </a:solidFill>
                          <a:latin typeface="Noto Sans KR" pitchFamily="34" charset="0"/>
                          <a:ea typeface="Noto Sans KR" pitchFamily="34" charset="-122"/>
                          <a:cs typeface="Noto Sans KR" pitchFamily="34" charset="-120"/>
                        </a:rPr>
                        <a:t>계획에 Vitest · npm 패키지</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c>
                  <a:txBody>
                    <a:bodyPr/>
                    <a:lstStyle/>
                    <a:p>
                      <a:pPr indent="0" marL="0">
                        <a:buNone/>
                      </a:pPr>
                      <a:r>
                        <a:rPr lang="en-US" sz="1050" dirty="0">
                          <a:solidFill>
                            <a:srgbClr val="4A5568"/>
                          </a:solidFill>
                          <a:latin typeface="Noto Sans KR" pitchFamily="34" charset="0"/>
                          <a:ea typeface="Noto Sans KR" pitchFamily="34" charset="-122"/>
                          <a:cs typeface="Noto Sans KR" pitchFamily="34" charset="-120"/>
                        </a:rPr>
                        <a:t>구현 전에 제약(steering · SPEC 등)대로 고쳐 달라고 요청</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r>
              <a:tr h="329184">
                <a:tc>
                  <a:txBody>
                    <a:bodyPr/>
                    <a:lstStyle/>
                    <a:p>
                      <a:pPr indent="0" marL="0">
                        <a:buNone/>
                      </a:pPr>
                      <a:pPr indent="0" marL="0">
                        <a:buNone/>
                      </a:pPr>
                      <a:r>
                        <a:rPr lang="en-US" sz="1050" dirty="0">
                          <a:solidFill>
                            <a:srgbClr val="4A5568"/>
                          </a:solidFill>
                          <a:latin typeface="Noto Sans KR" pitchFamily="34" charset="0"/>
                          <a:ea typeface="Noto Sans KR" pitchFamily="34" charset="-122"/>
                          <a:cs typeface="Noto Sans KR" pitchFamily="34" charset="-120"/>
                        </a:rPr>
                        <a:t>앱 화면이 비어 있음</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c>
                  <a:txBody>
                    <a:bodyPr/>
                    <a:lstStyle/>
                    <a:p>
                      <a:pPr indent="0" marL="0">
                        <a:buNone/>
                      </a:pPr>
                      <a:r>
                        <a:rPr lang="en-US" sz="1050" dirty="0">
                          <a:solidFill>
                            <a:srgbClr val="4A5568"/>
                          </a:solidFill>
                          <a:latin typeface="Noto Sans KR" pitchFamily="34" charset="0"/>
                          <a:ea typeface="Noto Sans KR" pitchFamily="34" charset="-122"/>
                          <a:cs typeface="Noto Sans KR" pitchFamily="34" charset="-120"/>
                        </a:rPr>
                        <a:t>file:// 대신 python3 -m http.server 8000</a:t>
                      </a:r>
                      <a:endParaRPr lang="en-US" sz="1050" dirty="0">
                        <a:latin typeface="Noto Sans KR" charset="0"/>
                        <a:ea typeface="Noto Sans KR" charset="0"/>
                        <a:cs typeface="Noto Sans KR" charset="0"/>
                      </a:endParaRPr>
                    </a:p>
                  </a:txBody>
                  <a:tcPr marL="73152" marR="73152" marT="27432" marB="27432" anchor="ctr">
                    <a:lnL w="9525" cap="flat" cmpd="sng" algn="ctr">
                      <a:solidFill>
                        <a:srgbClr val="CBCBCB"/>
                      </a:solidFill>
                      <a:prstDash val="solid"/>
                      <a:round/>
                      <a:headEnd type="none" w="med" len="med"/>
                      <a:tailEnd type="none" w="med" len="med"/>
                    </a:lnL>
                    <a:lnR w="9525" cap="flat" cmpd="sng" algn="ctr">
                      <a:solidFill>
                        <a:srgbClr val="CBCBCB"/>
                      </a:solidFill>
                      <a:prstDash val="solid"/>
                      <a:round/>
                      <a:headEnd type="none" w="med" len="med"/>
                      <a:tailEnd type="none" w="med" len="med"/>
                    </a:lnR>
                    <a:lnT w="9525" cap="flat" cmpd="sng" algn="ctr">
                      <a:solidFill>
                        <a:srgbClr val="CBCBCB"/>
                      </a:solidFill>
                      <a:prstDash val="solid"/>
                      <a:round/>
                      <a:headEnd type="none" w="med" len="med"/>
                      <a:tailEnd type="none" w="med" len="med"/>
                    </a:lnT>
                    <a:lnB w="9525" cap="flat" cmpd="sng" algn="ctr">
                      <a:solidFill>
                        <a:srgbClr val="CBCBCB"/>
                      </a:solidFill>
                      <a:prstDash val="solid"/>
                      <a:round/>
                      <a:headEnd type="none" w="med" len="med"/>
                      <a:tailEnd type="none" w="med" len="med"/>
                    </a:lnB>
                  </a:tcPr>
                </a:tc>
              </a:tr>
            </a:tbl>
          </a:graphicData>
        </a:graphic>
      </p:graphicFrame>
      <p:sp>
        <p:nvSpPr>
          <p:cNvPr id="21" name="Text 18"/>
          <p:cNvSpPr txBox="1"/>
          <p:nvPr/>
        </p:nvSpPr>
        <p:spPr>
          <a:xfrm>
            <a:off x="813816" y="5943600"/>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JetBrains Mono" pitchFamily="34" charset="0"/>
                <a:ea typeface="JetBrains Mono" pitchFamily="34" charset="-122"/>
                <a:cs typeface="JetBrains Mono" pitchFamily="34" charset="-120"/>
              </a:rPr>
              <a:t>kiro.dev · github.com/Fission-AI/OpenSpec · github.com/github/spec-kit · github.com/open-gsd/gsd-core · github.com/bmad-code-org/BMAD-METHOD</a:t>
            </a:r>
            <a:endParaRPr lang="en-US" sz="1000" dirty="0"/>
          </a:p>
        </p:txBody>
      </p:sp>
      <p:sp>
        <p:nvSpPr>
          <p:cNvPr id="22" name="Text 19"/>
          <p:cNvSpPr txBox="1"/>
          <p:nvPr/>
        </p:nvSpPr>
        <p:spPr>
          <a:xfrm>
            <a:off x="813816" y="6291072"/>
            <a:ext cx="10881360" cy="219456"/>
          </a:xfrm>
          <a:prstGeom prst="rect">
            <a:avLst/>
          </a:prstGeom>
          <a:noFill/>
          <a:ln/>
        </p:spPr>
        <p:txBody>
          <a:bodyPr wrap="square" lIns="0" tIns="0" rIns="0" bIns="0" rtlCol="0" anchor="t"/>
          <a:lstStyle/>
          <a:p>
            <a:pPr indent="0" marL="0">
              <a:buNone/>
            </a:pPr>
            <a:r>
              <a:rPr lang="en-US" sz="1000" dirty="0">
                <a:solidFill>
                  <a:srgbClr val="6B7280"/>
                </a:solidFill>
                <a:latin typeface="Noto Sans KR" pitchFamily="34" charset="0"/>
                <a:ea typeface="Noto Sans KR" pitchFamily="34" charset="-122"/>
                <a:cs typeface="Noto Sans KR" pitchFamily="34" charset="-120"/>
              </a:rPr>
              <a:t>03 스펙 주도 개발 · 15 / 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스펙 주도 개발 방법</dc:title>
  <dc:subject>PptxGenJS Presentation</dc:subject>
  <dc:creator>이선아</dc:creator>
  <cp:lastModifiedBy>이선아</cp:lastModifiedBy>
  <cp:revision>1</cp:revision>
  <dcterms:created xsi:type="dcterms:W3CDTF">2026-10-25T13:37:11Z</dcterms:created>
  <dcterms:modified xsi:type="dcterms:W3CDTF">2026-10-25T13:37:11Z</dcterms:modified>
</cp:coreProperties>
</file>